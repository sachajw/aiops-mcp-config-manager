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85" d="100"/>
          <a:sy n="85" d="100"/>
        </p:scale>
        <p:origin x="72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1" i="0">
                <a:solidFill>
                  <a:srgbClr val="EBEBE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1" i="0">
                <a:solidFill>
                  <a:srgbClr val="EBEBE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1" i="0">
                <a:solidFill>
                  <a:srgbClr val="EBEBE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1" i="0">
                <a:solidFill>
                  <a:srgbClr val="EBEBE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008" y="3453573"/>
            <a:ext cx="6484620" cy="98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1" i="0">
                <a:solidFill>
                  <a:srgbClr val="EBEBE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26300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655623"/>
              <a:ext cx="17475200" cy="70469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63226" y="6281208"/>
              <a:ext cx="433055" cy="1531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985137" y="2949243"/>
              <a:ext cx="1681480" cy="0"/>
            </a:xfrm>
            <a:custGeom>
              <a:avLst/>
              <a:gdLst/>
              <a:ahLst/>
              <a:cxnLst/>
              <a:rect l="l" t="t" r="r" b="b"/>
              <a:pathLst>
                <a:path w="1681480">
                  <a:moveTo>
                    <a:pt x="0" y="0"/>
                  </a:moveTo>
                  <a:lnTo>
                    <a:pt x="168127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61228" y="2987609"/>
            <a:ext cx="168528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-45" dirty="0">
                <a:solidFill>
                  <a:srgbClr val="4F5054"/>
                </a:solidFill>
                <a:latin typeface="Arial"/>
                <a:cs typeface="Arial"/>
              </a:rPr>
              <a:t>Server Cata</a:t>
            </a:r>
            <a:r>
              <a:rPr sz="1800" b="1" spc="-45" dirty="0">
                <a:solidFill>
                  <a:srgbClr val="363638"/>
                </a:solidFill>
                <a:latin typeface="Arial"/>
                <a:cs typeface="Arial"/>
              </a:rPr>
              <a:t>l</a:t>
            </a:r>
            <a:r>
              <a:rPr sz="1800" b="1" spc="-45" dirty="0">
                <a:solidFill>
                  <a:srgbClr val="4F5054"/>
                </a:solidFill>
                <a:latin typeface="Arial"/>
                <a:cs typeface="Arial"/>
              </a:rPr>
              <a:t>og</a:t>
            </a:r>
            <a:r>
              <a:rPr sz="1800" b="1" spc="-160" dirty="0">
                <a:solidFill>
                  <a:srgbClr val="4F5054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AEAFB3"/>
                </a:solidFill>
                <a:latin typeface="Arial"/>
                <a:cs typeface="Arial"/>
              </a:rPr>
              <a:t>(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0395" y="3017297"/>
            <a:ext cx="739140" cy="292100"/>
          </a:xfrm>
          <a:prstGeom prst="rect">
            <a:avLst/>
          </a:prstGeom>
          <a:solidFill>
            <a:srgbClr val="E4E4E8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650" b="1" spc="-95" dirty="0">
                <a:solidFill>
                  <a:srgbClr val="AEAFB3"/>
                </a:solidFill>
                <a:latin typeface="Arial"/>
                <a:cs typeface="Arial"/>
              </a:rPr>
              <a:t>server:;)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62789" y="3638682"/>
            <a:ext cx="2033905" cy="841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AEAFB3"/>
                </a:solidFill>
                <a:latin typeface="Arial"/>
                <a:cs typeface="Arial"/>
              </a:rPr>
              <a:t>Q</a:t>
            </a:r>
            <a:r>
              <a:rPr sz="1700" b="1" spc="330" dirty="0">
                <a:solidFill>
                  <a:srgbClr val="AEAFB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EAFB3"/>
                </a:solidFill>
                <a:latin typeface="Arial"/>
                <a:cs typeface="Arial"/>
              </a:rPr>
              <a:t>Search</a:t>
            </a:r>
            <a:r>
              <a:rPr sz="1400" b="1" spc="-10" dirty="0">
                <a:solidFill>
                  <a:srgbClr val="C8CACA"/>
                </a:solidFill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802005" algn="l"/>
                <a:tab pos="1636395" algn="l"/>
              </a:tabLst>
            </a:pPr>
            <a:r>
              <a:rPr sz="1450" b="1" spc="-10" dirty="0">
                <a:solidFill>
                  <a:srgbClr val="87898C"/>
                </a:solidFill>
                <a:latin typeface="Arial"/>
                <a:cs typeface="Arial"/>
              </a:rPr>
              <a:t>Scope</a:t>
            </a:r>
            <a:r>
              <a:rPr sz="1450" b="1" spc="-10" dirty="0">
                <a:solidFill>
                  <a:srgbClr val="AEAFB3"/>
                </a:solidFill>
                <a:latin typeface="Arial"/>
                <a:cs typeface="Arial"/>
              </a:rPr>
              <a:t>.</a:t>
            </a:r>
            <a:r>
              <a:rPr sz="1450" b="1" dirty="0">
                <a:solidFill>
                  <a:srgbClr val="AEAFB3"/>
                </a:solidFill>
                <a:latin typeface="Arial"/>
                <a:cs typeface="Arial"/>
              </a:rPr>
              <a:t>	</a:t>
            </a:r>
            <a:r>
              <a:rPr sz="1400" b="1" spc="-10" dirty="0">
                <a:solidFill>
                  <a:srgbClr val="727579"/>
                </a:solidFill>
                <a:latin typeface="Arial"/>
                <a:cs typeface="Arial"/>
              </a:rPr>
              <a:t>System</a:t>
            </a:r>
            <a:r>
              <a:rPr sz="1400" b="1" dirty="0">
                <a:solidFill>
                  <a:srgbClr val="727579"/>
                </a:solidFill>
                <a:latin typeface="Arial"/>
                <a:cs typeface="Arial"/>
              </a:rPr>
              <a:t>	</a:t>
            </a:r>
            <a:r>
              <a:rPr sz="1400" b="1" spc="-20" dirty="0">
                <a:solidFill>
                  <a:srgbClr val="727579"/>
                </a:solidFill>
                <a:latin typeface="Arial"/>
                <a:cs typeface="Arial"/>
              </a:rPr>
              <a:t>User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10670" y="4238690"/>
            <a:ext cx="6000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727579"/>
                </a:solidFill>
                <a:latin typeface="Arial"/>
                <a:cs typeface="Arial"/>
              </a:rPr>
              <a:t>Project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01205" y="3025907"/>
            <a:ext cx="18986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111313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4F5054"/>
                </a:solidFill>
                <a:latin typeface="Arial"/>
                <a:cs typeface="Arial"/>
              </a:rPr>
              <a:t>i</a:t>
            </a: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ent:</a:t>
            </a:r>
            <a:r>
              <a:rPr sz="1400" spc="5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[</a:t>
            </a:r>
            <a:r>
              <a:rPr sz="1400" u="heavy" spc="65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  </a:t>
            </a:r>
            <a:r>
              <a:rPr sz="1400" u="heavy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Se</a:t>
            </a:r>
            <a:r>
              <a:rPr sz="1400" u="heavy" dirty="0">
                <a:solidFill>
                  <a:srgbClr val="4F5054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l</a:t>
            </a:r>
            <a:r>
              <a:rPr sz="1400" u="heavy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ect</a:t>
            </a:r>
            <a:r>
              <a:rPr sz="1400" u="heavy" spc="75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 </a:t>
            </a:r>
            <a:r>
              <a:rPr sz="1400" u="heavy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a</a:t>
            </a:r>
            <a:r>
              <a:rPr sz="1400" u="heavy" spc="-70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727579"/>
                </a:solidFill>
                <a:uFill>
                  <a:solidFill>
                    <a:srgbClr val="727579"/>
                  </a:solidFill>
                </a:uFill>
                <a:latin typeface="Arial"/>
                <a:cs typeface="Arial"/>
              </a:rPr>
              <a:t>client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97139" y="3549319"/>
            <a:ext cx="1221740" cy="224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87898C"/>
                </a:solidFill>
                <a:latin typeface="Arial"/>
                <a:cs typeface="Arial"/>
              </a:rPr>
              <a:t>Installed</a:t>
            </a:r>
            <a:r>
              <a:rPr sz="1300" spc="10" dirty="0">
                <a:solidFill>
                  <a:srgbClr val="87898C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727579"/>
                </a:solidFill>
                <a:latin typeface="Arial"/>
                <a:cs typeface="Arial"/>
              </a:rPr>
              <a:t>Clients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103629" y="3919537"/>
            <a:ext cx="15157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111313"/>
                </a:solidFill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au</a:t>
            </a:r>
            <a:r>
              <a:rPr sz="1400" dirty="0">
                <a:solidFill>
                  <a:srgbClr val="4F5054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e</a:t>
            </a:r>
            <a:r>
              <a:rPr sz="1400" spc="7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Desktop</a:t>
            </a:r>
            <a:r>
              <a:rPr sz="1400" spc="25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250" spc="-120" dirty="0">
                <a:solidFill>
                  <a:srgbClr val="363638"/>
                </a:solidFill>
                <a:latin typeface="Arial"/>
                <a:cs typeface="Arial"/>
              </a:rPr>
              <a:t>✓</a:t>
            </a:r>
            <a:endParaRPr sz="1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03629" y="4315288"/>
            <a:ext cx="12763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l</a:t>
            </a: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au</a:t>
            </a:r>
            <a:r>
              <a:rPr sz="1400" dirty="0">
                <a:solidFill>
                  <a:srgbClr val="4F5054"/>
                </a:solidFill>
                <a:latin typeface="Arial"/>
                <a:cs typeface="Arial"/>
              </a:rPr>
              <a:t>d</a:t>
            </a:r>
            <a:r>
              <a:rPr sz="1400" dirty="0">
                <a:solidFill>
                  <a:srgbClr val="363638"/>
                </a:solidFill>
                <a:latin typeface="Arial"/>
                <a:cs typeface="Arial"/>
              </a:rPr>
              <a:t>e</a:t>
            </a:r>
            <a:r>
              <a:rPr sz="1400" spc="-85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363638"/>
                </a:solidFill>
                <a:latin typeface="Arial"/>
                <a:cs typeface="Arial"/>
              </a:rPr>
              <a:t>Code</a:t>
            </a:r>
            <a:r>
              <a:rPr sz="1400" spc="110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250" spc="-125" dirty="0">
                <a:solidFill>
                  <a:srgbClr val="363638"/>
                </a:solidFill>
                <a:latin typeface="Arial"/>
                <a:cs typeface="Arial"/>
              </a:rPr>
              <a:t>✓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11757" y="4711038"/>
            <a:ext cx="9321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0" dirty="0">
                <a:solidFill>
                  <a:srgbClr val="363638"/>
                </a:solidFill>
                <a:latin typeface="Arial"/>
                <a:cs typeface="Arial"/>
              </a:rPr>
              <a:t>VS</a:t>
            </a:r>
            <a:r>
              <a:rPr sz="1400" spc="-185" dirty="0">
                <a:solidFill>
                  <a:srgbClr val="363638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363638"/>
                </a:solidFill>
                <a:latin typeface="Arial"/>
                <a:cs typeface="Arial"/>
              </a:rPr>
              <a:t>Code</a:t>
            </a:r>
            <a:r>
              <a:rPr sz="1250" spc="90" dirty="0">
                <a:solidFill>
                  <a:srgbClr val="363638"/>
                </a:solidFill>
                <a:latin typeface="Arial"/>
                <a:cs typeface="Arial"/>
              </a:rPr>
              <a:t>✓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53298" y="4991893"/>
            <a:ext cx="3776345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0"/>
              </a:lnSpc>
              <a:tabLst>
                <a:tab pos="417830" algn="l"/>
              </a:tabLst>
            </a:pPr>
            <a:r>
              <a:rPr sz="2550" b="1" spc="20" dirty="0">
                <a:solidFill>
                  <a:srgbClr val="727579"/>
                </a:solidFill>
                <a:latin typeface="Arial"/>
                <a:cs typeface="Arial"/>
              </a:rPr>
              <a:t>0</a:t>
            </a:r>
            <a:r>
              <a:rPr sz="2550" b="1" dirty="0">
                <a:solidFill>
                  <a:srgbClr val="727579"/>
                </a:solidFill>
                <a:latin typeface="Arial"/>
                <a:cs typeface="Arial"/>
              </a:rPr>
              <a:t>	</a:t>
            </a:r>
            <a:r>
              <a:rPr sz="1500" b="1" spc="-10" dirty="0">
                <a:solidFill>
                  <a:srgbClr val="727579"/>
                </a:solidFill>
                <a:latin typeface="Times New Roman"/>
                <a:cs typeface="Times New Roman"/>
              </a:rPr>
              <a:t>OpenAI</a:t>
            </a:r>
            <a:endParaRPr sz="1500">
              <a:latin typeface="Times New Roman"/>
              <a:cs typeface="Times New Roman"/>
            </a:endParaRPr>
          </a:p>
          <a:p>
            <a:pPr marL="968375">
              <a:lnSpc>
                <a:spcPts val="1980"/>
              </a:lnSpc>
            </a:pPr>
            <a:r>
              <a:rPr sz="1900" b="1" u="heavy" spc="-50" dirty="0">
                <a:solidFill>
                  <a:srgbClr val="AEAFB3"/>
                </a:solidFill>
                <a:uFill>
                  <a:solidFill>
                    <a:srgbClr val="AEAFB3"/>
                  </a:solidFill>
                </a:uFill>
                <a:latin typeface="Times New Roman"/>
                <a:cs typeface="Times New Roman"/>
              </a:rPr>
              <a:t>t.otcr_...n</a:t>
            </a:r>
            <a:r>
              <a:rPr sz="1900" b="1" spc="-40" dirty="0">
                <a:solidFill>
                  <a:srgbClr val="AEAFB3"/>
                </a:solidFill>
                <a:latin typeface="Times New Roman"/>
                <a:cs typeface="Times New Roman"/>
              </a:rPr>
              <a:t> </a:t>
            </a:r>
            <a:r>
              <a:rPr sz="1400" b="1" spc="185" dirty="0">
                <a:solidFill>
                  <a:srgbClr val="AEAFB3"/>
                </a:solidFill>
                <a:latin typeface="Arial"/>
                <a:cs typeface="Arial"/>
              </a:rPr>
              <a:t>_,.ro,</a:t>
            </a:r>
            <a:r>
              <a:rPr sz="1350" b="1" u="heavy" spc="185" dirty="0">
                <a:solidFill>
                  <a:srgbClr val="AEAFB3"/>
                </a:solidFill>
                <a:uFill>
                  <a:solidFill>
                    <a:srgbClr val="AEAFB3"/>
                  </a:solidFill>
                </a:uFill>
                <a:latin typeface="Arial"/>
                <a:cs typeface="Arial"/>
              </a:rPr>
              <a:t>aiw:s.�u,p,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591918" y="5054612"/>
            <a:ext cx="52705" cy="310515"/>
          </a:xfrm>
          <a:custGeom>
            <a:avLst/>
            <a:gdLst/>
            <a:ahLst/>
            <a:cxnLst/>
            <a:rect l="l" t="t" r="r" b="b"/>
            <a:pathLst>
              <a:path w="52705" h="310514">
                <a:moveTo>
                  <a:pt x="52298" y="0"/>
                </a:moveTo>
                <a:lnTo>
                  <a:pt x="1346" y="0"/>
                </a:lnTo>
                <a:lnTo>
                  <a:pt x="1346" y="38150"/>
                </a:lnTo>
                <a:lnTo>
                  <a:pt x="0" y="38150"/>
                </a:lnTo>
                <a:lnTo>
                  <a:pt x="0" y="309930"/>
                </a:lnTo>
                <a:lnTo>
                  <a:pt x="50952" y="309930"/>
                </a:lnTo>
                <a:lnTo>
                  <a:pt x="50952" y="237807"/>
                </a:lnTo>
                <a:lnTo>
                  <a:pt x="52298" y="237807"/>
                </a:lnTo>
                <a:lnTo>
                  <a:pt x="52298" y="0"/>
                </a:lnTo>
                <a:close/>
              </a:path>
            </a:pathLst>
          </a:custGeom>
          <a:solidFill>
            <a:srgbClr val="E4E4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553830" y="5017425"/>
            <a:ext cx="15748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00" spc="-540" baseline="-17361" dirty="0">
                <a:solidFill>
                  <a:srgbClr val="AEAFB3"/>
                </a:solidFill>
                <a:latin typeface="Arial"/>
                <a:cs typeface="Arial"/>
              </a:rPr>
              <a:t>•</a:t>
            </a:r>
            <a:r>
              <a:rPr sz="1400" spc="200" dirty="0">
                <a:solidFill>
                  <a:srgbClr val="AEAFB3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80576" y="5170619"/>
            <a:ext cx="1054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90" dirty="0">
                <a:solidFill>
                  <a:srgbClr val="AEAFB3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80576" y="6051483"/>
            <a:ext cx="901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C8CACA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22860" y="5828076"/>
            <a:ext cx="11474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10"/>
              </a:spcBef>
            </a:pPr>
            <a:r>
              <a:rPr sz="2350" b="1" spc="-434" dirty="0">
                <a:solidFill>
                  <a:srgbClr val="AEAFB3"/>
                </a:solidFill>
                <a:latin typeface="Times New Roman"/>
                <a:cs typeface="Times New Roman"/>
              </a:rPr>
              <a:t>CJ</a:t>
            </a:r>
            <a:r>
              <a:rPr sz="2350" b="1" spc="45" dirty="0">
                <a:solidFill>
                  <a:srgbClr val="AEAFB3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727579"/>
                </a:solidFill>
                <a:latin typeface="Times New Roman"/>
                <a:cs typeface="Times New Roman"/>
              </a:rPr>
              <a:t>files_mq,</a:t>
            </a:r>
            <a:endParaRPr sz="1550">
              <a:latin typeface="Times New Roman"/>
              <a:cs typeface="Times New Roman"/>
            </a:endParaRPr>
          </a:p>
          <a:p>
            <a:pPr marL="31750">
              <a:lnSpc>
                <a:spcPts val="2100"/>
              </a:lnSpc>
            </a:pPr>
            <a:r>
              <a:rPr sz="1900" b="1" u="heavy" spc="220" dirty="0">
                <a:solidFill>
                  <a:srgbClr val="AEAFB3"/>
                </a:solidFill>
                <a:uFill>
                  <a:solidFill>
                    <a:srgbClr val="AEAFB3"/>
                  </a:solidFill>
                </a:uFill>
                <a:latin typeface="Arial"/>
                <a:cs typeface="Arial"/>
              </a:rPr>
              <a:t>s.-</a:t>
            </a:r>
            <a:r>
              <a:rPr sz="1900" b="1" u="heavy" spc="130" dirty="0">
                <a:solidFill>
                  <a:srgbClr val="AEAFB3"/>
                </a:solidFill>
                <a:uFill>
                  <a:solidFill>
                    <a:srgbClr val="AEAFB3"/>
                  </a:solidFill>
                </a:uFill>
                <a:latin typeface="Arial"/>
                <a:cs typeface="Arial"/>
              </a:rPr>
              <a:t>..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580576" y="6115315"/>
            <a:ext cx="10731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5" dirty="0">
                <a:solidFill>
                  <a:srgbClr val="AEAFB3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09775" y="6483108"/>
            <a:ext cx="267970" cy="318770"/>
          </a:xfrm>
          <a:prstGeom prst="rect">
            <a:avLst/>
          </a:prstGeom>
          <a:solidFill>
            <a:srgbClr val="E4E4E8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1800" b="1" spc="-25" dirty="0">
                <a:solidFill>
                  <a:srgbClr val="AEAFB3"/>
                </a:solidFill>
                <a:latin typeface="Arial"/>
                <a:cs typeface="Arial"/>
              </a:rPr>
              <a:t>Q)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60280" y="6974408"/>
            <a:ext cx="203835" cy="345440"/>
          </a:xfrm>
          <a:prstGeom prst="rect">
            <a:avLst/>
          </a:prstGeom>
          <a:solidFill>
            <a:srgbClr val="E4E4E8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1950" b="1" spc="-50" dirty="0">
                <a:solidFill>
                  <a:srgbClr val="AEAFB3"/>
                </a:solidFill>
                <a:latin typeface="Arial"/>
                <a:cs typeface="Arial"/>
              </a:rPr>
              <a:t>0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59899" y="6868516"/>
            <a:ext cx="80772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55" dirty="0">
                <a:solidFill>
                  <a:srgbClr val="727579"/>
                </a:solidFill>
                <a:latin typeface="Times New Roman"/>
                <a:cs typeface="Times New Roman"/>
              </a:rPr>
              <a:t>fllN..Jnc:p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580576" y="6996178"/>
            <a:ext cx="825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C8CACA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80576" y="7072776"/>
            <a:ext cx="825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C8CACA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008833"/>
            <a:ext cx="17475200" cy="5694045"/>
            <a:chOff x="0" y="4008833"/>
            <a:chExt cx="17475200" cy="56940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008833"/>
              <a:ext cx="14825776" cy="3829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008833"/>
              <a:ext cx="17475200" cy="114895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183319"/>
              <a:ext cx="17475200" cy="45192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45334" y="5183319"/>
              <a:ext cx="5629865" cy="5361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46391" y="5745030"/>
              <a:ext cx="4228807" cy="18638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794083" y="4621607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39">
                  <a:moveTo>
                    <a:pt x="0" y="434048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125243" y="4621607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39">
                  <a:moveTo>
                    <a:pt x="0" y="434048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47457" y="4506712"/>
              <a:ext cx="0" cy="676910"/>
            </a:xfrm>
            <a:custGeom>
              <a:avLst/>
              <a:gdLst/>
              <a:ahLst/>
              <a:cxnLst/>
              <a:rect l="l" t="t" r="r" b="b"/>
              <a:pathLst>
                <a:path h="676910">
                  <a:moveTo>
                    <a:pt x="0" y="676605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97039" y="4608841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39">
                  <a:moveTo>
                    <a:pt x="0" y="434048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653673" y="4608841"/>
              <a:ext cx="0" cy="434340"/>
            </a:xfrm>
            <a:custGeom>
              <a:avLst/>
              <a:gdLst/>
              <a:ahLst/>
              <a:cxnLst/>
              <a:rect l="l" t="t" r="r" b="b"/>
              <a:pathLst>
                <a:path h="434339">
                  <a:moveTo>
                    <a:pt x="0" y="434048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597116" y="4366285"/>
              <a:ext cx="5120640" cy="1238885"/>
            </a:xfrm>
            <a:custGeom>
              <a:avLst/>
              <a:gdLst/>
              <a:ahLst/>
              <a:cxnLst/>
              <a:rect l="l" t="t" r="r" b="b"/>
              <a:pathLst>
                <a:path w="5120640" h="1238885">
                  <a:moveTo>
                    <a:pt x="407581" y="0"/>
                  </a:moveTo>
                  <a:lnTo>
                    <a:pt x="866110" y="0"/>
                  </a:lnTo>
                </a:path>
                <a:path w="5120640" h="1238885">
                  <a:moveTo>
                    <a:pt x="4687186" y="268088"/>
                  </a:moveTo>
                  <a:lnTo>
                    <a:pt x="5120241" y="268088"/>
                  </a:lnTo>
                </a:path>
                <a:path w="5120640" h="1238885">
                  <a:moveTo>
                    <a:pt x="0" y="1238315"/>
                  </a:moveTo>
                  <a:lnTo>
                    <a:pt x="1248218" y="1238315"/>
                  </a:lnTo>
                </a:path>
              </a:pathLst>
            </a:custGeom>
            <a:ln w="382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405759" y="6306738"/>
              <a:ext cx="840740" cy="0"/>
            </a:xfrm>
            <a:custGeom>
              <a:avLst/>
              <a:gdLst/>
              <a:ahLst/>
              <a:cxnLst/>
              <a:rect l="l" t="t" r="r" b="b"/>
              <a:pathLst>
                <a:path w="840740">
                  <a:moveTo>
                    <a:pt x="0" y="0"/>
                  </a:moveTo>
                  <a:lnTo>
                    <a:pt x="84063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068383" y="7008876"/>
              <a:ext cx="459105" cy="0"/>
            </a:xfrm>
            <a:custGeom>
              <a:avLst/>
              <a:gdLst/>
              <a:ahLst/>
              <a:cxnLst/>
              <a:rect l="l" t="t" r="r" b="b"/>
              <a:pathLst>
                <a:path w="459104">
                  <a:moveTo>
                    <a:pt x="0" y="0"/>
                  </a:moveTo>
                  <a:lnTo>
                    <a:pt x="458529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405759" y="7251433"/>
              <a:ext cx="840740" cy="0"/>
            </a:xfrm>
            <a:custGeom>
              <a:avLst/>
              <a:gdLst/>
              <a:ahLst/>
              <a:cxnLst/>
              <a:rect l="l" t="t" r="r" b="b"/>
              <a:pathLst>
                <a:path w="840740">
                  <a:moveTo>
                    <a:pt x="0" y="0"/>
                  </a:moveTo>
                  <a:lnTo>
                    <a:pt x="84063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981016" y="854845"/>
            <a:ext cx="7660640" cy="965200"/>
          </a:xfrm>
          <a:custGeom>
            <a:avLst/>
            <a:gdLst/>
            <a:ahLst/>
            <a:cxnLst/>
            <a:rect l="l" t="t" r="r" b="b"/>
            <a:pathLst>
              <a:path w="7660640" h="965200">
                <a:moveTo>
                  <a:pt x="7660199" y="964816"/>
                </a:moveTo>
                <a:lnTo>
                  <a:pt x="0" y="964816"/>
                </a:lnTo>
                <a:lnTo>
                  <a:pt x="0" y="0"/>
                </a:lnTo>
                <a:lnTo>
                  <a:pt x="7660199" y="0"/>
                </a:lnTo>
                <a:lnTo>
                  <a:pt x="7660199" y="964816"/>
                </a:lnTo>
                <a:close/>
              </a:path>
            </a:pathLst>
          </a:custGeom>
          <a:solidFill>
            <a:srgbClr val="1313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68316" y="849278"/>
            <a:ext cx="7802245" cy="860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450" dirty="0">
                <a:solidFill>
                  <a:srgbClr val="EBEBF0"/>
                </a:solidFill>
              </a:rPr>
              <a:t>Beyond</a:t>
            </a:r>
            <a:r>
              <a:rPr sz="5450" spc="135" dirty="0">
                <a:solidFill>
                  <a:srgbClr val="EBEBF0"/>
                </a:solidFill>
              </a:rPr>
              <a:t> </a:t>
            </a:r>
            <a:r>
              <a:rPr sz="5450" spc="120" dirty="0">
                <a:solidFill>
                  <a:srgbClr val="EBEBF0"/>
                </a:solidFill>
              </a:rPr>
              <a:t>Configuration:</a:t>
            </a:r>
            <a:endParaRPr sz="5450"/>
          </a:p>
        </p:txBody>
      </p:sp>
      <p:sp>
        <p:nvSpPr>
          <p:cNvPr id="19" name="object 19"/>
          <p:cNvSpPr/>
          <p:nvPr/>
        </p:nvSpPr>
        <p:spPr>
          <a:xfrm>
            <a:off x="990942" y="1684654"/>
            <a:ext cx="4611370" cy="1795145"/>
          </a:xfrm>
          <a:custGeom>
            <a:avLst/>
            <a:gdLst/>
            <a:ahLst/>
            <a:cxnLst/>
            <a:rect l="l" t="t" r="r" b="b"/>
            <a:pathLst>
              <a:path w="4611370" h="1795145">
                <a:moveTo>
                  <a:pt x="4610760" y="829792"/>
                </a:moveTo>
                <a:lnTo>
                  <a:pt x="4185831" y="829792"/>
                </a:lnTo>
                <a:lnTo>
                  <a:pt x="4185831" y="0"/>
                </a:lnTo>
                <a:lnTo>
                  <a:pt x="0" y="0"/>
                </a:lnTo>
                <a:lnTo>
                  <a:pt x="0" y="829792"/>
                </a:lnTo>
                <a:lnTo>
                  <a:pt x="0" y="964806"/>
                </a:lnTo>
                <a:lnTo>
                  <a:pt x="0" y="1794611"/>
                </a:lnTo>
                <a:lnTo>
                  <a:pt x="4610760" y="1794611"/>
                </a:lnTo>
                <a:lnTo>
                  <a:pt x="4610760" y="829792"/>
                </a:lnTo>
                <a:close/>
              </a:path>
            </a:pathLst>
          </a:custGeom>
          <a:solidFill>
            <a:srgbClr val="1313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78245" y="1679079"/>
            <a:ext cx="4605655" cy="1690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5450" b="1" spc="220" dirty="0">
                <a:solidFill>
                  <a:srgbClr val="EBEBF0"/>
                </a:solidFill>
                <a:latin typeface="Arial"/>
                <a:cs typeface="Arial"/>
              </a:rPr>
              <a:t>The</a:t>
            </a:r>
            <a:r>
              <a:rPr sz="5450" b="1" spc="-210" dirty="0">
                <a:solidFill>
                  <a:srgbClr val="EBEBF0"/>
                </a:solidFill>
                <a:latin typeface="Arial"/>
                <a:cs typeface="Arial"/>
              </a:rPr>
              <a:t> </a:t>
            </a:r>
            <a:r>
              <a:rPr sz="5450" b="1" spc="130" dirty="0">
                <a:solidFill>
                  <a:srgbClr val="EBEBF0"/>
                </a:solidFill>
                <a:latin typeface="Arial"/>
                <a:cs typeface="Arial"/>
              </a:rPr>
              <a:t>Context </a:t>
            </a:r>
            <a:r>
              <a:rPr sz="5450" b="1" spc="250" dirty="0">
                <a:solidFill>
                  <a:srgbClr val="EBEBF0"/>
                </a:solidFill>
                <a:latin typeface="Arial"/>
                <a:cs typeface="Arial"/>
              </a:rPr>
              <a:t>TheContomy</a:t>
            </a:r>
            <a:endParaRPr sz="5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96614" y="1227942"/>
            <a:ext cx="3368040" cy="575945"/>
          </a:xfrm>
          <a:prstGeom prst="rect">
            <a:avLst/>
          </a:prstGeom>
          <a:solidFill>
            <a:srgbClr val="232648"/>
          </a:solidFill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3250" b="1" spc="50" dirty="0">
                <a:solidFill>
                  <a:srgbClr val="EBEBF0"/>
                </a:solidFill>
                <a:latin typeface="Arial"/>
                <a:cs typeface="Arial"/>
              </a:rPr>
              <a:t>Context</a:t>
            </a:r>
            <a:r>
              <a:rPr sz="3250" b="1" spc="85" dirty="0">
                <a:solidFill>
                  <a:srgbClr val="EBEBF0"/>
                </a:solidFill>
                <a:latin typeface="Arial"/>
                <a:cs typeface="Arial"/>
              </a:rPr>
              <a:t> </a:t>
            </a:r>
            <a:r>
              <a:rPr sz="3250" b="1" spc="45" dirty="0">
                <a:solidFill>
                  <a:srgbClr val="EBEBF0"/>
                </a:solidFill>
                <a:latin typeface="Arial"/>
                <a:cs typeface="Arial"/>
              </a:rPr>
              <a:t>Window</a:t>
            </a:r>
            <a:endParaRPr sz="32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858775" y="4289688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>
                <a:moveTo>
                  <a:pt x="0" y="0"/>
                </a:moveTo>
                <a:lnTo>
                  <a:pt x="305686" y="0"/>
                </a:lnTo>
              </a:path>
            </a:pathLst>
          </a:custGeom>
          <a:ln w="12766">
            <a:solidFill>
              <a:srgbClr val="0544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291027" y="4289688"/>
            <a:ext cx="802640" cy="0"/>
          </a:xfrm>
          <a:custGeom>
            <a:avLst/>
            <a:gdLst/>
            <a:ahLst/>
            <a:cxnLst/>
            <a:rect l="l" t="t" r="r" b="b"/>
            <a:pathLst>
              <a:path w="802640">
                <a:moveTo>
                  <a:pt x="0" y="0"/>
                </a:moveTo>
                <a:lnTo>
                  <a:pt x="802425" y="0"/>
                </a:lnTo>
              </a:path>
            </a:pathLst>
          </a:custGeom>
          <a:ln w="12766">
            <a:solidFill>
              <a:srgbClr val="0544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039954" y="4953527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>
                <a:moveTo>
                  <a:pt x="0" y="0"/>
                </a:moveTo>
                <a:lnTo>
                  <a:pt x="331159" y="0"/>
                </a:lnTo>
              </a:path>
            </a:pathLst>
          </a:custGeom>
          <a:ln w="12766">
            <a:solidFill>
              <a:srgbClr val="4246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027254" y="4021667"/>
            <a:ext cx="31559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b="1" spc="-65" dirty="0">
                <a:solidFill>
                  <a:srgbClr val="4246B8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803865" y="5208850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>
                <a:moveTo>
                  <a:pt x="0" y="0"/>
                </a:moveTo>
                <a:lnTo>
                  <a:pt x="305686" y="0"/>
                </a:lnTo>
              </a:path>
            </a:pathLst>
          </a:custGeom>
          <a:ln w="12766">
            <a:solidFill>
              <a:srgbClr val="4246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3765758" y="4162095"/>
            <a:ext cx="36639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800" spc="-3600" baseline="-6944" dirty="0">
                <a:solidFill>
                  <a:srgbClr val="4246B8"/>
                </a:solidFill>
                <a:latin typeface="Arial"/>
                <a:cs typeface="Arial"/>
              </a:rPr>
              <a:t>-</a:t>
            </a:r>
            <a:r>
              <a:rPr sz="7200" b="1" spc="-50" dirty="0">
                <a:solidFill>
                  <a:srgbClr val="4246B8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846072" y="3855706"/>
            <a:ext cx="1271270" cy="10687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14"/>
              </a:spcBef>
            </a:pPr>
            <a:r>
              <a:rPr sz="3300" spc="-520" dirty="0">
                <a:solidFill>
                  <a:srgbClr val="054456"/>
                </a:solidFill>
                <a:latin typeface="Arial"/>
                <a:cs typeface="Arial"/>
              </a:rPr>
              <a:t>BJ</a:t>
            </a:r>
            <a:r>
              <a:rPr sz="3300" spc="-335" dirty="0">
                <a:solidFill>
                  <a:srgbClr val="054456"/>
                </a:solidFill>
                <a:latin typeface="Arial"/>
                <a:cs typeface="Arial"/>
              </a:rPr>
              <a:t> </a:t>
            </a:r>
            <a:r>
              <a:rPr sz="2050" spc="-30" dirty="0">
                <a:solidFill>
                  <a:srgbClr val="054456"/>
                </a:solidFill>
                <a:latin typeface="Arial"/>
                <a:cs typeface="Arial"/>
              </a:rPr>
              <a:t>Tokens</a:t>
            </a:r>
            <a:endParaRPr sz="2050">
              <a:latin typeface="Arial"/>
              <a:cs typeface="Arial"/>
            </a:endParaRPr>
          </a:p>
          <a:p>
            <a:pPr marR="74930" algn="ctr">
              <a:lnSpc>
                <a:spcPts val="5325"/>
              </a:lnSpc>
            </a:pPr>
            <a:r>
              <a:rPr sz="5350" spc="-530" dirty="0">
                <a:solidFill>
                  <a:srgbClr val="4246B8"/>
                </a:solidFill>
                <a:latin typeface="Times New Roman"/>
                <a:cs typeface="Times New Roman"/>
              </a:rPr>
              <a:t>...</a:t>
            </a:r>
            <a:r>
              <a:rPr sz="5350" spc="-1650" dirty="0">
                <a:solidFill>
                  <a:srgbClr val="4246B8"/>
                </a:solidFill>
                <a:latin typeface="Times New Roman"/>
                <a:cs typeface="Times New Roman"/>
              </a:rPr>
              <a:t>.</a:t>
            </a:r>
            <a:endParaRPr sz="5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319559" y="5208850"/>
            <a:ext cx="306070" cy="0"/>
          </a:xfrm>
          <a:custGeom>
            <a:avLst/>
            <a:gdLst/>
            <a:ahLst/>
            <a:cxnLst/>
            <a:rect l="l" t="t" r="r" b="b"/>
            <a:pathLst>
              <a:path w="306069">
                <a:moveTo>
                  <a:pt x="0" y="0"/>
                </a:moveTo>
                <a:lnTo>
                  <a:pt x="305686" y="0"/>
                </a:lnTo>
              </a:path>
            </a:pathLst>
          </a:custGeom>
          <a:ln w="12766">
            <a:solidFill>
              <a:srgbClr val="4246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306853" y="4276989"/>
            <a:ext cx="18478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b="1" spc="-1205" dirty="0">
                <a:solidFill>
                  <a:srgbClr val="4246B8"/>
                </a:solidFill>
                <a:latin typeface="Arial"/>
                <a:cs typeface="Arial"/>
              </a:rPr>
              <a:t>-</a:t>
            </a:r>
            <a:endParaRPr sz="7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81767" y="5395686"/>
            <a:ext cx="2661285" cy="1729739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3450" spc="130" dirty="0">
                <a:solidFill>
                  <a:srgbClr val="054456"/>
                </a:solidFill>
                <a:latin typeface="Arial"/>
                <a:cs typeface="Arial"/>
              </a:rPr>
              <a:t>la</a:t>
            </a:r>
            <a:r>
              <a:rPr sz="3450" spc="-440" dirty="0">
                <a:solidFill>
                  <a:srgbClr val="054456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054456"/>
                </a:solidFill>
                <a:latin typeface="Arial"/>
                <a:cs typeface="Arial"/>
              </a:rPr>
              <a:t>Tokens</a:t>
            </a:r>
            <a:endParaRPr sz="2050">
              <a:latin typeface="Arial"/>
              <a:cs typeface="Arial"/>
            </a:endParaRPr>
          </a:p>
          <a:p>
            <a:pPr marL="1819275" algn="ctr">
              <a:lnSpc>
                <a:spcPts val="3879"/>
              </a:lnSpc>
              <a:spcBef>
                <a:spcPts val="1639"/>
              </a:spcBef>
            </a:pPr>
            <a:r>
              <a:rPr sz="3500" spc="-25" dirty="0">
                <a:solidFill>
                  <a:srgbClr val="054456"/>
                </a:solidFill>
                <a:latin typeface="Arial"/>
                <a:cs typeface="Arial"/>
              </a:rPr>
              <a:t>Bl</a:t>
            </a:r>
            <a:endParaRPr sz="3500">
              <a:latin typeface="Arial"/>
              <a:cs typeface="Arial"/>
            </a:endParaRPr>
          </a:p>
          <a:p>
            <a:pPr marL="1830705" algn="ctr">
              <a:lnSpc>
                <a:spcPts val="2140"/>
              </a:lnSpc>
            </a:pPr>
            <a:r>
              <a:rPr sz="2050" spc="-45" dirty="0">
                <a:solidFill>
                  <a:srgbClr val="054456"/>
                </a:solidFill>
                <a:latin typeface="Arial"/>
                <a:cs typeface="Arial"/>
              </a:rPr>
              <a:t>Tokens</a:t>
            </a:r>
            <a:endParaRPr sz="20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074544" y="7640869"/>
            <a:ext cx="8388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50" dirty="0">
                <a:solidFill>
                  <a:srgbClr val="054456"/>
                </a:solidFill>
                <a:latin typeface="Arial"/>
                <a:cs typeface="Arial"/>
              </a:rPr>
              <a:t>Tokens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4707" y="3458090"/>
            <a:ext cx="6425565" cy="1106805"/>
          </a:xfrm>
          <a:custGeom>
            <a:avLst/>
            <a:gdLst/>
            <a:ahLst/>
            <a:cxnLst/>
            <a:rect l="l" t="t" r="r" b="b"/>
            <a:pathLst>
              <a:path w="6425565" h="1106804">
                <a:moveTo>
                  <a:pt x="6424979" y="1106440"/>
                </a:moveTo>
                <a:lnTo>
                  <a:pt x="0" y="1106440"/>
                </a:lnTo>
                <a:lnTo>
                  <a:pt x="0" y="0"/>
                </a:lnTo>
                <a:lnTo>
                  <a:pt x="6424979" y="0"/>
                </a:lnTo>
                <a:lnTo>
                  <a:pt x="6424979" y="1106440"/>
                </a:lnTo>
                <a:close/>
              </a:path>
            </a:pathLst>
          </a:custGeom>
          <a:solidFill>
            <a:srgbClr val="13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40" dirty="0"/>
              <a:t>The</a:t>
            </a:r>
            <a:r>
              <a:rPr spc="-195" dirty="0"/>
              <a:t> </a:t>
            </a:r>
            <a:r>
              <a:rPr spc="95" dirty="0"/>
              <a:t>Hidden</a:t>
            </a:r>
            <a:r>
              <a:rPr spc="-45" dirty="0"/>
              <a:t> </a:t>
            </a:r>
            <a:r>
              <a:rPr spc="45" dirty="0"/>
              <a:t>Cost</a:t>
            </a:r>
          </a:p>
        </p:txBody>
      </p:sp>
      <p:sp>
        <p:nvSpPr>
          <p:cNvPr id="4" name="object 4"/>
          <p:cNvSpPr/>
          <p:nvPr/>
        </p:nvSpPr>
        <p:spPr>
          <a:xfrm>
            <a:off x="1700378" y="4351720"/>
            <a:ext cx="4032250" cy="1106805"/>
          </a:xfrm>
          <a:custGeom>
            <a:avLst/>
            <a:gdLst/>
            <a:ahLst/>
            <a:cxnLst/>
            <a:rect l="l" t="t" r="r" b="b"/>
            <a:pathLst>
              <a:path w="4032250" h="1106804">
                <a:moveTo>
                  <a:pt x="4032031" y="1106440"/>
                </a:moveTo>
                <a:lnTo>
                  <a:pt x="0" y="1106440"/>
                </a:lnTo>
                <a:lnTo>
                  <a:pt x="0" y="0"/>
                </a:lnTo>
                <a:lnTo>
                  <a:pt x="4032031" y="0"/>
                </a:lnTo>
                <a:lnTo>
                  <a:pt x="4032031" y="1106440"/>
                </a:lnTo>
                <a:close/>
              </a:path>
            </a:pathLst>
          </a:custGeom>
          <a:solidFill>
            <a:srgbClr val="13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14707" y="4564531"/>
            <a:ext cx="4030979" cy="894080"/>
          </a:xfrm>
          <a:prstGeom prst="rect">
            <a:avLst/>
          </a:prstGeom>
          <a:solidFill>
            <a:srgbClr val="13161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20"/>
              </a:lnSpc>
            </a:pPr>
            <a:r>
              <a:rPr sz="6250" b="1" spc="55" dirty="0">
                <a:solidFill>
                  <a:srgbClr val="EBEBED"/>
                </a:solidFill>
                <a:latin typeface="Arial"/>
                <a:cs typeface="Arial"/>
              </a:rPr>
              <a:t>of</a:t>
            </a:r>
            <a:r>
              <a:rPr sz="6250" b="1" spc="10" dirty="0">
                <a:solidFill>
                  <a:srgbClr val="EBEBED"/>
                </a:solidFill>
                <a:latin typeface="Arial"/>
                <a:cs typeface="Arial"/>
              </a:rPr>
              <a:t> </a:t>
            </a:r>
            <a:r>
              <a:rPr sz="6250" b="1" spc="80" dirty="0">
                <a:solidFill>
                  <a:srgbClr val="EBEBED"/>
                </a:solidFill>
                <a:latin typeface="Arial"/>
                <a:cs typeface="Arial"/>
              </a:rPr>
              <a:t>Context</a:t>
            </a:r>
            <a:endParaRPr sz="6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23223" y="3708895"/>
            <a:ext cx="1873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10" dirty="0">
                <a:solidFill>
                  <a:srgbClr val="75797E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3223" y="4615292"/>
            <a:ext cx="1873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10" dirty="0">
                <a:solidFill>
                  <a:srgbClr val="75797E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91222" y="4555420"/>
            <a:ext cx="469900" cy="318770"/>
          </a:xfrm>
          <a:custGeom>
            <a:avLst/>
            <a:gdLst/>
            <a:ahLst/>
            <a:cxnLst/>
            <a:rect l="l" t="t" r="r" b="b"/>
            <a:pathLst>
              <a:path w="469900" h="318770">
                <a:moveTo>
                  <a:pt x="469751" y="318654"/>
                </a:moveTo>
                <a:lnTo>
                  <a:pt x="0" y="318654"/>
                </a:lnTo>
                <a:lnTo>
                  <a:pt x="0" y="0"/>
                </a:lnTo>
                <a:lnTo>
                  <a:pt x="469751" y="0"/>
                </a:lnTo>
                <a:lnTo>
                  <a:pt x="469751" y="318654"/>
                </a:lnTo>
                <a:close/>
              </a:path>
            </a:pathLst>
          </a:custGeom>
          <a:solidFill>
            <a:srgbClr val="2328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114787" y="4555420"/>
            <a:ext cx="76835" cy="318770"/>
          </a:xfrm>
          <a:custGeom>
            <a:avLst/>
            <a:gdLst/>
            <a:ahLst/>
            <a:cxnLst/>
            <a:rect l="l" t="t" r="r" b="b"/>
            <a:pathLst>
              <a:path w="76834" h="318770">
                <a:moveTo>
                  <a:pt x="76421" y="318654"/>
                </a:moveTo>
                <a:lnTo>
                  <a:pt x="0" y="318654"/>
                </a:lnTo>
                <a:lnTo>
                  <a:pt x="0" y="0"/>
                </a:lnTo>
                <a:lnTo>
                  <a:pt x="76421" y="0"/>
                </a:lnTo>
                <a:lnTo>
                  <a:pt x="76421" y="318654"/>
                </a:lnTo>
                <a:close/>
              </a:path>
            </a:pathLst>
          </a:custGeom>
          <a:solidFill>
            <a:srgbClr val="2328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426814" y="4555420"/>
            <a:ext cx="250825" cy="318770"/>
          </a:xfrm>
          <a:custGeom>
            <a:avLst/>
            <a:gdLst/>
            <a:ahLst/>
            <a:cxnLst/>
            <a:rect l="l" t="t" r="r" b="b"/>
            <a:pathLst>
              <a:path w="250825" h="318770">
                <a:moveTo>
                  <a:pt x="250381" y="318654"/>
                </a:moveTo>
                <a:lnTo>
                  <a:pt x="0" y="318654"/>
                </a:lnTo>
                <a:lnTo>
                  <a:pt x="0" y="0"/>
                </a:lnTo>
                <a:lnTo>
                  <a:pt x="250381" y="0"/>
                </a:lnTo>
                <a:lnTo>
                  <a:pt x="250381" y="318654"/>
                </a:lnTo>
                <a:close/>
              </a:path>
            </a:pathLst>
          </a:custGeom>
          <a:solidFill>
            <a:srgbClr val="2328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47244" y="4555420"/>
            <a:ext cx="380365" cy="318770"/>
          </a:xfrm>
          <a:custGeom>
            <a:avLst/>
            <a:gdLst/>
            <a:ahLst/>
            <a:cxnLst/>
            <a:rect l="l" t="t" r="r" b="b"/>
            <a:pathLst>
              <a:path w="380365" h="318770">
                <a:moveTo>
                  <a:pt x="380031" y="318654"/>
                </a:moveTo>
                <a:lnTo>
                  <a:pt x="0" y="318654"/>
                </a:lnTo>
                <a:lnTo>
                  <a:pt x="0" y="0"/>
                </a:lnTo>
                <a:lnTo>
                  <a:pt x="380031" y="0"/>
                </a:lnTo>
                <a:lnTo>
                  <a:pt x="380031" y="318654"/>
                </a:lnTo>
                <a:close/>
              </a:path>
            </a:pathLst>
          </a:custGeom>
          <a:solidFill>
            <a:srgbClr val="2328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458400" y="4555420"/>
            <a:ext cx="368935" cy="318770"/>
          </a:xfrm>
          <a:custGeom>
            <a:avLst/>
            <a:gdLst/>
            <a:ahLst/>
            <a:cxnLst/>
            <a:rect l="l" t="t" r="r" b="b"/>
            <a:pathLst>
              <a:path w="368934" h="318770">
                <a:moveTo>
                  <a:pt x="368744" y="318654"/>
                </a:moveTo>
                <a:lnTo>
                  <a:pt x="0" y="318654"/>
                </a:lnTo>
                <a:lnTo>
                  <a:pt x="0" y="0"/>
                </a:lnTo>
                <a:lnTo>
                  <a:pt x="368744" y="0"/>
                </a:lnTo>
                <a:lnTo>
                  <a:pt x="368744" y="318654"/>
                </a:lnTo>
                <a:close/>
              </a:path>
            </a:pathLst>
          </a:custGeom>
          <a:solidFill>
            <a:srgbClr val="2328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478520" y="4545079"/>
            <a:ext cx="24974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b="1" spc="60" dirty="0">
                <a:solidFill>
                  <a:srgbClr val="BCBCBF"/>
                </a:solidFill>
                <a:latin typeface="Arial"/>
                <a:cs typeface="Arial"/>
              </a:rPr>
              <a:t>Perf</a:t>
            </a:r>
            <a:r>
              <a:rPr sz="1800" b="1" spc="60" dirty="0">
                <a:solidFill>
                  <a:srgbClr val="9A9EA3"/>
                </a:solidFill>
                <a:latin typeface="Arial"/>
                <a:cs typeface="Arial"/>
              </a:rPr>
              <a:t>o</a:t>
            </a:r>
            <a:r>
              <a:rPr sz="1800" b="1" spc="60" dirty="0">
                <a:solidFill>
                  <a:srgbClr val="BCBCBF"/>
                </a:solidFill>
                <a:latin typeface="Arial"/>
                <a:cs typeface="Arial"/>
              </a:rPr>
              <a:t>r</a:t>
            </a:r>
            <a:r>
              <a:rPr sz="1800" b="1" spc="60" dirty="0">
                <a:solidFill>
                  <a:srgbClr val="9A9EA3"/>
                </a:solidFill>
                <a:latin typeface="Arial"/>
                <a:cs typeface="Arial"/>
              </a:rPr>
              <a:t>m</a:t>
            </a:r>
            <a:r>
              <a:rPr sz="1800" b="1" spc="60" dirty="0">
                <a:solidFill>
                  <a:srgbClr val="BCBCBF"/>
                </a:solidFill>
                <a:latin typeface="Arial"/>
                <a:cs typeface="Arial"/>
              </a:rPr>
              <a:t>an</a:t>
            </a:r>
            <a:r>
              <a:rPr sz="1800" b="1" spc="60" dirty="0">
                <a:solidFill>
                  <a:srgbClr val="9A9EA3"/>
                </a:solidFill>
                <a:latin typeface="Arial"/>
                <a:cs typeface="Arial"/>
              </a:rPr>
              <a:t>c</a:t>
            </a:r>
            <a:r>
              <a:rPr sz="1800" b="1" spc="60" dirty="0">
                <a:solidFill>
                  <a:srgbClr val="BCBCBF"/>
                </a:solidFill>
                <a:latin typeface="Arial"/>
                <a:cs typeface="Arial"/>
              </a:rPr>
              <a:t>e</a:t>
            </a:r>
            <a:r>
              <a:rPr sz="1800" b="1" spc="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CBCBF"/>
                </a:solidFill>
                <a:latin typeface="Arial"/>
                <a:cs typeface="Arial"/>
              </a:rPr>
              <a:t>In</a:t>
            </a:r>
            <a:r>
              <a:rPr sz="1800" b="1" spc="-10" dirty="0">
                <a:solidFill>
                  <a:srgbClr val="9A9EA3"/>
                </a:solidFill>
                <a:latin typeface="Arial"/>
                <a:cs typeface="Arial"/>
              </a:rPr>
              <a:t>si</a:t>
            </a:r>
            <a:r>
              <a:rPr sz="1800" b="1" spc="-10" dirty="0">
                <a:solidFill>
                  <a:srgbClr val="BCBCBF"/>
                </a:solidFill>
                <a:latin typeface="Arial"/>
                <a:cs typeface="Arial"/>
              </a:rPr>
              <a:t>ght</a:t>
            </a:r>
            <a:r>
              <a:rPr sz="1800" b="1" spc="-10" dirty="0">
                <a:solidFill>
                  <a:srgbClr val="9A9EA3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15128" y="5519489"/>
            <a:ext cx="5794375" cy="484505"/>
          </a:xfrm>
          <a:custGeom>
            <a:avLst/>
            <a:gdLst/>
            <a:ahLst/>
            <a:cxnLst/>
            <a:rect l="l" t="t" r="r" b="b"/>
            <a:pathLst>
              <a:path w="5794375" h="484504">
                <a:moveTo>
                  <a:pt x="5793846" y="484106"/>
                </a:moveTo>
                <a:lnTo>
                  <a:pt x="0" y="484106"/>
                </a:lnTo>
                <a:lnTo>
                  <a:pt x="0" y="0"/>
                </a:lnTo>
                <a:lnTo>
                  <a:pt x="5793846" y="0"/>
                </a:lnTo>
                <a:lnTo>
                  <a:pt x="5793846" y="484106"/>
                </a:lnTo>
                <a:close/>
              </a:path>
            </a:pathLst>
          </a:custGeom>
          <a:solidFill>
            <a:srgbClr val="13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02428" y="5508923"/>
            <a:ext cx="5852160" cy="462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spc="80" dirty="0">
                <a:solidFill>
                  <a:srgbClr val="BCBCBF"/>
                </a:solidFill>
                <a:latin typeface="Arial"/>
                <a:cs typeface="Arial"/>
              </a:rPr>
              <a:t>With</a:t>
            </a:r>
            <a:r>
              <a:rPr sz="2850" spc="-20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65" dirty="0">
                <a:solidFill>
                  <a:srgbClr val="BCBCBF"/>
                </a:solidFill>
                <a:latin typeface="Arial"/>
                <a:cs typeface="Arial"/>
              </a:rPr>
              <a:t>multiple</a:t>
            </a:r>
            <a:r>
              <a:rPr sz="2850" spc="28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75" dirty="0">
                <a:solidFill>
                  <a:srgbClr val="BCBCBF"/>
                </a:solidFill>
                <a:latin typeface="Arial"/>
                <a:cs typeface="Arial"/>
              </a:rPr>
              <a:t>act</a:t>
            </a:r>
            <a:r>
              <a:rPr sz="2850" spc="75" dirty="0">
                <a:solidFill>
                  <a:srgbClr val="D4D6D8"/>
                </a:solidFill>
                <a:latin typeface="Arial"/>
                <a:cs typeface="Arial"/>
              </a:rPr>
              <a:t>i</a:t>
            </a:r>
            <a:r>
              <a:rPr sz="2850" spc="75" dirty="0">
                <a:solidFill>
                  <a:srgbClr val="BCBCBF"/>
                </a:solidFill>
                <a:latin typeface="Arial"/>
                <a:cs typeface="Arial"/>
              </a:rPr>
              <a:t>ve</a:t>
            </a:r>
            <a:r>
              <a:rPr sz="2850" spc="16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BCBCBF"/>
                </a:solidFill>
                <a:latin typeface="Arial"/>
                <a:cs typeface="Arial"/>
              </a:rPr>
              <a:t>servers,</a:t>
            </a:r>
            <a:r>
              <a:rPr sz="2850" spc="21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80" dirty="0">
                <a:solidFill>
                  <a:srgbClr val="BCBCBF"/>
                </a:solidFill>
                <a:latin typeface="Arial"/>
                <a:cs typeface="Arial"/>
              </a:rPr>
              <a:t>token</a:t>
            </a:r>
            <a:endParaRPr sz="28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08988" y="5966304"/>
            <a:ext cx="5782310" cy="484505"/>
          </a:xfrm>
          <a:custGeom>
            <a:avLst/>
            <a:gdLst/>
            <a:ahLst/>
            <a:cxnLst/>
            <a:rect l="l" t="t" r="r" b="b"/>
            <a:pathLst>
              <a:path w="5782309" h="484504">
                <a:moveTo>
                  <a:pt x="5781863" y="484106"/>
                </a:moveTo>
                <a:lnTo>
                  <a:pt x="0" y="484106"/>
                </a:lnTo>
                <a:lnTo>
                  <a:pt x="0" y="0"/>
                </a:lnTo>
                <a:lnTo>
                  <a:pt x="5781863" y="0"/>
                </a:lnTo>
                <a:lnTo>
                  <a:pt x="5781863" y="484106"/>
                </a:lnTo>
                <a:close/>
              </a:path>
            </a:pathLst>
          </a:custGeom>
          <a:solidFill>
            <a:srgbClr val="13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96288" y="5955738"/>
            <a:ext cx="5834380" cy="462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spc="55" dirty="0">
                <a:solidFill>
                  <a:srgbClr val="BCBCBF"/>
                </a:solidFill>
                <a:latin typeface="Arial"/>
                <a:cs typeface="Arial"/>
              </a:rPr>
              <a:t>usage</a:t>
            </a:r>
            <a:r>
              <a:rPr sz="2850" spc="-10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70" dirty="0">
                <a:solidFill>
                  <a:srgbClr val="BCBCBF"/>
                </a:solidFill>
                <a:latin typeface="Arial"/>
                <a:cs typeface="Arial"/>
              </a:rPr>
              <a:t>can</a:t>
            </a:r>
            <a:r>
              <a:rPr sz="2850" spc="-1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75" dirty="0">
                <a:solidFill>
                  <a:srgbClr val="BCBCBF"/>
                </a:solidFill>
                <a:latin typeface="Arial"/>
                <a:cs typeface="Arial"/>
              </a:rPr>
              <a:t>climb</a:t>
            </a:r>
            <a:r>
              <a:rPr sz="2850" spc="-10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90" dirty="0">
                <a:solidFill>
                  <a:srgbClr val="BCBCBF"/>
                </a:solidFill>
                <a:latin typeface="Arial"/>
                <a:cs typeface="Arial"/>
              </a:rPr>
              <a:t>rap</a:t>
            </a:r>
            <a:r>
              <a:rPr sz="2850" spc="90" dirty="0">
                <a:solidFill>
                  <a:srgbClr val="D4D6D8"/>
                </a:solidFill>
                <a:latin typeface="Arial"/>
                <a:cs typeface="Arial"/>
              </a:rPr>
              <a:t>id</a:t>
            </a:r>
            <a:r>
              <a:rPr sz="2850" spc="90" dirty="0">
                <a:solidFill>
                  <a:srgbClr val="BCBCBF"/>
                </a:solidFill>
                <a:latin typeface="Arial"/>
                <a:cs typeface="Arial"/>
              </a:rPr>
              <a:t>ly.</a:t>
            </a:r>
            <a:r>
              <a:rPr sz="2850" spc="-229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BCBCBF"/>
                </a:solidFill>
                <a:latin typeface="Arial"/>
                <a:cs typeface="Arial"/>
              </a:rPr>
              <a:t>Too</a:t>
            </a:r>
            <a:r>
              <a:rPr sz="2850" spc="2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BCBCBF"/>
                </a:solidFill>
                <a:latin typeface="Arial"/>
                <a:cs typeface="Arial"/>
              </a:rPr>
              <a:t>many</a:t>
            </a:r>
            <a:endParaRPr sz="28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20968" y="6413119"/>
            <a:ext cx="5629910" cy="484505"/>
          </a:xfrm>
          <a:custGeom>
            <a:avLst/>
            <a:gdLst/>
            <a:ahLst/>
            <a:cxnLst/>
            <a:rect l="l" t="t" r="r" b="b"/>
            <a:pathLst>
              <a:path w="5629909" h="484504">
                <a:moveTo>
                  <a:pt x="5629750" y="484106"/>
                </a:moveTo>
                <a:lnTo>
                  <a:pt x="0" y="484106"/>
                </a:lnTo>
                <a:lnTo>
                  <a:pt x="0" y="0"/>
                </a:lnTo>
                <a:lnTo>
                  <a:pt x="5629750" y="0"/>
                </a:lnTo>
                <a:lnTo>
                  <a:pt x="5629750" y="484106"/>
                </a:lnTo>
                <a:close/>
              </a:path>
            </a:pathLst>
          </a:custGeom>
          <a:solidFill>
            <a:srgbClr val="13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08268" y="6402553"/>
            <a:ext cx="5695950" cy="462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dirty="0">
                <a:solidFill>
                  <a:srgbClr val="BCBCBF"/>
                </a:solidFill>
                <a:latin typeface="Arial"/>
                <a:cs typeface="Arial"/>
              </a:rPr>
              <a:t>servers</a:t>
            </a:r>
            <a:r>
              <a:rPr sz="2850" spc="36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BCBCBF"/>
                </a:solidFill>
                <a:latin typeface="Arial"/>
                <a:cs typeface="Arial"/>
              </a:rPr>
              <a:t>leads</a:t>
            </a:r>
            <a:r>
              <a:rPr sz="2850" spc="254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BCBCBF"/>
                </a:solidFill>
                <a:latin typeface="Arial"/>
                <a:cs typeface="Arial"/>
              </a:rPr>
              <a:t>to</a:t>
            </a:r>
            <a:r>
              <a:rPr sz="2850" spc="54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BCBCBF"/>
                </a:solidFill>
                <a:latin typeface="Arial"/>
                <a:cs typeface="Arial"/>
              </a:rPr>
              <a:t>slower</a:t>
            </a:r>
            <a:r>
              <a:rPr sz="2850" spc="290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45" dirty="0">
                <a:solidFill>
                  <a:srgbClr val="BCBCBF"/>
                </a:solidFill>
                <a:latin typeface="Arial"/>
                <a:cs typeface="Arial"/>
              </a:rPr>
              <a:t>inference,</a:t>
            </a:r>
            <a:endParaRPr sz="28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06600" y="6859943"/>
            <a:ext cx="5912485" cy="931544"/>
          </a:xfrm>
          <a:custGeom>
            <a:avLst/>
            <a:gdLst/>
            <a:ahLst/>
            <a:cxnLst/>
            <a:rect l="l" t="t" r="r" b="b"/>
            <a:pathLst>
              <a:path w="5912484" h="931545">
                <a:moveTo>
                  <a:pt x="5912307" y="0"/>
                </a:moveTo>
                <a:lnTo>
                  <a:pt x="1651" y="0"/>
                </a:lnTo>
                <a:lnTo>
                  <a:pt x="1651" y="446811"/>
                </a:lnTo>
                <a:lnTo>
                  <a:pt x="0" y="446811"/>
                </a:lnTo>
                <a:lnTo>
                  <a:pt x="0" y="930922"/>
                </a:lnTo>
                <a:lnTo>
                  <a:pt x="2958744" y="930922"/>
                </a:lnTo>
                <a:lnTo>
                  <a:pt x="2958744" y="484098"/>
                </a:lnTo>
                <a:lnTo>
                  <a:pt x="5912307" y="484098"/>
                </a:lnTo>
                <a:lnTo>
                  <a:pt x="5912307" y="0"/>
                </a:lnTo>
                <a:close/>
              </a:path>
            </a:pathLst>
          </a:custGeom>
          <a:solidFill>
            <a:srgbClr val="13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93903" y="6849368"/>
            <a:ext cx="5966460" cy="90931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1270">
              <a:lnSpc>
                <a:spcPct val="102899"/>
              </a:lnSpc>
              <a:spcBef>
                <a:spcPts val="15"/>
              </a:spcBef>
            </a:pPr>
            <a:r>
              <a:rPr sz="2850" spc="50" dirty="0">
                <a:solidFill>
                  <a:srgbClr val="BCBCBF"/>
                </a:solidFill>
                <a:latin typeface="Arial"/>
                <a:cs typeface="Arial"/>
              </a:rPr>
              <a:t>higher </a:t>
            </a:r>
            <a:r>
              <a:rPr sz="2850" spc="120" dirty="0">
                <a:solidFill>
                  <a:srgbClr val="BCBCBF"/>
                </a:solidFill>
                <a:latin typeface="Arial"/>
                <a:cs typeface="Arial"/>
              </a:rPr>
              <a:t>cos</a:t>
            </a:r>
            <a:r>
              <a:rPr sz="2850" spc="120" dirty="0">
                <a:solidFill>
                  <a:srgbClr val="D4D6D8"/>
                </a:solidFill>
                <a:latin typeface="Arial"/>
                <a:cs typeface="Arial"/>
              </a:rPr>
              <a:t>t</a:t>
            </a:r>
            <a:r>
              <a:rPr sz="2850" spc="120" dirty="0">
                <a:solidFill>
                  <a:srgbClr val="BCBCBF"/>
                </a:solidFill>
                <a:latin typeface="Arial"/>
                <a:cs typeface="Arial"/>
              </a:rPr>
              <a:t>s,</a:t>
            </a:r>
            <a:r>
              <a:rPr sz="2850" spc="-160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60" dirty="0">
                <a:solidFill>
                  <a:srgbClr val="BCBCBF"/>
                </a:solidFill>
                <a:latin typeface="Arial"/>
                <a:cs typeface="Arial"/>
              </a:rPr>
              <a:t>a</a:t>
            </a:r>
            <a:r>
              <a:rPr sz="2850" spc="60" dirty="0">
                <a:solidFill>
                  <a:srgbClr val="D4D6D8"/>
                </a:solidFill>
                <a:latin typeface="Arial"/>
                <a:cs typeface="Arial"/>
              </a:rPr>
              <a:t>n</a:t>
            </a:r>
            <a:r>
              <a:rPr sz="2850" spc="60" dirty="0">
                <a:solidFill>
                  <a:srgbClr val="BCBCBF"/>
                </a:solidFill>
                <a:latin typeface="Arial"/>
                <a:cs typeface="Arial"/>
              </a:rPr>
              <a:t>d</a:t>
            </a:r>
            <a:r>
              <a:rPr sz="2850" spc="-1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80" dirty="0">
                <a:solidFill>
                  <a:srgbClr val="BCBCBF"/>
                </a:solidFill>
                <a:latin typeface="Arial"/>
                <a:cs typeface="Arial"/>
              </a:rPr>
              <a:t>potentially </a:t>
            </a:r>
            <a:r>
              <a:rPr sz="2850" spc="65" dirty="0">
                <a:solidFill>
                  <a:srgbClr val="BCBCBF"/>
                </a:solidFill>
                <a:latin typeface="Arial"/>
                <a:cs typeface="Arial"/>
              </a:rPr>
              <a:t>lower-</a:t>
            </a:r>
            <a:r>
              <a:rPr sz="2850" spc="80" dirty="0">
                <a:solidFill>
                  <a:srgbClr val="BCBCBF"/>
                </a:solidFill>
                <a:latin typeface="Arial"/>
                <a:cs typeface="Arial"/>
              </a:rPr>
              <a:t>quality</a:t>
            </a:r>
            <a:r>
              <a:rPr sz="2850" spc="25" dirty="0">
                <a:solidFill>
                  <a:srgbClr val="BCBCBF"/>
                </a:solidFill>
                <a:latin typeface="Arial"/>
                <a:cs typeface="Arial"/>
              </a:rPr>
              <a:t> </a:t>
            </a:r>
            <a:r>
              <a:rPr sz="2850" spc="65" dirty="0">
                <a:solidFill>
                  <a:srgbClr val="BCBCBF"/>
                </a:solidFill>
                <a:latin typeface="Arial"/>
                <a:cs typeface="Arial"/>
              </a:rPr>
              <a:t>responses</a:t>
            </a:r>
            <a:r>
              <a:rPr sz="2850" spc="65" dirty="0">
                <a:solidFill>
                  <a:srgbClr val="9A9EA3"/>
                </a:solidFill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23223" y="5521688"/>
            <a:ext cx="1873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10" dirty="0">
                <a:solidFill>
                  <a:srgbClr val="75797E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42776" y="5425942"/>
            <a:ext cx="60007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-100" dirty="0">
                <a:solidFill>
                  <a:srgbClr val="87898E"/>
                </a:solidFill>
                <a:latin typeface="Arial"/>
                <a:cs typeface="Arial"/>
              </a:rPr>
              <a:t>Tools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49032" y="5844277"/>
            <a:ext cx="318770" cy="389890"/>
          </a:xfrm>
          <a:prstGeom prst="rect">
            <a:avLst/>
          </a:prstGeom>
          <a:solidFill>
            <a:srgbClr val="13161A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2200" b="1" spc="-25" dirty="0">
                <a:solidFill>
                  <a:srgbClr val="D4D6D8"/>
                </a:solidFill>
                <a:latin typeface="Arial"/>
                <a:cs typeface="Arial"/>
              </a:rPr>
              <a:t>75</a:t>
            </a:r>
            <a:endParaRPr sz="2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597999" y="5451474"/>
            <a:ext cx="806450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10" dirty="0">
                <a:solidFill>
                  <a:srgbClr val="9A9EA3"/>
                </a:solidFill>
                <a:latin typeface="Arial"/>
                <a:cs typeface="Arial"/>
              </a:rPr>
              <a:t>Tokens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621195" y="5844277"/>
            <a:ext cx="913765" cy="389890"/>
          </a:xfrm>
          <a:prstGeom prst="rect">
            <a:avLst/>
          </a:prstGeom>
          <a:solidFill>
            <a:srgbClr val="13161A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2200" b="1" spc="40" dirty="0">
                <a:solidFill>
                  <a:srgbClr val="D4D6D8"/>
                </a:solidFill>
                <a:latin typeface="Arial"/>
                <a:cs typeface="Arial"/>
              </a:rPr>
              <a:t>20</a:t>
            </a:r>
            <a:r>
              <a:rPr sz="2200" b="1" spc="40" dirty="0">
                <a:solidFill>
                  <a:srgbClr val="BCBCBF"/>
                </a:solidFill>
                <a:latin typeface="Arial"/>
                <a:cs typeface="Arial"/>
              </a:rPr>
              <a:t>,</a:t>
            </a:r>
            <a:r>
              <a:rPr sz="2200" b="1" spc="40" dirty="0">
                <a:solidFill>
                  <a:srgbClr val="D4D6D8"/>
                </a:solidFill>
                <a:latin typeface="Arial"/>
                <a:cs typeface="Arial"/>
              </a:rPr>
              <a:t>212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86557" y="6128080"/>
            <a:ext cx="13716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50" dirty="0">
                <a:solidFill>
                  <a:srgbClr val="705BC8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23223" y="6428085"/>
            <a:ext cx="18732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10" dirty="0">
                <a:solidFill>
                  <a:srgbClr val="75797E"/>
                </a:solidFill>
                <a:latin typeface="Arial"/>
                <a:cs typeface="Arial"/>
              </a:rPr>
              <a:t>0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43289" y="1274556"/>
            <a:ext cx="8827135" cy="1177290"/>
          </a:xfrm>
          <a:prstGeom prst="rect">
            <a:avLst/>
          </a:prstGeom>
          <a:solidFill>
            <a:srgbClr val="111115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650" dirty="0">
                <a:solidFill>
                  <a:srgbClr val="EBEBEB"/>
                </a:solidFill>
              </a:rPr>
              <a:t>A</a:t>
            </a:r>
            <a:r>
              <a:rPr sz="6650" spc="-125" dirty="0">
                <a:solidFill>
                  <a:srgbClr val="EBEBEB"/>
                </a:solidFill>
              </a:rPr>
              <a:t> </a:t>
            </a:r>
            <a:r>
              <a:rPr sz="6650" spc="95" dirty="0">
                <a:solidFill>
                  <a:srgbClr val="EBEBEB"/>
                </a:solidFill>
              </a:rPr>
              <a:t>Tale</a:t>
            </a:r>
            <a:r>
              <a:rPr sz="6650" spc="-150" dirty="0">
                <a:solidFill>
                  <a:srgbClr val="EBEBEB"/>
                </a:solidFill>
              </a:rPr>
              <a:t> </a:t>
            </a:r>
            <a:r>
              <a:rPr sz="6650" spc="120" dirty="0">
                <a:solidFill>
                  <a:srgbClr val="EBEBEB"/>
                </a:solidFill>
              </a:rPr>
              <a:t>of</a:t>
            </a:r>
            <a:r>
              <a:rPr sz="6650" spc="65" dirty="0">
                <a:solidFill>
                  <a:srgbClr val="EBEBEB"/>
                </a:solidFill>
              </a:rPr>
              <a:t> </a:t>
            </a:r>
            <a:r>
              <a:rPr sz="6650" spc="125" dirty="0">
                <a:solidFill>
                  <a:srgbClr val="EBEBEB"/>
                </a:solidFill>
              </a:rPr>
              <a:t>Two</a:t>
            </a:r>
            <a:r>
              <a:rPr sz="6650" spc="-70" dirty="0">
                <a:solidFill>
                  <a:srgbClr val="EBEBEB"/>
                </a:solidFill>
              </a:rPr>
              <a:t> </a:t>
            </a:r>
            <a:r>
              <a:rPr sz="6650" spc="135" dirty="0">
                <a:solidFill>
                  <a:srgbClr val="EBEBEB"/>
                </a:solidFill>
              </a:rPr>
              <a:t>Agents</a:t>
            </a:r>
            <a:endParaRPr sz="6650"/>
          </a:p>
        </p:txBody>
      </p:sp>
      <p:sp>
        <p:nvSpPr>
          <p:cNvPr id="3" name="object 3"/>
          <p:cNvSpPr/>
          <p:nvPr/>
        </p:nvSpPr>
        <p:spPr>
          <a:xfrm>
            <a:off x="2415425" y="2691688"/>
            <a:ext cx="12653010" cy="1428750"/>
          </a:xfrm>
          <a:custGeom>
            <a:avLst/>
            <a:gdLst/>
            <a:ahLst/>
            <a:cxnLst/>
            <a:rect l="l" t="t" r="r" b="b"/>
            <a:pathLst>
              <a:path w="12653010" h="1428750">
                <a:moveTo>
                  <a:pt x="12652604" y="0"/>
                </a:moveTo>
                <a:lnTo>
                  <a:pt x="0" y="0"/>
                </a:lnTo>
                <a:lnTo>
                  <a:pt x="0" y="509574"/>
                </a:lnTo>
                <a:lnTo>
                  <a:pt x="310400" y="509574"/>
                </a:lnTo>
                <a:lnTo>
                  <a:pt x="310400" y="969162"/>
                </a:lnTo>
                <a:lnTo>
                  <a:pt x="4137964" y="969162"/>
                </a:lnTo>
                <a:lnTo>
                  <a:pt x="4137964" y="1428737"/>
                </a:lnTo>
                <a:lnTo>
                  <a:pt x="8526475" y="1428737"/>
                </a:lnTo>
                <a:lnTo>
                  <a:pt x="8526475" y="969162"/>
                </a:lnTo>
                <a:lnTo>
                  <a:pt x="12334558" y="969162"/>
                </a:lnTo>
                <a:lnTo>
                  <a:pt x="12334558" y="509574"/>
                </a:lnTo>
                <a:lnTo>
                  <a:pt x="12652604" y="509574"/>
                </a:lnTo>
                <a:lnTo>
                  <a:pt x="12652604" y="0"/>
                </a:lnTo>
                <a:close/>
              </a:path>
            </a:pathLst>
          </a:custGeom>
          <a:solidFill>
            <a:srgbClr val="1111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02729" y="2681222"/>
            <a:ext cx="12712700" cy="1404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499"/>
              </a:lnSpc>
              <a:spcBef>
                <a:spcPts val="95"/>
              </a:spcBef>
            </a:pP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We</a:t>
            </a:r>
            <a:r>
              <a:rPr sz="3000" spc="7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use</a:t>
            </a:r>
            <a:r>
              <a:rPr sz="3000" spc="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55" dirty="0">
                <a:solidFill>
                  <a:srgbClr val="EBEBEB"/>
                </a:solidFill>
                <a:latin typeface="Arial"/>
                <a:cs typeface="Arial"/>
              </a:rPr>
              <a:t>different</a:t>
            </a:r>
            <a:r>
              <a:rPr sz="3000" spc="37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Al</a:t>
            </a:r>
            <a:r>
              <a:rPr sz="3000" spc="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agents</a:t>
            </a:r>
            <a:r>
              <a:rPr sz="3000" spc="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and</a:t>
            </a:r>
            <a:r>
              <a:rPr sz="3000" spc="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server</a:t>
            </a:r>
            <a:r>
              <a:rPr sz="3000" spc="8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EBEBEB"/>
                </a:solidFill>
                <a:latin typeface="Arial"/>
                <a:cs typeface="Arial"/>
              </a:rPr>
              <a:t>configurations</a:t>
            </a:r>
            <a:r>
              <a:rPr sz="3000" spc="-11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70" dirty="0">
                <a:solidFill>
                  <a:srgbClr val="EBEBEB"/>
                </a:solidFill>
                <a:latin typeface="Arial"/>
                <a:cs typeface="Arial"/>
              </a:rPr>
              <a:t>for</a:t>
            </a:r>
            <a:r>
              <a:rPr sz="3000" spc="2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EBEBEB"/>
                </a:solidFill>
                <a:latin typeface="Arial"/>
                <a:cs typeface="Arial"/>
              </a:rPr>
              <a:t>different</a:t>
            </a:r>
            <a:r>
              <a:rPr sz="3000" spc="25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EBEBEB"/>
                </a:solidFill>
                <a:latin typeface="Arial"/>
                <a:cs typeface="Arial"/>
              </a:rPr>
              <a:t>phases </a:t>
            </a:r>
            <a:r>
              <a:rPr sz="3000" spc="70" dirty="0">
                <a:solidFill>
                  <a:srgbClr val="EBEBEB"/>
                </a:solidFill>
                <a:latin typeface="Arial"/>
                <a:cs typeface="Arial"/>
              </a:rPr>
              <a:t>of</a:t>
            </a:r>
            <a:r>
              <a:rPr sz="3000" spc="16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development.</a:t>
            </a:r>
            <a:r>
              <a:rPr sz="3000" spc="3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The</a:t>
            </a:r>
            <a:r>
              <a:rPr sz="3000" spc="3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MCP</a:t>
            </a:r>
            <a:r>
              <a:rPr sz="3000" spc="60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50" dirty="0">
                <a:solidFill>
                  <a:srgbClr val="EBEBEB"/>
                </a:solidFill>
                <a:latin typeface="Arial"/>
                <a:cs typeface="Arial"/>
              </a:rPr>
              <a:t>Config</a:t>
            </a:r>
            <a:r>
              <a:rPr sz="3000" spc="1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Manager</a:t>
            </a:r>
            <a:r>
              <a:rPr sz="3000" spc="18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EBEBEB"/>
                </a:solidFill>
                <a:latin typeface="Arial"/>
                <a:cs typeface="Arial"/>
              </a:rPr>
              <a:t>makes</a:t>
            </a:r>
            <a:r>
              <a:rPr sz="3000" spc="18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EBEBEB"/>
                </a:solidFill>
                <a:latin typeface="Arial"/>
                <a:cs typeface="Arial"/>
              </a:rPr>
              <a:t>switching</a:t>
            </a:r>
            <a:r>
              <a:rPr sz="3000" spc="16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45" dirty="0">
                <a:solidFill>
                  <a:srgbClr val="EBEBEB"/>
                </a:solidFill>
                <a:latin typeface="Arial"/>
                <a:cs typeface="Arial"/>
              </a:rPr>
              <a:t>between </a:t>
            </a:r>
            <a:r>
              <a:rPr sz="3000" spc="50" dirty="0">
                <a:solidFill>
                  <a:srgbClr val="EBEBEB"/>
                </a:solidFill>
                <a:latin typeface="Arial"/>
                <a:cs typeface="Arial"/>
              </a:rPr>
              <a:t>these</a:t>
            </a:r>
            <a:r>
              <a:rPr sz="3000" spc="9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65" dirty="0">
                <a:solidFill>
                  <a:srgbClr val="EBEBEB"/>
                </a:solidFill>
                <a:latin typeface="Arial"/>
                <a:cs typeface="Arial"/>
              </a:rPr>
              <a:t>contexts</a:t>
            </a:r>
            <a:r>
              <a:rPr sz="3000" spc="95" dirty="0">
                <a:solidFill>
                  <a:srgbClr val="EBEBEB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EBEBEB"/>
                </a:solidFill>
                <a:latin typeface="Arial"/>
                <a:cs typeface="Arial"/>
              </a:rPr>
              <a:t>seamless.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4364" y="7701975"/>
            <a:ext cx="1744980" cy="603250"/>
          </a:xfrm>
          <a:custGeom>
            <a:avLst/>
            <a:gdLst/>
            <a:ahLst/>
            <a:cxnLst/>
            <a:rect l="l" t="t" r="r" b="b"/>
            <a:pathLst>
              <a:path w="1744979" h="603250">
                <a:moveTo>
                  <a:pt x="1744957" y="603010"/>
                </a:moveTo>
                <a:lnTo>
                  <a:pt x="0" y="603010"/>
                </a:lnTo>
                <a:lnTo>
                  <a:pt x="0" y="0"/>
                </a:lnTo>
                <a:lnTo>
                  <a:pt x="1744957" y="0"/>
                </a:lnTo>
                <a:lnTo>
                  <a:pt x="1744957" y="603010"/>
                </a:lnTo>
                <a:close/>
              </a:path>
            </a:pathLst>
          </a:custGeom>
          <a:solidFill>
            <a:srgbClr val="1111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1663" y="7691934"/>
            <a:ext cx="1819910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-10" dirty="0">
                <a:solidFill>
                  <a:srgbClr val="EBEBEB"/>
                </a:solidFill>
                <a:latin typeface="Arial"/>
                <a:cs typeface="Arial"/>
              </a:rPr>
              <a:t>Planning</a:t>
            </a:r>
            <a:endParaRPr sz="35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92539" y="7701975"/>
            <a:ext cx="1617980" cy="603250"/>
          </a:xfrm>
          <a:custGeom>
            <a:avLst/>
            <a:gdLst/>
            <a:ahLst/>
            <a:cxnLst/>
            <a:rect l="l" t="t" r="r" b="b"/>
            <a:pathLst>
              <a:path w="1617980" h="603250">
                <a:moveTo>
                  <a:pt x="1617588" y="603010"/>
                </a:moveTo>
                <a:lnTo>
                  <a:pt x="0" y="603010"/>
                </a:lnTo>
                <a:lnTo>
                  <a:pt x="0" y="0"/>
                </a:lnTo>
                <a:lnTo>
                  <a:pt x="1617588" y="0"/>
                </a:lnTo>
                <a:lnTo>
                  <a:pt x="1617588" y="603010"/>
                </a:lnTo>
                <a:close/>
              </a:path>
            </a:pathLst>
          </a:custGeom>
          <a:solidFill>
            <a:srgbClr val="11111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079838" y="7691934"/>
            <a:ext cx="1698625" cy="569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550" spc="45" dirty="0">
                <a:solidFill>
                  <a:srgbClr val="EBEBEB"/>
                </a:solidFill>
                <a:latin typeface="Arial"/>
                <a:cs typeface="Arial"/>
              </a:rPr>
              <a:t>Building</a:t>
            </a:r>
            <a:endParaRPr sz="3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167</Words>
  <Application>Microsoft Macintosh PowerPoint</Application>
  <PresentationFormat>Custom</PresentationFormat>
  <Paragraphs>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Beyond Configuration:</vt:lpstr>
      <vt:lpstr>The Hidden Cost</vt:lpstr>
      <vt:lpstr>PowerPoint Presentation</vt:lpstr>
      <vt:lpstr>A Tale of Two Agents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Brian Dawson</cp:lastModifiedBy>
  <cp:revision>1</cp:revision>
  <dcterms:created xsi:type="dcterms:W3CDTF">2025-12-17T09:07:35Z</dcterms:created>
  <dcterms:modified xsi:type="dcterms:W3CDTF">2025-12-17T09:07:48Z</dcterms:modified>
</cp:coreProperties>
</file>