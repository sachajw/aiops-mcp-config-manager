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5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5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5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5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24810" y="906302"/>
            <a:ext cx="13425579" cy="911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5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53159" y="906302"/>
            <a:ext cx="13435330" cy="911860"/>
          </a:xfrm>
          <a:prstGeom prst="rect"/>
          <a:solidFill>
            <a:srgbClr val="16161A"/>
          </a:solidFill>
        </p:spPr>
        <p:txBody>
          <a:bodyPr wrap="square" lIns="0" tIns="1016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0"/>
              </a:spcBef>
            </a:pPr>
            <a:r>
              <a:rPr dirty="0" spc="-215"/>
              <a:t>Supercharge</a:t>
            </a:r>
            <a:r>
              <a:rPr dirty="0" spc="-155"/>
              <a:t> </a:t>
            </a:r>
            <a:r>
              <a:rPr dirty="0" spc="-90"/>
              <a:t>the</a:t>
            </a:r>
            <a:r>
              <a:rPr dirty="0" spc="-320"/>
              <a:t> </a:t>
            </a:r>
            <a:r>
              <a:rPr dirty="0" spc="-240"/>
              <a:t>Entire</a:t>
            </a:r>
            <a:r>
              <a:rPr dirty="0" spc="-110"/>
              <a:t> </a:t>
            </a:r>
            <a:r>
              <a:rPr dirty="0" spc="-180"/>
              <a:t>Development</a:t>
            </a:r>
            <a:r>
              <a:rPr dirty="0" spc="-15"/>
              <a:t> </a:t>
            </a:r>
            <a:r>
              <a:rPr dirty="0" spc="-180"/>
              <a:t>Lifecycle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53271" y="5985565"/>
            <a:ext cx="11720195" cy="459105"/>
          </a:xfrm>
          <a:prstGeom prst="rect">
            <a:avLst/>
          </a:prstGeom>
          <a:solidFill>
            <a:srgbClr val="16161A"/>
          </a:solidFill>
        </p:spPr>
        <p:txBody>
          <a:bodyPr wrap="square" lIns="0" tIns="38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r>
              <a:rPr dirty="0" sz="2700">
                <a:solidFill>
                  <a:srgbClr val="DDDBDA"/>
                </a:solidFill>
                <a:latin typeface="Arial"/>
                <a:cs typeface="Arial"/>
              </a:rPr>
              <a:t>Use</a:t>
            </a:r>
            <a:r>
              <a:rPr dirty="0" sz="2700" spc="-30">
                <a:solidFill>
                  <a:srgbClr val="DDDBDA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DDDBDA"/>
                </a:solidFill>
                <a:latin typeface="Arial"/>
                <a:cs typeface="Arial"/>
              </a:rPr>
              <a:t>MCP</a:t>
            </a:r>
            <a:r>
              <a:rPr dirty="0" sz="2700" spc="-15">
                <a:solidFill>
                  <a:srgbClr val="DDDBDA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DDDBDA"/>
                </a:solidFill>
                <a:latin typeface="Arial"/>
                <a:cs typeface="Arial"/>
              </a:rPr>
              <a:t>to</a:t>
            </a:r>
            <a:r>
              <a:rPr dirty="0" sz="2700" spc="330">
                <a:solidFill>
                  <a:srgbClr val="DDDBDA"/>
                </a:solidFill>
                <a:latin typeface="Arial"/>
                <a:cs typeface="Arial"/>
              </a:rPr>
              <a:t> </a:t>
            </a:r>
            <a:r>
              <a:rPr dirty="0" sz="2700" spc="60">
                <a:solidFill>
                  <a:srgbClr val="DDDBDA"/>
                </a:solidFill>
                <a:latin typeface="Arial"/>
                <a:cs typeface="Arial"/>
              </a:rPr>
              <a:t>connect</a:t>
            </a:r>
            <a:r>
              <a:rPr dirty="0" sz="2700" spc="185">
                <a:solidFill>
                  <a:srgbClr val="DDDBDA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DDDBDA"/>
                </a:solidFill>
                <a:latin typeface="Arial"/>
                <a:cs typeface="Arial"/>
              </a:rPr>
              <a:t>your</a:t>
            </a:r>
            <a:r>
              <a:rPr dirty="0" sz="2700" spc="55">
                <a:solidFill>
                  <a:srgbClr val="DDDBDA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DDDBDA"/>
                </a:solidFill>
                <a:latin typeface="Arial"/>
                <a:cs typeface="Arial"/>
              </a:rPr>
              <a:t>entire</a:t>
            </a:r>
            <a:r>
              <a:rPr dirty="0" sz="2700" spc="55">
                <a:solidFill>
                  <a:srgbClr val="DDDBDA"/>
                </a:solidFill>
                <a:latin typeface="Arial"/>
                <a:cs typeface="Arial"/>
              </a:rPr>
              <a:t> </a:t>
            </a:r>
            <a:r>
              <a:rPr dirty="0" sz="2700" spc="60">
                <a:solidFill>
                  <a:srgbClr val="DDDBDA"/>
                </a:solidFill>
                <a:latin typeface="Arial"/>
                <a:cs typeface="Arial"/>
              </a:rPr>
              <a:t>toolchain</a:t>
            </a:r>
            <a:r>
              <a:rPr dirty="0" sz="2700" spc="60">
                <a:solidFill>
                  <a:srgbClr val="C3C1C4"/>
                </a:solidFill>
                <a:latin typeface="Arial"/>
                <a:cs typeface="Arial"/>
              </a:rPr>
              <a:t>.</a:t>
            </a:r>
            <a:r>
              <a:rPr dirty="0" sz="2700" spc="-229">
                <a:solidFill>
                  <a:srgbClr val="C3C1C4"/>
                </a:solidFill>
                <a:latin typeface="Arial"/>
                <a:cs typeface="Arial"/>
              </a:rPr>
              <a:t> </a:t>
            </a:r>
            <a:r>
              <a:rPr dirty="0" sz="2700" spc="70">
                <a:solidFill>
                  <a:srgbClr val="DDDBDA"/>
                </a:solidFill>
                <a:latin typeface="Arial"/>
                <a:cs typeface="Arial"/>
              </a:rPr>
              <a:t>Let</a:t>
            </a:r>
            <a:r>
              <a:rPr dirty="0" sz="2700" spc="-5">
                <a:solidFill>
                  <a:srgbClr val="DDDBDA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DDDBDA"/>
                </a:solidFill>
                <a:latin typeface="Arial"/>
                <a:cs typeface="Arial"/>
              </a:rPr>
              <a:t>your</a:t>
            </a:r>
            <a:r>
              <a:rPr dirty="0" sz="2700" spc="60">
                <a:solidFill>
                  <a:srgbClr val="DDDBDA"/>
                </a:solidFill>
                <a:latin typeface="Arial"/>
                <a:cs typeface="Arial"/>
              </a:rPr>
              <a:t> agent</a:t>
            </a:r>
            <a:r>
              <a:rPr dirty="0" sz="2700" spc="55">
                <a:solidFill>
                  <a:srgbClr val="DDDBDA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DDDBDA"/>
                </a:solidFill>
                <a:latin typeface="Arial"/>
                <a:cs typeface="Arial"/>
              </a:rPr>
              <a:t>read</a:t>
            </a:r>
            <a:r>
              <a:rPr dirty="0" sz="2700" spc="35">
                <a:solidFill>
                  <a:srgbClr val="DDDBDA"/>
                </a:solidFill>
                <a:latin typeface="Arial"/>
                <a:cs typeface="Arial"/>
              </a:rPr>
              <a:t> </a:t>
            </a:r>
            <a:r>
              <a:rPr dirty="0" sz="2700" spc="40">
                <a:solidFill>
                  <a:srgbClr val="DDDBDA"/>
                </a:solidFill>
                <a:latin typeface="Arial"/>
                <a:cs typeface="Arial"/>
              </a:rPr>
              <a:t>acceptance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94050" y="6483451"/>
            <a:ext cx="11433810" cy="956944"/>
          </a:xfrm>
          <a:custGeom>
            <a:avLst/>
            <a:gdLst/>
            <a:ahLst/>
            <a:cxnLst/>
            <a:rect l="l" t="t" r="r" b="b"/>
            <a:pathLst>
              <a:path w="11433810" h="956945">
                <a:moveTo>
                  <a:pt x="9816859" y="497878"/>
                </a:moveTo>
                <a:lnTo>
                  <a:pt x="1596250" y="497878"/>
                </a:lnTo>
                <a:lnTo>
                  <a:pt x="1596250" y="956500"/>
                </a:lnTo>
                <a:lnTo>
                  <a:pt x="9816859" y="956500"/>
                </a:lnTo>
                <a:lnTo>
                  <a:pt x="9816859" y="497878"/>
                </a:lnTo>
                <a:close/>
              </a:path>
              <a:path w="11433810" h="956945">
                <a:moveTo>
                  <a:pt x="11433264" y="0"/>
                </a:moveTo>
                <a:lnTo>
                  <a:pt x="0" y="0"/>
                </a:lnTo>
                <a:lnTo>
                  <a:pt x="0" y="458622"/>
                </a:lnTo>
                <a:lnTo>
                  <a:pt x="11433264" y="458622"/>
                </a:lnTo>
                <a:lnTo>
                  <a:pt x="11433264" y="0"/>
                </a:lnTo>
                <a:close/>
              </a:path>
            </a:pathLst>
          </a:custGeom>
          <a:solidFill>
            <a:srgbClr val="1616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081352" y="6388510"/>
            <a:ext cx="11483340" cy="10217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608455" marR="5080" indent="-1596390">
              <a:lnSpc>
                <a:spcPct val="121000"/>
              </a:lnSpc>
              <a:spcBef>
                <a:spcPts val="95"/>
              </a:spcBef>
            </a:pPr>
            <a:r>
              <a:rPr dirty="0" sz="2700">
                <a:solidFill>
                  <a:srgbClr val="DDDBDA"/>
                </a:solidFill>
                <a:latin typeface="Arial"/>
                <a:cs typeface="Arial"/>
              </a:rPr>
              <a:t>criteria</a:t>
            </a:r>
            <a:r>
              <a:rPr dirty="0" sz="2700" spc="180">
                <a:solidFill>
                  <a:srgbClr val="DDDBDA"/>
                </a:solidFill>
                <a:latin typeface="Arial"/>
                <a:cs typeface="Arial"/>
              </a:rPr>
              <a:t> </a:t>
            </a:r>
            <a:r>
              <a:rPr dirty="0" sz="2700" spc="105">
                <a:solidFill>
                  <a:srgbClr val="DDDBDA"/>
                </a:solidFill>
                <a:latin typeface="Arial"/>
                <a:cs typeface="Arial"/>
              </a:rPr>
              <a:t>from</a:t>
            </a:r>
            <a:r>
              <a:rPr dirty="0" sz="2700" spc="-85">
                <a:solidFill>
                  <a:srgbClr val="DDDBDA"/>
                </a:solidFill>
                <a:latin typeface="Arial"/>
                <a:cs typeface="Arial"/>
              </a:rPr>
              <a:t> </a:t>
            </a:r>
            <a:r>
              <a:rPr dirty="0" sz="2700" spc="90">
                <a:solidFill>
                  <a:srgbClr val="DDDBDA"/>
                </a:solidFill>
                <a:latin typeface="Arial"/>
                <a:cs typeface="Arial"/>
              </a:rPr>
              <a:t>a</a:t>
            </a:r>
            <a:r>
              <a:rPr dirty="0" sz="2700" spc="-50">
                <a:solidFill>
                  <a:srgbClr val="DDDBDA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DDDBDA"/>
                </a:solidFill>
                <a:latin typeface="Arial"/>
                <a:cs typeface="Arial"/>
              </a:rPr>
              <a:t>Jira</a:t>
            </a:r>
            <a:r>
              <a:rPr dirty="0" sz="2700" spc="70">
                <a:solidFill>
                  <a:srgbClr val="DDDBDA"/>
                </a:solidFill>
                <a:latin typeface="Arial"/>
                <a:cs typeface="Arial"/>
              </a:rPr>
              <a:t> </a:t>
            </a:r>
            <a:r>
              <a:rPr dirty="0" sz="2700" spc="85">
                <a:solidFill>
                  <a:srgbClr val="DDDBDA"/>
                </a:solidFill>
                <a:latin typeface="Arial"/>
                <a:cs typeface="Arial"/>
              </a:rPr>
              <a:t>ticket,</a:t>
            </a:r>
            <a:r>
              <a:rPr dirty="0" sz="2700" spc="-105">
                <a:solidFill>
                  <a:srgbClr val="DDDBDA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DDDBDA"/>
                </a:solidFill>
                <a:latin typeface="Arial"/>
                <a:cs typeface="Arial"/>
              </a:rPr>
              <a:t>diagnose</a:t>
            </a:r>
            <a:r>
              <a:rPr dirty="0" sz="2700" spc="155">
                <a:solidFill>
                  <a:srgbClr val="DDDBDA"/>
                </a:solidFill>
                <a:latin typeface="Arial"/>
                <a:cs typeface="Arial"/>
              </a:rPr>
              <a:t> </a:t>
            </a:r>
            <a:r>
              <a:rPr dirty="0" sz="2700" spc="90">
                <a:solidFill>
                  <a:srgbClr val="DDDBDA"/>
                </a:solidFill>
                <a:latin typeface="Arial"/>
                <a:cs typeface="Arial"/>
              </a:rPr>
              <a:t>a</a:t>
            </a:r>
            <a:r>
              <a:rPr dirty="0" sz="2700" spc="-105">
                <a:solidFill>
                  <a:srgbClr val="DDDBDA"/>
                </a:solidFill>
                <a:latin typeface="Arial"/>
                <a:cs typeface="Arial"/>
              </a:rPr>
              <a:t> </a:t>
            </a:r>
            <a:r>
              <a:rPr dirty="0" sz="2700" spc="60">
                <a:solidFill>
                  <a:srgbClr val="DDDBDA"/>
                </a:solidFill>
                <a:latin typeface="Arial"/>
                <a:cs typeface="Arial"/>
              </a:rPr>
              <a:t>failed</a:t>
            </a:r>
            <a:r>
              <a:rPr dirty="0" sz="2700" spc="-110">
                <a:solidFill>
                  <a:srgbClr val="DDDBDA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DDDBDA"/>
                </a:solidFill>
                <a:latin typeface="Arial"/>
                <a:cs typeface="Arial"/>
              </a:rPr>
              <a:t>Playwright</a:t>
            </a:r>
            <a:r>
              <a:rPr dirty="0" sz="2700" spc="180">
                <a:solidFill>
                  <a:srgbClr val="DDDBDA"/>
                </a:solidFill>
                <a:latin typeface="Arial"/>
                <a:cs typeface="Arial"/>
              </a:rPr>
              <a:t> </a:t>
            </a:r>
            <a:r>
              <a:rPr dirty="0" sz="2700" spc="80">
                <a:solidFill>
                  <a:srgbClr val="DDDBDA"/>
                </a:solidFill>
                <a:latin typeface="Arial"/>
                <a:cs typeface="Arial"/>
              </a:rPr>
              <a:t>test</a:t>
            </a:r>
            <a:r>
              <a:rPr dirty="0" sz="2700">
                <a:solidFill>
                  <a:srgbClr val="DDDBDA"/>
                </a:solidFill>
                <a:latin typeface="Arial"/>
                <a:cs typeface="Arial"/>
              </a:rPr>
              <a:t> </a:t>
            </a:r>
            <a:r>
              <a:rPr dirty="0" sz="2700" spc="95">
                <a:solidFill>
                  <a:srgbClr val="DDDBDA"/>
                </a:solidFill>
                <a:latin typeface="Arial"/>
                <a:cs typeface="Arial"/>
              </a:rPr>
              <a:t>by</a:t>
            </a:r>
            <a:r>
              <a:rPr dirty="0" sz="2700" spc="125">
                <a:solidFill>
                  <a:srgbClr val="DDDBDA"/>
                </a:solidFill>
                <a:latin typeface="Arial"/>
                <a:cs typeface="Arial"/>
              </a:rPr>
              <a:t> </a:t>
            </a:r>
            <a:r>
              <a:rPr dirty="0" sz="2700" spc="45">
                <a:solidFill>
                  <a:srgbClr val="DDDBDA"/>
                </a:solidFill>
                <a:latin typeface="Arial"/>
                <a:cs typeface="Arial"/>
              </a:rPr>
              <a:t>viewing</a:t>
            </a:r>
            <a:r>
              <a:rPr dirty="0" sz="2700" spc="55">
                <a:solidFill>
                  <a:srgbClr val="DDDBDA"/>
                </a:solidFill>
                <a:latin typeface="Arial"/>
                <a:cs typeface="Arial"/>
              </a:rPr>
              <a:t> </a:t>
            </a:r>
            <a:r>
              <a:rPr dirty="0" sz="2700" spc="80">
                <a:solidFill>
                  <a:srgbClr val="DDDBDA"/>
                </a:solidFill>
                <a:latin typeface="Arial"/>
                <a:cs typeface="Arial"/>
              </a:rPr>
              <a:t>the </a:t>
            </a:r>
            <a:r>
              <a:rPr dirty="0" sz="2700">
                <a:solidFill>
                  <a:srgbClr val="DDDBDA"/>
                </a:solidFill>
                <a:latin typeface="Arial"/>
                <a:cs typeface="Arial"/>
              </a:rPr>
              <a:t>results</a:t>
            </a:r>
            <a:r>
              <a:rPr dirty="0" sz="2700" spc="80">
                <a:solidFill>
                  <a:srgbClr val="DDDBDA"/>
                </a:solidFill>
                <a:latin typeface="Arial"/>
                <a:cs typeface="Arial"/>
              </a:rPr>
              <a:t> </a:t>
            </a:r>
            <a:r>
              <a:rPr dirty="0" sz="2700" spc="70">
                <a:solidFill>
                  <a:srgbClr val="DDDBDA"/>
                </a:solidFill>
                <a:latin typeface="Arial"/>
                <a:cs typeface="Arial"/>
              </a:rPr>
              <a:t>and</a:t>
            </a:r>
            <a:r>
              <a:rPr dirty="0" sz="2700" spc="60">
                <a:solidFill>
                  <a:srgbClr val="DDDBDA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DDDBDA"/>
                </a:solidFill>
                <a:latin typeface="Arial"/>
                <a:cs typeface="Arial"/>
              </a:rPr>
              <a:t>screenshot,</a:t>
            </a:r>
            <a:r>
              <a:rPr dirty="0" sz="2700" spc="245">
                <a:solidFill>
                  <a:srgbClr val="DDDBDA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DDDBDA"/>
                </a:solidFill>
                <a:latin typeface="Arial"/>
                <a:cs typeface="Arial"/>
              </a:rPr>
              <a:t>or</a:t>
            </a:r>
            <a:r>
              <a:rPr dirty="0" sz="2700" spc="-25">
                <a:solidFill>
                  <a:srgbClr val="DDDBDA"/>
                </a:solidFill>
                <a:latin typeface="Arial"/>
                <a:cs typeface="Arial"/>
              </a:rPr>
              <a:t> </a:t>
            </a:r>
            <a:r>
              <a:rPr dirty="0" sz="2700" spc="55">
                <a:solidFill>
                  <a:srgbClr val="DDDBDA"/>
                </a:solidFill>
                <a:latin typeface="Arial"/>
                <a:cs typeface="Arial"/>
              </a:rPr>
              <a:t>inspect</a:t>
            </a:r>
            <a:r>
              <a:rPr dirty="0" sz="2700" spc="210">
                <a:solidFill>
                  <a:srgbClr val="DDDBDA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DDDBDA"/>
                </a:solidFill>
                <a:latin typeface="Arial"/>
                <a:cs typeface="Arial"/>
              </a:rPr>
              <a:t>a</a:t>
            </a:r>
            <a:r>
              <a:rPr dirty="0" sz="2700" spc="100">
                <a:solidFill>
                  <a:srgbClr val="DDDBDA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DDDBDA"/>
                </a:solidFill>
                <a:latin typeface="Arial"/>
                <a:cs typeface="Arial"/>
              </a:rPr>
              <a:t>design</a:t>
            </a:r>
            <a:r>
              <a:rPr dirty="0" sz="2700" spc="105">
                <a:solidFill>
                  <a:srgbClr val="DDDBDA"/>
                </a:solidFill>
                <a:latin typeface="Arial"/>
                <a:cs typeface="Arial"/>
              </a:rPr>
              <a:t> </a:t>
            </a:r>
            <a:r>
              <a:rPr dirty="0" sz="2700">
                <a:solidFill>
                  <a:srgbClr val="DDDBDA"/>
                </a:solidFill>
                <a:latin typeface="Arial"/>
                <a:cs typeface="Arial"/>
              </a:rPr>
              <a:t>in</a:t>
            </a:r>
            <a:r>
              <a:rPr dirty="0" sz="2700" spc="65">
                <a:solidFill>
                  <a:srgbClr val="DDDBDA"/>
                </a:solidFill>
                <a:latin typeface="Arial"/>
                <a:cs typeface="Arial"/>
              </a:rPr>
              <a:t> </a:t>
            </a:r>
            <a:r>
              <a:rPr dirty="0" sz="2700" spc="-10">
                <a:solidFill>
                  <a:srgbClr val="DDDBDA"/>
                </a:solidFill>
                <a:latin typeface="Arial"/>
                <a:cs typeface="Arial"/>
              </a:rPr>
              <a:t>Figma</a:t>
            </a:r>
            <a:r>
              <a:rPr dirty="0" sz="2700" spc="-10">
                <a:solidFill>
                  <a:srgbClr val="C3C1C4"/>
                </a:solidFill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9229" y="2113128"/>
            <a:ext cx="294640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1700">
                <a:solidFill>
                  <a:srgbClr val="4B4675"/>
                </a:solidFill>
                <a:latin typeface="Times New Roman"/>
                <a:cs typeface="Times New Roman"/>
              </a:rPr>
              <a:t>,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71287" y="2269383"/>
            <a:ext cx="6457950" cy="0"/>
          </a:xfrm>
          <a:custGeom>
            <a:avLst/>
            <a:gdLst/>
            <a:ahLst/>
            <a:cxnLst/>
            <a:rect l="l" t="t" r="r" b="b"/>
            <a:pathLst>
              <a:path w="6457950" h="0">
                <a:moveTo>
                  <a:pt x="0" y="0"/>
                </a:moveTo>
                <a:lnTo>
                  <a:pt x="6457896" y="0"/>
                </a:lnTo>
              </a:path>
            </a:pathLst>
          </a:custGeom>
          <a:ln w="13666">
            <a:solidFill>
              <a:srgbClr val="4A4574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016712" y="2113128"/>
            <a:ext cx="294640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1700">
                <a:solidFill>
                  <a:srgbClr val="645D9C"/>
                </a:solidFill>
                <a:latin typeface="Times New Roman"/>
                <a:cs typeface="Times New Roman"/>
              </a:rPr>
              <a:t>,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05968" y="2553560"/>
            <a:ext cx="3800475" cy="4241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600" spc="-190">
                <a:solidFill>
                  <a:srgbClr val="696D79"/>
                </a:solidFill>
                <a:latin typeface="Courier New"/>
                <a:cs typeface="Courier New"/>
              </a:rPr>
              <a:t>//</a:t>
            </a:r>
            <a:r>
              <a:rPr dirty="0" sz="2600" spc="-340">
                <a:solidFill>
                  <a:srgbClr val="696D79"/>
                </a:solidFill>
                <a:latin typeface="Courier New"/>
                <a:cs typeface="Courier New"/>
              </a:rPr>
              <a:t> </a:t>
            </a:r>
            <a:r>
              <a:rPr dirty="0" sz="2600" spc="-350">
                <a:solidFill>
                  <a:srgbClr val="696D79"/>
                </a:solidFill>
                <a:latin typeface="Courier New"/>
                <a:cs typeface="Courier New"/>
              </a:rPr>
              <a:t>Actual</a:t>
            </a:r>
            <a:r>
              <a:rPr dirty="0" sz="2600" spc="-345">
                <a:solidFill>
                  <a:srgbClr val="696D79"/>
                </a:solidFill>
                <a:latin typeface="Courier New"/>
                <a:cs typeface="Courier New"/>
              </a:rPr>
              <a:t> </a:t>
            </a:r>
            <a:r>
              <a:rPr dirty="0" sz="2600" spc="-335">
                <a:solidFill>
                  <a:srgbClr val="696D79"/>
                </a:solidFill>
                <a:latin typeface="Courier New"/>
                <a:cs typeface="Courier New"/>
              </a:rPr>
              <a:t>Project</a:t>
            </a:r>
            <a:r>
              <a:rPr dirty="0" sz="2600" spc="-204">
                <a:solidFill>
                  <a:srgbClr val="696D79"/>
                </a:solidFill>
                <a:latin typeface="Courier New"/>
                <a:cs typeface="Courier New"/>
              </a:rPr>
              <a:t> </a:t>
            </a:r>
            <a:r>
              <a:rPr dirty="0" sz="2600" spc="-375">
                <a:solidFill>
                  <a:srgbClr val="696D79"/>
                </a:solidFill>
                <a:latin typeface="Courier New"/>
                <a:cs typeface="Courier New"/>
              </a:rPr>
              <a:t>Config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48310" y="3011503"/>
            <a:ext cx="114935" cy="356870"/>
          </a:xfrm>
          <a:custGeom>
            <a:avLst/>
            <a:gdLst/>
            <a:ahLst/>
            <a:cxnLst/>
            <a:rect l="l" t="t" r="r" b="b"/>
            <a:pathLst>
              <a:path w="114935" h="356870">
                <a:moveTo>
                  <a:pt x="114632" y="356710"/>
                </a:moveTo>
                <a:lnTo>
                  <a:pt x="0" y="356710"/>
                </a:lnTo>
                <a:lnTo>
                  <a:pt x="0" y="0"/>
                </a:lnTo>
                <a:lnTo>
                  <a:pt x="114632" y="0"/>
                </a:lnTo>
                <a:lnTo>
                  <a:pt x="114632" y="356710"/>
                </a:lnTo>
                <a:close/>
              </a:path>
            </a:pathLst>
          </a:custGeom>
          <a:solidFill>
            <a:srgbClr val="151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635610" y="3000375"/>
            <a:ext cx="9461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 spc="-105">
                <a:solidFill>
                  <a:srgbClr val="CFD1D4"/>
                </a:solidFill>
                <a:latin typeface="Arial"/>
                <a:cs typeface="Arial"/>
              </a:rPr>
              <a:t>{</a:t>
            </a:r>
            <a:endParaRPr sz="21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87740" y="3368344"/>
            <a:ext cx="360680" cy="419734"/>
          </a:xfrm>
          <a:custGeom>
            <a:avLst/>
            <a:gdLst/>
            <a:ahLst/>
            <a:cxnLst/>
            <a:rect l="l" t="t" r="r" b="b"/>
            <a:pathLst>
              <a:path w="360679" h="419735">
                <a:moveTo>
                  <a:pt x="360340" y="419200"/>
                </a:moveTo>
                <a:lnTo>
                  <a:pt x="0" y="419200"/>
                </a:lnTo>
                <a:lnTo>
                  <a:pt x="0" y="0"/>
                </a:lnTo>
                <a:lnTo>
                  <a:pt x="360340" y="0"/>
                </a:lnTo>
                <a:lnTo>
                  <a:pt x="360340" y="419200"/>
                </a:lnTo>
                <a:close/>
              </a:path>
            </a:pathLst>
          </a:custGeom>
          <a:solidFill>
            <a:srgbClr val="151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953562" y="3357826"/>
            <a:ext cx="2359660" cy="4089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179320" algn="l"/>
              </a:tabLst>
            </a:pPr>
            <a:r>
              <a:rPr dirty="0" sz="2500" spc="85">
                <a:solidFill>
                  <a:srgbClr val="9E7CBA"/>
                </a:solidFill>
                <a:latin typeface="Times New Roman"/>
                <a:cs typeface="Times New Roman"/>
              </a:rPr>
              <a:t>"mcpServers"</a:t>
            </a:r>
            <a:r>
              <a:rPr dirty="0" sz="2500" spc="85">
                <a:solidFill>
                  <a:srgbClr val="CFD1D4"/>
                </a:solidFill>
                <a:latin typeface="Times New Roman"/>
                <a:cs typeface="Times New Roman"/>
              </a:rPr>
              <a:t>:</a:t>
            </a:r>
            <a:r>
              <a:rPr dirty="0" sz="2500">
                <a:solidFill>
                  <a:srgbClr val="CFD1D4"/>
                </a:solidFill>
                <a:latin typeface="Times New Roman"/>
                <a:cs typeface="Times New Roman"/>
              </a:rPr>
              <a:t>	</a:t>
            </a:r>
            <a:r>
              <a:rPr dirty="0" sz="2500" spc="55">
                <a:solidFill>
                  <a:srgbClr val="CFD1D4"/>
                </a:solidFill>
                <a:latin typeface="Times New Roman"/>
                <a:cs typeface="Times New Roman"/>
              </a:rPr>
              <a:t>{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876703" y="3772341"/>
            <a:ext cx="308610" cy="542925"/>
          </a:xfrm>
          <a:custGeom>
            <a:avLst/>
            <a:gdLst/>
            <a:ahLst/>
            <a:cxnLst/>
            <a:rect l="l" t="t" r="r" b="b"/>
            <a:pathLst>
              <a:path w="308610" h="542925">
                <a:moveTo>
                  <a:pt x="308177" y="542779"/>
                </a:moveTo>
                <a:lnTo>
                  <a:pt x="0" y="542779"/>
                </a:lnTo>
                <a:lnTo>
                  <a:pt x="0" y="0"/>
                </a:lnTo>
                <a:lnTo>
                  <a:pt x="308177" y="0"/>
                </a:lnTo>
                <a:lnTo>
                  <a:pt x="308177" y="542779"/>
                </a:lnTo>
                <a:close/>
              </a:path>
            </a:pathLst>
          </a:custGeom>
          <a:solidFill>
            <a:srgbClr val="151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251287" y="3766343"/>
            <a:ext cx="2994660" cy="4089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u="heavy" sz="2500" spc="-220">
                <a:solidFill>
                  <a:srgbClr val="9E7CBA"/>
                </a:solidFill>
                <a:uFill>
                  <a:solidFill>
                    <a:srgbClr val="E1E1E2"/>
                  </a:solidFill>
                </a:uFill>
                <a:latin typeface="Courier New"/>
                <a:cs typeface="Courier New"/>
              </a:rPr>
              <a:t>"figma-dev-</a:t>
            </a:r>
            <a:r>
              <a:rPr dirty="0" u="heavy" sz="2500" spc="-170">
                <a:solidFill>
                  <a:srgbClr val="9E7CBA"/>
                </a:solidFill>
                <a:uFill>
                  <a:solidFill>
                    <a:srgbClr val="E1E1E2"/>
                  </a:solidFill>
                </a:uFill>
                <a:latin typeface="Courier New"/>
                <a:cs typeface="Courier New"/>
              </a:rPr>
              <a:t>mode"</a:t>
            </a:r>
            <a:r>
              <a:rPr dirty="0" sz="2500" spc="-170">
                <a:solidFill>
                  <a:srgbClr val="E1E1E2"/>
                </a:solidFill>
                <a:latin typeface="Courier New"/>
                <a:cs typeface="Courier New"/>
              </a:rPr>
              <a:t>:{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558806" y="4568367"/>
            <a:ext cx="51435" cy="824230"/>
          </a:xfrm>
          <a:custGeom>
            <a:avLst/>
            <a:gdLst/>
            <a:ahLst/>
            <a:cxnLst/>
            <a:rect l="l" t="t" r="r" b="b"/>
            <a:pathLst>
              <a:path w="51435" h="824229">
                <a:moveTo>
                  <a:pt x="48742" y="421373"/>
                </a:moveTo>
                <a:lnTo>
                  <a:pt x="10528" y="421373"/>
                </a:lnTo>
                <a:lnTo>
                  <a:pt x="10528" y="823798"/>
                </a:lnTo>
                <a:lnTo>
                  <a:pt x="48742" y="823798"/>
                </a:lnTo>
                <a:lnTo>
                  <a:pt x="48742" y="421373"/>
                </a:lnTo>
                <a:close/>
              </a:path>
              <a:path w="51435" h="824229">
                <a:moveTo>
                  <a:pt x="50939" y="0"/>
                </a:moveTo>
                <a:lnTo>
                  <a:pt x="0" y="0"/>
                </a:lnTo>
                <a:lnTo>
                  <a:pt x="0" y="419201"/>
                </a:lnTo>
                <a:lnTo>
                  <a:pt x="50939" y="419201"/>
                </a:lnTo>
                <a:lnTo>
                  <a:pt x="50939" y="0"/>
                </a:lnTo>
                <a:close/>
              </a:path>
            </a:pathLst>
          </a:custGeom>
          <a:solidFill>
            <a:srgbClr val="151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864889" y="4224222"/>
            <a:ext cx="3069590" cy="1168400"/>
          </a:xfrm>
          <a:custGeom>
            <a:avLst/>
            <a:gdLst/>
            <a:ahLst/>
            <a:cxnLst/>
            <a:rect l="l" t="t" r="r" b="b"/>
            <a:pathLst>
              <a:path w="3069590" h="1168400">
                <a:moveTo>
                  <a:pt x="1031684" y="765517"/>
                </a:moveTo>
                <a:lnTo>
                  <a:pt x="0" y="765517"/>
                </a:lnTo>
                <a:lnTo>
                  <a:pt x="0" y="1167942"/>
                </a:lnTo>
                <a:lnTo>
                  <a:pt x="1031684" y="1167942"/>
                </a:lnTo>
                <a:lnTo>
                  <a:pt x="1031684" y="765517"/>
                </a:lnTo>
                <a:close/>
              </a:path>
              <a:path w="3069590" h="1168400">
                <a:moveTo>
                  <a:pt x="3069488" y="344144"/>
                </a:moveTo>
                <a:lnTo>
                  <a:pt x="1325499" y="344144"/>
                </a:lnTo>
                <a:lnTo>
                  <a:pt x="1325499" y="0"/>
                </a:lnTo>
                <a:lnTo>
                  <a:pt x="478243" y="0"/>
                </a:lnTo>
                <a:lnTo>
                  <a:pt x="478243" y="356997"/>
                </a:lnTo>
                <a:lnTo>
                  <a:pt x="233705" y="356997"/>
                </a:lnTo>
                <a:lnTo>
                  <a:pt x="233705" y="0"/>
                </a:lnTo>
                <a:lnTo>
                  <a:pt x="195491" y="0"/>
                </a:lnTo>
                <a:lnTo>
                  <a:pt x="195491" y="356997"/>
                </a:lnTo>
                <a:lnTo>
                  <a:pt x="7531" y="356997"/>
                </a:lnTo>
                <a:lnTo>
                  <a:pt x="7531" y="759434"/>
                </a:lnTo>
                <a:lnTo>
                  <a:pt x="848487" y="759434"/>
                </a:lnTo>
                <a:lnTo>
                  <a:pt x="848487" y="373697"/>
                </a:lnTo>
                <a:lnTo>
                  <a:pt x="1094536" y="373697"/>
                </a:lnTo>
                <a:lnTo>
                  <a:pt x="1094536" y="763346"/>
                </a:lnTo>
                <a:lnTo>
                  <a:pt x="3069488" y="763346"/>
                </a:lnTo>
                <a:lnTo>
                  <a:pt x="3069488" y="344144"/>
                </a:lnTo>
                <a:close/>
              </a:path>
            </a:pathLst>
          </a:custGeom>
          <a:solidFill>
            <a:srgbClr val="151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591235" y="4979127"/>
            <a:ext cx="2366010" cy="3930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273175" algn="l"/>
              </a:tabLst>
            </a:pPr>
            <a:r>
              <a:rPr dirty="0" sz="2400" spc="220">
                <a:solidFill>
                  <a:srgbClr val="9E7CBA"/>
                </a:solidFill>
                <a:latin typeface="Times New Roman"/>
                <a:cs typeface="Times New Roman"/>
              </a:rPr>
              <a:t>"type"</a:t>
            </a:r>
            <a:r>
              <a:rPr dirty="0" sz="2400" spc="220">
                <a:solidFill>
                  <a:srgbClr val="E1E1E2"/>
                </a:solidFill>
                <a:latin typeface="Times New Roman"/>
                <a:cs typeface="Times New Roman"/>
              </a:rPr>
              <a:t>:</a:t>
            </a:r>
            <a:r>
              <a:rPr dirty="0" sz="2400">
                <a:solidFill>
                  <a:srgbClr val="E1E1E2"/>
                </a:solidFill>
                <a:latin typeface="Times New Roman"/>
                <a:cs typeface="Times New Roman"/>
              </a:rPr>
              <a:t>	</a:t>
            </a:r>
            <a:r>
              <a:rPr dirty="0" sz="2400" spc="245">
                <a:solidFill>
                  <a:srgbClr val="CDC6AE"/>
                </a:solidFill>
                <a:latin typeface="Times New Roman"/>
                <a:cs typeface="Times New Roman"/>
              </a:rPr>
              <a:t>"local"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171936" y="4561585"/>
            <a:ext cx="89535" cy="494665"/>
          </a:xfrm>
          <a:custGeom>
            <a:avLst/>
            <a:gdLst/>
            <a:ahLst/>
            <a:cxnLst/>
            <a:rect l="l" t="t" r="r" b="b"/>
            <a:pathLst>
              <a:path w="89534" h="494664">
                <a:moveTo>
                  <a:pt x="89158" y="494656"/>
                </a:moveTo>
                <a:lnTo>
                  <a:pt x="0" y="494656"/>
                </a:lnTo>
                <a:lnTo>
                  <a:pt x="0" y="0"/>
                </a:lnTo>
                <a:lnTo>
                  <a:pt x="89158" y="0"/>
                </a:lnTo>
                <a:lnTo>
                  <a:pt x="89158" y="494656"/>
                </a:lnTo>
                <a:close/>
              </a:path>
            </a:pathLst>
          </a:custGeom>
          <a:solidFill>
            <a:srgbClr val="151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352969" y="4504105"/>
            <a:ext cx="223520" cy="594995"/>
          </a:xfrm>
          <a:custGeom>
            <a:avLst/>
            <a:gdLst/>
            <a:ahLst/>
            <a:cxnLst/>
            <a:rect l="l" t="t" r="r" b="b"/>
            <a:pathLst>
              <a:path w="223520" h="594995">
                <a:moveTo>
                  <a:pt x="50939" y="140944"/>
                </a:moveTo>
                <a:lnTo>
                  <a:pt x="0" y="140944"/>
                </a:lnTo>
                <a:lnTo>
                  <a:pt x="0" y="543382"/>
                </a:lnTo>
                <a:lnTo>
                  <a:pt x="50939" y="543382"/>
                </a:lnTo>
                <a:lnTo>
                  <a:pt x="50939" y="140944"/>
                </a:lnTo>
                <a:close/>
              </a:path>
              <a:path w="223520" h="594995">
                <a:moveTo>
                  <a:pt x="223139" y="0"/>
                </a:moveTo>
                <a:lnTo>
                  <a:pt x="70294" y="0"/>
                </a:lnTo>
                <a:lnTo>
                  <a:pt x="70294" y="594512"/>
                </a:lnTo>
                <a:lnTo>
                  <a:pt x="223139" y="594512"/>
                </a:lnTo>
                <a:lnTo>
                  <a:pt x="223139" y="0"/>
                </a:lnTo>
                <a:close/>
              </a:path>
            </a:pathLst>
          </a:custGeom>
          <a:solidFill>
            <a:srgbClr val="151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681404" y="4561585"/>
            <a:ext cx="306070" cy="494665"/>
          </a:xfrm>
          <a:custGeom>
            <a:avLst/>
            <a:gdLst/>
            <a:ahLst/>
            <a:cxnLst/>
            <a:rect l="l" t="t" r="r" b="b"/>
            <a:pathLst>
              <a:path w="306070" h="494664">
                <a:moveTo>
                  <a:pt x="242036" y="0"/>
                </a:moveTo>
                <a:lnTo>
                  <a:pt x="0" y="0"/>
                </a:lnTo>
                <a:lnTo>
                  <a:pt x="0" y="494665"/>
                </a:lnTo>
                <a:lnTo>
                  <a:pt x="242036" y="494665"/>
                </a:lnTo>
                <a:lnTo>
                  <a:pt x="242036" y="0"/>
                </a:lnTo>
                <a:close/>
              </a:path>
              <a:path w="306070" h="494664">
                <a:moveTo>
                  <a:pt x="306006" y="83464"/>
                </a:moveTo>
                <a:lnTo>
                  <a:pt x="255066" y="83464"/>
                </a:lnTo>
                <a:lnTo>
                  <a:pt x="255066" y="485902"/>
                </a:lnTo>
                <a:lnTo>
                  <a:pt x="306006" y="485902"/>
                </a:lnTo>
                <a:lnTo>
                  <a:pt x="306006" y="83464"/>
                </a:lnTo>
                <a:close/>
              </a:path>
            </a:pathLst>
          </a:custGeom>
          <a:solidFill>
            <a:srgbClr val="151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552307" y="4213159"/>
            <a:ext cx="5474335" cy="7791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58419">
              <a:lnSpc>
                <a:spcPts val="2180"/>
              </a:lnSpc>
              <a:spcBef>
                <a:spcPts val="110"/>
              </a:spcBef>
              <a:tabLst>
                <a:tab pos="1790700" algn="l"/>
              </a:tabLst>
            </a:pPr>
            <a:r>
              <a:rPr dirty="0" sz="2200" spc="-10">
                <a:solidFill>
                  <a:srgbClr val="9E7CBA"/>
                </a:solidFill>
                <a:latin typeface="Arial"/>
                <a:cs typeface="Arial"/>
              </a:rPr>
              <a:t>"command"</a:t>
            </a:r>
            <a:r>
              <a:rPr dirty="0" sz="2200" spc="-10">
                <a:solidFill>
                  <a:srgbClr val="CFD1D4"/>
                </a:solidFill>
                <a:latin typeface="Arial"/>
                <a:cs typeface="Arial"/>
              </a:rPr>
              <a:t>:</a:t>
            </a:r>
            <a:r>
              <a:rPr dirty="0" sz="2200">
                <a:solidFill>
                  <a:srgbClr val="CFD1D4"/>
                </a:solidFill>
                <a:latin typeface="Arial"/>
                <a:cs typeface="Arial"/>
              </a:rPr>
              <a:t>	</a:t>
            </a:r>
            <a:r>
              <a:rPr dirty="0" sz="2200" spc="200">
                <a:solidFill>
                  <a:srgbClr val="CDC6AE"/>
                </a:solidFill>
                <a:latin typeface="Arial"/>
                <a:cs typeface="Arial"/>
              </a:rPr>
              <a:t>"npx"</a:t>
            </a:r>
            <a:r>
              <a:rPr dirty="0" sz="2200" spc="200">
                <a:solidFill>
                  <a:srgbClr val="E1E1E2"/>
                </a:solidFill>
                <a:latin typeface="Arial"/>
                <a:cs typeface="Arial"/>
              </a:rPr>
              <a:t>,</a:t>
            </a:r>
            <a:endParaRPr sz="2200">
              <a:latin typeface="Arial"/>
              <a:cs typeface="Arial"/>
            </a:endParaRPr>
          </a:p>
          <a:p>
            <a:pPr marL="50800">
              <a:lnSpc>
                <a:spcPts val="3740"/>
              </a:lnSpc>
              <a:tabLst>
                <a:tab pos="1319530" algn="l"/>
                <a:tab pos="2406650" algn="l"/>
                <a:tab pos="4618990" algn="l"/>
              </a:tabLst>
            </a:pPr>
            <a:r>
              <a:rPr dirty="0" sz="2500" spc="185">
                <a:solidFill>
                  <a:srgbClr val="9E7CBA"/>
                </a:solidFill>
                <a:latin typeface="Times New Roman"/>
                <a:cs typeface="Times New Roman"/>
              </a:rPr>
              <a:t>"args"</a:t>
            </a:r>
            <a:r>
              <a:rPr dirty="0" sz="2500" spc="185">
                <a:solidFill>
                  <a:srgbClr val="CFD1D4"/>
                </a:solidFill>
                <a:latin typeface="Times New Roman"/>
                <a:cs typeface="Times New Roman"/>
              </a:rPr>
              <a:t>:</a:t>
            </a:r>
            <a:r>
              <a:rPr dirty="0" sz="2500">
                <a:solidFill>
                  <a:srgbClr val="CFD1D4"/>
                </a:solidFill>
                <a:latin typeface="Times New Roman"/>
                <a:cs typeface="Times New Roman"/>
              </a:rPr>
              <a:t>	</a:t>
            </a:r>
            <a:r>
              <a:rPr dirty="0" sz="2400" spc="260">
                <a:solidFill>
                  <a:srgbClr val="E1E1E2"/>
                </a:solidFill>
                <a:latin typeface="Times New Roman"/>
                <a:cs typeface="Times New Roman"/>
              </a:rPr>
              <a:t>[</a:t>
            </a:r>
            <a:r>
              <a:rPr dirty="0" sz="2400" spc="260">
                <a:solidFill>
                  <a:srgbClr val="CDC6AE"/>
                </a:solidFill>
                <a:latin typeface="Times New Roman"/>
                <a:cs typeface="Times New Roman"/>
              </a:rPr>
              <a:t>"-</a:t>
            </a:r>
            <a:r>
              <a:rPr dirty="0" sz="2400" spc="254">
                <a:solidFill>
                  <a:srgbClr val="CDC6AE"/>
                </a:solidFill>
                <a:latin typeface="Times New Roman"/>
                <a:cs typeface="Times New Roman"/>
              </a:rPr>
              <a:t>y"</a:t>
            </a:r>
            <a:r>
              <a:rPr dirty="0" sz="2400" spc="254">
                <a:solidFill>
                  <a:srgbClr val="E1E1E2"/>
                </a:solidFill>
                <a:latin typeface="Times New Roman"/>
                <a:cs typeface="Times New Roman"/>
              </a:rPr>
              <a:t>,</a:t>
            </a:r>
            <a:r>
              <a:rPr dirty="0" sz="2400">
                <a:solidFill>
                  <a:srgbClr val="E1E1E2"/>
                </a:solidFill>
                <a:latin typeface="Times New Roman"/>
                <a:cs typeface="Times New Roman"/>
              </a:rPr>
              <a:t>	</a:t>
            </a:r>
            <a:r>
              <a:rPr dirty="0" sz="2500" spc="80">
                <a:solidFill>
                  <a:srgbClr val="CDC6AE"/>
                </a:solidFill>
                <a:latin typeface="Times New Roman"/>
                <a:cs typeface="Times New Roman"/>
              </a:rPr>
              <a:t>"mcp-</a:t>
            </a:r>
            <a:r>
              <a:rPr dirty="0" sz="2500" spc="55">
                <a:solidFill>
                  <a:srgbClr val="CDC6AE"/>
                </a:solidFill>
                <a:latin typeface="Times New Roman"/>
                <a:cs typeface="Times New Roman"/>
              </a:rPr>
              <a:t>remote"</a:t>
            </a:r>
            <a:r>
              <a:rPr dirty="0" sz="2500" spc="55">
                <a:solidFill>
                  <a:srgbClr val="E1E1E2"/>
                </a:solidFill>
                <a:latin typeface="Times New Roman"/>
                <a:cs typeface="Times New Roman"/>
              </a:rPr>
              <a:t>,</a:t>
            </a:r>
            <a:r>
              <a:rPr dirty="0" sz="2500">
                <a:solidFill>
                  <a:srgbClr val="E1E1E2"/>
                </a:solidFill>
                <a:latin typeface="Times New Roman"/>
                <a:cs typeface="Times New Roman"/>
              </a:rPr>
              <a:t>	</a:t>
            </a:r>
            <a:r>
              <a:rPr dirty="0" baseline="-7532" sz="4425" spc="-15">
                <a:solidFill>
                  <a:srgbClr val="CDC6AE"/>
                </a:solidFill>
                <a:latin typeface="Times New Roman"/>
                <a:cs typeface="Times New Roman"/>
              </a:rPr>
              <a:t>"</a:t>
            </a:r>
            <a:r>
              <a:rPr dirty="0" baseline="-11574" sz="3600" spc="-15">
                <a:solidFill>
                  <a:srgbClr val="CDC6AE"/>
                </a:solidFill>
                <a:latin typeface="Times New Roman"/>
                <a:cs typeface="Times New Roman"/>
              </a:rPr>
              <a:t>.</a:t>
            </a:r>
            <a:r>
              <a:rPr dirty="0" baseline="-7936" sz="5250" spc="-15">
                <a:solidFill>
                  <a:srgbClr val="CDC6AE"/>
                </a:solidFill>
                <a:latin typeface="Arial"/>
                <a:cs typeface="Arial"/>
              </a:rPr>
              <a:t>..</a:t>
            </a:r>
            <a:r>
              <a:rPr dirty="0" baseline="-7532" sz="4425" spc="-15">
                <a:solidFill>
                  <a:srgbClr val="CDC6AE"/>
                </a:solidFill>
                <a:latin typeface="Times New Roman"/>
                <a:cs typeface="Times New Roman"/>
              </a:rPr>
              <a:t>"</a:t>
            </a:r>
            <a:r>
              <a:rPr dirty="0" baseline="-7532" sz="4425" spc="-15">
                <a:solidFill>
                  <a:srgbClr val="E1E1E2"/>
                </a:solidFill>
                <a:latin typeface="Times New Roman"/>
                <a:cs typeface="Times New Roman"/>
              </a:rPr>
              <a:t>l</a:t>
            </a:r>
            <a:r>
              <a:rPr dirty="0" baseline="-11574" sz="3600" spc="-15">
                <a:solidFill>
                  <a:srgbClr val="E1E1E2"/>
                </a:solidFill>
                <a:latin typeface="Times New Roman"/>
                <a:cs typeface="Times New Roman"/>
              </a:rPr>
              <a:t>'</a:t>
            </a:r>
            <a:endParaRPr baseline="-11574" sz="3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286493" y="5411538"/>
            <a:ext cx="114935" cy="356870"/>
          </a:xfrm>
          <a:custGeom>
            <a:avLst/>
            <a:gdLst/>
            <a:ahLst/>
            <a:cxnLst/>
            <a:rect l="l" t="t" r="r" b="b"/>
            <a:pathLst>
              <a:path w="114935" h="356870">
                <a:moveTo>
                  <a:pt x="114632" y="356710"/>
                </a:moveTo>
                <a:lnTo>
                  <a:pt x="0" y="356710"/>
                </a:lnTo>
                <a:lnTo>
                  <a:pt x="0" y="0"/>
                </a:lnTo>
                <a:lnTo>
                  <a:pt x="114632" y="0"/>
                </a:lnTo>
                <a:lnTo>
                  <a:pt x="114632" y="356710"/>
                </a:lnTo>
                <a:close/>
              </a:path>
            </a:pathLst>
          </a:custGeom>
          <a:solidFill>
            <a:srgbClr val="151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273792" y="5400409"/>
            <a:ext cx="88900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 spc="-150">
                <a:solidFill>
                  <a:srgbClr val="E1E1E2"/>
                </a:solidFill>
                <a:latin typeface="Arial"/>
                <a:cs typeface="Arial"/>
              </a:rPr>
              <a:t>}</a:t>
            </a:r>
            <a:endParaRPr sz="21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968070" y="5820055"/>
            <a:ext cx="114935" cy="356870"/>
          </a:xfrm>
          <a:custGeom>
            <a:avLst/>
            <a:gdLst/>
            <a:ahLst/>
            <a:cxnLst/>
            <a:rect l="l" t="t" r="r" b="b"/>
            <a:pathLst>
              <a:path w="114935" h="356870">
                <a:moveTo>
                  <a:pt x="114632" y="356710"/>
                </a:moveTo>
                <a:lnTo>
                  <a:pt x="0" y="356710"/>
                </a:lnTo>
                <a:lnTo>
                  <a:pt x="0" y="0"/>
                </a:lnTo>
                <a:lnTo>
                  <a:pt x="114632" y="0"/>
                </a:lnTo>
                <a:lnTo>
                  <a:pt x="114632" y="356710"/>
                </a:lnTo>
                <a:close/>
              </a:path>
            </a:pathLst>
          </a:custGeom>
          <a:solidFill>
            <a:srgbClr val="151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955370" y="5808926"/>
            <a:ext cx="88900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 spc="-150">
                <a:solidFill>
                  <a:srgbClr val="E1E1E2"/>
                </a:solidFill>
                <a:latin typeface="Arial"/>
                <a:cs typeface="Arial"/>
              </a:rPr>
              <a:t>}</a:t>
            </a:r>
            <a:endParaRPr sz="21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662384" y="6215805"/>
            <a:ext cx="114935" cy="356870"/>
          </a:xfrm>
          <a:custGeom>
            <a:avLst/>
            <a:gdLst/>
            <a:ahLst/>
            <a:cxnLst/>
            <a:rect l="l" t="t" r="r" b="b"/>
            <a:pathLst>
              <a:path w="114935" h="356870">
                <a:moveTo>
                  <a:pt x="114632" y="356710"/>
                </a:moveTo>
                <a:lnTo>
                  <a:pt x="0" y="356710"/>
                </a:lnTo>
                <a:lnTo>
                  <a:pt x="0" y="0"/>
                </a:lnTo>
                <a:lnTo>
                  <a:pt x="114632" y="0"/>
                </a:lnTo>
                <a:lnTo>
                  <a:pt x="114632" y="356710"/>
                </a:lnTo>
                <a:close/>
              </a:path>
            </a:pathLst>
          </a:custGeom>
          <a:solidFill>
            <a:srgbClr val="151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649684" y="6204677"/>
            <a:ext cx="88900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 spc="-150">
                <a:solidFill>
                  <a:srgbClr val="E1E1E2"/>
                </a:solidFill>
                <a:latin typeface="Arial"/>
                <a:cs typeface="Arial"/>
              </a:rPr>
              <a:t>}</a:t>
            </a:r>
            <a:endParaRPr sz="21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385734" y="2829636"/>
            <a:ext cx="6425565" cy="637540"/>
          </a:xfrm>
          <a:custGeom>
            <a:avLst/>
            <a:gdLst/>
            <a:ahLst/>
            <a:cxnLst/>
            <a:rect l="l" t="t" r="r" b="b"/>
            <a:pathLst>
              <a:path w="6425565" h="637539">
                <a:moveTo>
                  <a:pt x="6425521" y="637309"/>
                </a:moveTo>
                <a:lnTo>
                  <a:pt x="0" y="637309"/>
                </a:lnTo>
                <a:lnTo>
                  <a:pt x="0" y="0"/>
                </a:lnTo>
                <a:lnTo>
                  <a:pt x="6425521" y="0"/>
                </a:lnTo>
                <a:lnTo>
                  <a:pt x="6425521" y="637309"/>
                </a:lnTo>
                <a:close/>
              </a:path>
            </a:pathLst>
          </a:custGeom>
          <a:solidFill>
            <a:srgbClr val="151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9373033" y="2821649"/>
            <a:ext cx="6490335" cy="5772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600" spc="130" b="1">
                <a:solidFill>
                  <a:srgbClr val="F7F7F9"/>
                </a:solidFill>
                <a:latin typeface="Arial"/>
                <a:cs typeface="Arial"/>
              </a:rPr>
              <a:t>We</a:t>
            </a:r>
            <a:r>
              <a:rPr dirty="0" sz="3600" spc="-140" b="1">
                <a:solidFill>
                  <a:srgbClr val="F7F7F9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F7F7F9"/>
                </a:solidFill>
                <a:latin typeface="Arial"/>
                <a:cs typeface="Arial"/>
              </a:rPr>
              <a:t>Practice</a:t>
            </a:r>
            <a:r>
              <a:rPr dirty="0" sz="3600" spc="245" b="1">
                <a:solidFill>
                  <a:srgbClr val="F7F7F9"/>
                </a:solidFill>
                <a:latin typeface="Arial"/>
                <a:cs typeface="Arial"/>
              </a:rPr>
              <a:t> </a:t>
            </a:r>
            <a:r>
              <a:rPr dirty="0" sz="3600" spc="85" b="1">
                <a:solidFill>
                  <a:srgbClr val="F7F7F9"/>
                </a:solidFill>
                <a:latin typeface="Arial"/>
                <a:cs typeface="Arial"/>
              </a:rPr>
              <a:t>What</a:t>
            </a:r>
            <a:r>
              <a:rPr dirty="0" sz="3600" spc="160" b="1">
                <a:solidFill>
                  <a:srgbClr val="F7F7F9"/>
                </a:solidFill>
                <a:latin typeface="Arial"/>
                <a:cs typeface="Arial"/>
              </a:rPr>
              <a:t> </a:t>
            </a:r>
            <a:r>
              <a:rPr dirty="0" sz="3600" spc="75" b="1">
                <a:solidFill>
                  <a:srgbClr val="F7F7F9"/>
                </a:solidFill>
                <a:latin typeface="Arial"/>
                <a:cs typeface="Arial"/>
              </a:rPr>
              <a:t>We</a:t>
            </a:r>
            <a:r>
              <a:rPr dirty="0" sz="3600" spc="-20" b="1">
                <a:solidFill>
                  <a:srgbClr val="F7F7F9"/>
                </a:solidFill>
                <a:latin typeface="Arial"/>
                <a:cs typeface="Arial"/>
              </a:rPr>
              <a:t> </a:t>
            </a:r>
            <a:r>
              <a:rPr dirty="0" sz="3600" spc="-10" b="1">
                <a:solidFill>
                  <a:srgbClr val="F7F7F9"/>
                </a:solidFill>
                <a:latin typeface="Arial"/>
                <a:cs typeface="Arial"/>
              </a:rPr>
              <a:t>Preach</a:t>
            </a:r>
            <a:endParaRPr sz="36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9392522" y="3943132"/>
            <a:ext cx="6498590" cy="424815"/>
          </a:xfrm>
          <a:custGeom>
            <a:avLst/>
            <a:gdLst/>
            <a:ahLst/>
            <a:cxnLst/>
            <a:rect l="l" t="t" r="r" b="b"/>
            <a:pathLst>
              <a:path w="6498590" h="424814">
                <a:moveTo>
                  <a:pt x="6498057" y="424654"/>
                </a:moveTo>
                <a:lnTo>
                  <a:pt x="0" y="424654"/>
                </a:lnTo>
                <a:lnTo>
                  <a:pt x="0" y="0"/>
                </a:lnTo>
                <a:lnTo>
                  <a:pt x="6498057" y="0"/>
                </a:lnTo>
                <a:lnTo>
                  <a:pt x="6498057" y="424654"/>
                </a:lnTo>
                <a:close/>
              </a:path>
            </a:pathLst>
          </a:custGeom>
          <a:solidFill>
            <a:srgbClr val="151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9379822" y="3932303"/>
            <a:ext cx="6547484" cy="4089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00">
                <a:solidFill>
                  <a:srgbClr val="F7F7F9"/>
                </a:solidFill>
                <a:latin typeface="Arial"/>
                <a:cs typeface="Arial"/>
              </a:rPr>
              <a:t>The</a:t>
            </a:r>
            <a:r>
              <a:rPr dirty="0" sz="2500" spc="-70">
                <a:solidFill>
                  <a:srgbClr val="F7F7F9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E1E1E2"/>
                </a:solidFill>
                <a:latin typeface="Arial"/>
                <a:cs typeface="Arial"/>
              </a:rPr>
              <a:t>MCP</a:t>
            </a:r>
            <a:r>
              <a:rPr dirty="0" sz="2500" spc="15">
                <a:solidFill>
                  <a:srgbClr val="E1E1E2"/>
                </a:solidFill>
                <a:latin typeface="Arial"/>
                <a:cs typeface="Arial"/>
              </a:rPr>
              <a:t> </a:t>
            </a:r>
            <a:r>
              <a:rPr dirty="0" sz="2500" spc="55">
                <a:solidFill>
                  <a:srgbClr val="E1E1E2"/>
                </a:solidFill>
                <a:latin typeface="Arial"/>
                <a:cs typeface="Arial"/>
              </a:rPr>
              <a:t>Config</a:t>
            </a:r>
            <a:r>
              <a:rPr dirty="0" sz="2500" spc="10">
                <a:solidFill>
                  <a:srgbClr val="E1E1E2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E1E1E2"/>
                </a:solidFill>
                <a:latin typeface="Arial"/>
                <a:cs typeface="Arial"/>
              </a:rPr>
              <a:t>Manager</a:t>
            </a:r>
            <a:r>
              <a:rPr dirty="0" sz="2500" spc="305">
                <a:solidFill>
                  <a:srgbClr val="E1E1E2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E1E1E2"/>
                </a:solidFill>
                <a:latin typeface="Arial"/>
                <a:cs typeface="Arial"/>
              </a:rPr>
              <a:t>was</a:t>
            </a:r>
            <a:r>
              <a:rPr dirty="0" sz="2500" spc="80">
                <a:solidFill>
                  <a:srgbClr val="E1E1E2"/>
                </a:solidFill>
                <a:latin typeface="Arial"/>
                <a:cs typeface="Arial"/>
              </a:rPr>
              <a:t> </a:t>
            </a:r>
            <a:r>
              <a:rPr dirty="0" sz="2500" spc="75">
                <a:solidFill>
                  <a:srgbClr val="E1E1E2"/>
                </a:solidFill>
                <a:latin typeface="Arial"/>
                <a:cs typeface="Arial"/>
              </a:rPr>
              <a:t>built</a:t>
            </a:r>
            <a:r>
              <a:rPr dirty="0" sz="2500" spc="120">
                <a:solidFill>
                  <a:srgbClr val="E1E1E2"/>
                </a:solidFill>
                <a:latin typeface="Arial"/>
                <a:cs typeface="Arial"/>
              </a:rPr>
              <a:t> </a:t>
            </a:r>
            <a:r>
              <a:rPr dirty="0" sz="2500" spc="75">
                <a:solidFill>
                  <a:srgbClr val="E1E1E2"/>
                </a:solidFill>
                <a:latin typeface="Arial"/>
                <a:cs typeface="Arial"/>
              </a:rPr>
              <a:t>from</a:t>
            </a:r>
            <a:r>
              <a:rPr dirty="0" sz="2500" spc="45">
                <a:solidFill>
                  <a:srgbClr val="E1E1E2"/>
                </a:solidFill>
                <a:latin typeface="Arial"/>
                <a:cs typeface="Arial"/>
              </a:rPr>
              <a:t> </a:t>
            </a:r>
            <a:r>
              <a:rPr dirty="0" sz="2500" spc="70">
                <a:solidFill>
                  <a:srgbClr val="E1E1E2"/>
                </a:solidFill>
                <a:latin typeface="Arial"/>
                <a:cs typeface="Arial"/>
              </a:rPr>
              <a:t>the</a:t>
            </a:r>
            <a:endParaRPr sz="25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9389716" y="4377181"/>
            <a:ext cx="6405880" cy="424815"/>
          </a:xfrm>
          <a:custGeom>
            <a:avLst/>
            <a:gdLst/>
            <a:ahLst/>
            <a:cxnLst/>
            <a:rect l="l" t="t" r="r" b="b"/>
            <a:pathLst>
              <a:path w="6405880" h="424814">
                <a:moveTo>
                  <a:pt x="6405655" y="424654"/>
                </a:moveTo>
                <a:lnTo>
                  <a:pt x="0" y="424654"/>
                </a:lnTo>
                <a:lnTo>
                  <a:pt x="0" y="0"/>
                </a:lnTo>
                <a:lnTo>
                  <a:pt x="6405655" y="0"/>
                </a:lnTo>
                <a:lnTo>
                  <a:pt x="6405655" y="424654"/>
                </a:lnTo>
                <a:close/>
              </a:path>
            </a:pathLst>
          </a:custGeom>
          <a:solidFill>
            <a:srgbClr val="151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9377016" y="4366352"/>
            <a:ext cx="6468745" cy="4089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00">
                <a:solidFill>
                  <a:srgbClr val="E1E1E2"/>
                </a:solidFill>
                <a:latin typeface="Arial"/>
                <a:cs typeface="Arial"/>
              </a:rPr>
              <a:t>ground</a:t>
            </a:r>
            <a:r>
              <a:rPr dirty="0" sz="2500" spc="110">
                <a:solidFill>
                  <a:srgbClr val="E1E1E2"/>
                </a:solidFill>
                <a:latin typeface="Arial"/>
                <a:cs typeface="Arial"/>
              </a:rPr>
              <a:t> </a:t>
            </a:r>
            <a:r>
              <a:rPr dirty="0" sz="2500" spc="65">
                <a:solidFill>
                  <a:srgbClr val="E1E1E2"/>
                </a:solidFill>
                <a:latin typeface="Arial"/>
                <a:cs typeface="Arial"/>
              </a:rPr>
              <a:t>up</a:t>
            </a:r>
            <a:r>
              <a:rPr dirty="0" sz="2500" spc="60">
                <a:solidFill>
                  <a:srgbClr val="E1E1E2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E1E1E2"/>
                </a:solidFill>
                <a:latin typeface="Arial"/>
                <a:cs typeface="Arial"/>
              </a:rPr>
              <a:t>using</a:t>
            </a:r>
            <a:r>
              <a:rPr dirty="0" sz="2500" spc="140">
                <a:solidFill>
                  <a:srgbClr val="E1E1E2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E1E1E2"/>
                </a:solidFill>
                <a:latin typeface="Arial"/>
                <a:cs typeface="Arial"/>
              </a:rPr>
              <a:t>Al</a:t>
            </a:r>
            <a:r>
              <a:rPr dirty="0" sz="2500" spc="70">
                <a:solidFill>
                  <a:srgbClr val="E1E1E2"/>
                </a:solidFill>
                <a:latin typeface="Arial"/>
                <a:cs typeface="Arial"/>
              </a:rPr>
              <a:t> </a:t>
            </a:r>
            <a:r>
              <a:rPr dirty="0" sz="2500" spc="60">
                <a:solidFill>
                  <a:srgbClr val="E1E1E2"/>
                </a:solidFill>
                <a:latin typeface="Arial"/>
                <a:cs typeface="Arial"/>
              </a:rPr>
              <a:t>agents</a:t>
            </a:r>
            <a:r>
              <a:rPr dirty="0" sz="2500" spc="20">
                <a:solidFill>
                  <a:srgbClr val="E1E1E2"/>
                </a:solidFill>
                <a:latin typeface="Arial"/>
                <a:cs typeface="Arial"/>
              </a:rPr>
              <a:t> </a:t>
            </a:r>
            <a:r>
              <a:rPr dirty="0" sz="2500" spc="60">
                <a:solidFill>
                  <a:srgbClr val="E1E1E2"/>
                </a:solidFill>
                <a:latin typeface="Arial"/>
                <a:cs typeface="Arial"/>
              </a:rPr>
              <a:t>powered</a:t>
            </a:r>
            <a:r>
              <a:rPr dirty="0" sz="2500" spc="125">
                <a:solidFill>
                  <a:srgbClr val="E1E1E2"/>
                </a:solidFill>
                <a:latin typeface="Arial"/>
                <a:cs typeface="Arial"/>
              </a:rPr>
              <a:t> </a:t>
            </a:r>
            <a:r>
              <a:rPr dirty="0" sz="2500" spc="105">
                <a:solidFill>
                  <a:srgbClr val="E1E1E2"/>
                </a:solidFill>
                <a:latin typeface="Arial"/>
                <a:cs typeface="Arial"/>
              </a:rPr>
              <a:t>by</a:t>
            </a:r>
            <a:r>
              <a:rPr dirty="0" sz="2500">
                <a:solidFill>
                  <a:srgbClr val="E1E1E2"/>
                </a:solidFill>
                <a:latin typeface="Arial"/>
                <a:cs typeface="Arial"/>
              </a:rPr>
              <a:t> </a:t>
            </a:r>
            <a:r>
              <a:rPr dirty="0" sz="2500" spc="-25">
                <a:solidFill>
                  <a:srgbClr val="E1E1E2"/>
                </a:solidFill>
                <a:latin typeface="Arial"/>
                <a:cs typeface="Arial"/>
              </a:rPr>
              <a:t>MCP</a:t>
            </a:r>
            <a:endParaRPr sz="25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388383" y="4785697"/>
            <a:ext cx="6744334" cy="424815"/>
          </a:xfrm>
          <a:prstGeom prst="rect">
            <a:avLst/>
          </a:prstGeom>
          <a:solidFill>
            <a:srgbClr val="15131D"/>
          </a:solidFill>
        </p:spPr>
        <p:txBody>
          <a:bodyPr wrap="square" lIns="0" tIns="3175" rIns="0" bIns="0" rtlCol="0" vert="horz">
            <a:spAutoFit/>
          </a:bodyPr>
          <a:lstStyle/>
          <a:p>
            <a:pPr marL="1270">
              <a:lnSpc>
                <a:spcPct val="100000"/>
              </a:lnSpc>
              <a:spcBef>
                <a:spcPts val="25"/>
              </a:spcBef>
            </a:pPr>
            <a:r>
              <a:rPr dirty="0" sz="2500">
                <a:solidFill>
                  <a:srgbClr val="E1E1E2"/>
                </a:solidFill>
                <a:latin typeface="Arial"/>
                <a:cs typeface="Arial"/>
              </a:rPr>
              <a:t>servers.</a:t>
            </a:r>
            <a:r>
              <a:rPr dirty="0" sz="2500" spc="35">
                <a:solidFill>
                  <a:srgbClr val="E1E1E2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E1E1E2"/>
                </a:solidFill>
                <a:latin typeface="Arial"/>
                <a:cs typeface="Arial"/>
              </a:rPr>
              <a:t>We</a:t>
            </a:r>
            <a:r>
              <a:rPr dirty="0" sz="2500" spc="30">
                <a:solidFill>
                  <a:srgbClr val="E1E1E2"/>
                </a:solidFill>
                <a:latin typeface="Arial"/>
                <a:cs typeface="Arial"/>
              </a:rPr>
              <a:t> </a:t>
            </a:r>
            <a:r>
              <a:rPr dirty="0" sz="2500" spc="50">
                <a:solidFill>
                  <a:srgbClr val="F7F7F9"/>
                </a:solidFill>
                <a:latin typeface="Arial"/>
                <a:cs typeface="Arial"/>
              </a:rPr>
              <a:t>used</a:t>
            </a:r>
            <a:r>
              <a:rPr dirty="0" sz="2500" spc="70">
                <a:solidFill>
                  <a:srgbClr val="F7F7F9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E1E1E2"/>
                </a:solidFill>
                <a:latin typeface="Arial"/>
                <a:cs typeface="Arial"/>
              </a:rPr>
              <a:t>a</a:t>
            </a:r>
            <a:r>
              <a:rPr dirty="0" sz="2500" spc="155">
                <a:solidFill>
                  <a:srgbClr val="E1E1E2"/>
                </a:solidFill>
                <a:latin typeface="Arial"/>
                <a:cs typeface="Arial"/>
              </a:rPr>
              <a:t> </a:t>
            </a:r>
            <a:r>
              <a:rPr dirty="0" sz="2500" spc="85">
                <a:solidFill>
                  <a:srgbClr val="F7F7F9"/>
                </a:solidFill>
                <a:latin typeface="Arial"/>
                <a:cs typeface="Arial"/>
              </a:rPr>
              <a:t>figma-</a:t>
            </a:r>
            <a:r>
              <a:rPr dirty="0" sz="2500" spc="90">
                <a:solidFill>
                  <a:srgbClr val="F7F7F9"/>
                </a:solidFill>
                <a:latin typeface="Arial"/>
                <a:cs typeface="Arial"/>
              </a:rPr>
              <a:t>dev-</a:t>
            </a:r>
            <a:r>
              <a:rPr dirty="0" sz="2500" spc="120">
                <a:solidFill>
                  <a:srgbClr val="F7F7F9"/>
                </a:solidFill>
                <a:latin typeface="Arial"/>
                <a:cs typeface="Arial"/>
              </a:rPr>
              <a:t>mode</a:t>
            </a:r>
            <a:r>
              <a:rPr dirty="0" sz="2500" spc="-30">
                <a:solidFill>
                  <a:srgbClr val="F7F7F9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E1E1E2"/>
                </a:solidFill>
                <a:latin typeface="Arial"/>
                <a:cs typeface="Arial"/>
              </a:rPr>
              <a:t>server</a:t>
            </a:r>
            <a:r>
              <a:rPr dirty="0" sz="2500" spc="195">
                <a:solidFill>
                  <a:srgbClr val="E1E1E2"/>
                </a:solidFill>
                <a:latin typeface="Arial"/>
                <a:cs typeface="Arial"/>
              </a:rPr>
              <a:t> </a:t>
            </a:r>
            <a:r>
              <a:rPr dirty="0" sz="2500" spc="-25">
                <a:solidFill>
                  <a:srgbClr val="E1E1E2"/>
                </a:solidFill>
                <a:latin typeface="Arial"/>
                <a:cs typeface="Arial"/>
              </a:rPr>
              <a:t>to</a:t>
            </a:r>
            <a:endParaRPr sz="25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9388383" y="5206980"/>
            <a:ext cx="6484620" cy="424815"/>
          </a:xfrm>
          <a:custGeom>
            <a:avLst/>
            <a:gdLst/>
            <a:ahLst/>
            <a:cxnLst/>
            <a:rect l="l" t="t" r="r" b="b"/>
            <a:pathLst>
              <a:path w="6484619" h="424814">
                <a:moveTo>
                  <a:pt x="6484047" y="424654"/>
                </a:moveTo>
                <a:lnTo>
                  <a:pt x="0" y="424654"/>
                </a:lnTo>
                <a:lnTo>
                  <a:pt x="0" y="0"/>
                </a:lnTo>
                <a:lnTo>
                  <a:pt x="6484047" y="0"/>
                </a:lnTo>
                <a:lnTo>
                  <a:pt x="6484047" y="424654"/>
                </a:lnTo>
                <a:close/>
              </a:path>
            </a:pathLst>
          </a:custGeom>
          <a:solidFill>
            <a:srgbClr val="151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9375681" y="5196151"/>
            <a:ext cx="6539230" cy="4089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00">
                <a:solidFill>
                  <a:srgbClr val="E1E1E2"/>
                </a:solidFill>
                <a:latin typeface="Arial"/>
                <a:cs typeface="Arial"/>
              </a:rPr>
              <a:t>allow</a:t>
            </a:r>
            <a:r>
              <a:rPr dirty="0" sz="2500" spc="185">
                <a:solidFill>
                  <a:srgbClr val="E1E1E2"/>
                </a:solidFill>
                <a:latin typeface="Arial"/>
                <a:cs typeface="Arial"/>
              </a:rPr>
              <a:t> </a:t>
            </a:r>
            <a:r>
              <a:rPr dirty="0" sz="2500" spc="60">
                <a:solidFill>
                  <a:srgbClr val="E1E1E2"/>
                </a:solidFill>
                <a:latin typeface="Arial"/>
                <a:cs typeface="Arial"/>
              </a:rPr>
              <a:t>our</a:t>
            </a:r>
            <a:r>
              <a:rPr dirty="0" sz="2500" spc="185">
                <a:solidFill>
                  <a:srgbClr val="E1E1E2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E1E1E2"/>
                </a:solidFill>
                <a:latin typeface="Arial"/>
                <a:cs typeface="Arial"/>
              </a:rPr>
              <a:t>Al</a:t>
            </a:r>
            <a:r>
              <a:rPr dirty="0" sz="2500" spc="50">
                <a:solidFill>
                  <a:srgbClr val="E1E1E2"/>
                </a:solidFill>
                <a:latin typeface="Arial"/>
                <a:cs typeface="Arial"/>
              </a:rPr>
              <a:t> </a:t>
            </a:r>
            <a:r>
              <a:rPr dirty="0" sz="2500" spc="65">
                <a:solidFill>
                  <a:srgbClr val="E1E1E2"/>
                </a:solidFill>
                <a:latin typeface="Arial"/>
                <a:cs typeface="Arial"/>
              </a:rPr>
              <a:t>coding</a:t>
            </a:r>
            <a:r>
              <a:rPr dirty="0" sz="2500" spc="85">
                <a:solidFill>
                  <a:srgbClr val="E1E1E2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E1E1E2"/>
                </a:solidFill>
                <a:latin typeface="Arial"/>
                <a:cs typeface="Arial"/>
              </a:rPr>
              <a:t>assistant</a:t>
            </a:r>
            <a:r>
              <a:rPr dirty="0" sz="2500" spc="310">
                <a:solidFill>
                  <a:srgbClr val="E1E1E2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E1E1E2"/>
                </a:solidFill>
                <a:latin typeface="Arial"/>
                <a:cs typeface="Arial"/>
              </a:rPr>
              <a:t>to</a:t>
            </a:r>
            <a:r>
              <a:rPr dirty="0" sz="2500" spc="140">
                <a:solidFill>
                  <a:srgbClr val="E1E1E2"/>
                </a:solidFill>
                <a:latin typeface="Arial"/>
                <a:cs typeface="Arial"/>
              </a:rPr>
              <a:t> </a:t>
            </a:r>
            <a:r>
              <a:rPr dirty="0" sz="2500" spc="65">
                <a:solidFill>
                  <a:srgbClr val="E1E1E2"/>
                </a:solidFill>
                <a:latin typeface="Arial"/>
                <a:cs typeface="Arial"/>
              </a:rPr>
              <a:t>"see"</a:t>
            </a:r>
            <a:r>
              <a:rPr dirty="0" sz="2500" spc="-40">
                <a:solidFill>
                  <a:srgbClr val="E1E1E2"/>
                </a:solidFill>
                <a:latin typeface="Arial"/>
                <a:cs typeface="Arial"/>
              </a:rPr>
              <a:t> </a:t>
            </a:r>
            <a:r>
              <a:rPr dirty="0" sz="2500" spc="45">
                <a:solidFill>
                  <a:srgbClr val="E1E1E2"/>
                </a:solidFill>
                <a:latin typeface="Arial"/>
                <a:cs typeface="Arial"/>
              </a:rPr>
              <a:t>design</a:t>
            </a:r>
            <a:endParaRPr sz="25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9379149" y="5641029"/>
            <a:ext cx="6325235" cy="424815"/>
          </a:xfrm>
          <a:custGeom>
            <a:avLst/>
            <a:gdLst/>
            <a:ahLst/>
            <a:cxnLst/>
            <a:rect l="l" t="t" r="r" b="b"/>
            <a:pathLst>
              <a:path w="6325234" h="424814">
                <a:moveTo>
                  <a:pt x="6324835" y="424654"/>
                </a:moveTo>
                <a:lnTo>
                  <a:pt x="0" y="424654"/>
                </a:lnTo>
                <a:lnTo>
                  <a:pt x="0" y="0"/>
                </a:lnTo>
                <a:lnTo>
                  <a:pt x="6324835" y="0"/>
                </a:lnTo>
                <a:lnTo>
                  <a:pt x="6324835" y="424654"/>
                </a:lnTo>
                <a:close/>
              </a:path>
            </a:pathLst>
          </a:custGeom>
          <a:solidFill>
            <a:srgbClr val="151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9366448" y="5630200"/>
            <a:ext cx="6389370" cy="4089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00">
                <a:solidFill>
                  <a:srgbClr val="E1E1E2"/>
                </a:solidFill>
                <a:latin typeface="Arial"/>
                <a:cs typeface="Arial"/>
              </a:rPr>
              <a:t>requirements</a:t>
            </a:r>
            <a:r>
              <a:rPr dirty="0" sz="2500" spc="540">
                <a:solidFill>
                  <a:srgbClr val="E1E1E2"/>
                </a:solidFill>
                <a:latin typeface="Arial"/>
                <a:cs typeface="Arial"/>
              </a:rPr>
              <a:t> </a:t>
            </a:r>
            <a:r>
              <a:rPr dirty="0" sz="2500" spc="50">
                <a:solidFill>
                  <a:srgbClr val="E1E1E2"/>
                </a:solidFill>
                <a:latin typeface="Arial"/>
                <a:cs typeface="Arial"/>
              </a:rPr>
              <a:t>directly,</a:t>
            </a:r>
            <a:r>
              <a:rPr dirty="0" sz="2500" spc="320">
                <a:solidFill>
                  <a:srgbClr val="E1E1E2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E1E1E2"/>
                </a:solidFill>
                <a:latin typeface="Arial"/>
                <a:cs typeface="Arial"/>
              </a:rPr>
              <a:t>alongside</a:t>
            </a:r>
            <a:r>
              <a:rPr dirty="0" sz="2500" spc="295">
                <a:solidFill>
                  <a:srgbClr val="E1E1E2"/>
                </a:solidFill>
                <a:latin typeface="Arial"/>
                <a:cs typeface="Arial"/>
              </a:rPr>
              <a:t> </a:t>
            </a:r>
            <a:r>
              <a:rPr dirty="0" sz="2500" spc="-10">
                <a:solidFill>
                  <a:srgbClr val="E1E1E2"/>
                </a:solidFill>
                <a:latin typeface="Arial"/>
                <a:cs typeface="Arial"/>
              </a:rPr>
              <a:t>Filesystem</a:t>
            </a:r>
            <a:endParaRPr sz="25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9388383" y="6062311"/>
            <a:ext cx="3985895" cy="424815"/>
          </a:xfrm>
          <a:custGeom>
            <a:avLst/>
            <a:gdLst/>
            <a:ahLst/>
            <a:cxnLst/>
            <a:rect l="l" t="t" r="r" b="b"/>
            <a:pathLst>
              <a:path w="3985894" h="424814">
                <a:moveTo>
                  <a:pt x="3985382" y="424654"/>
                </a:moveTo>
                <a:lnTo>
                  <a:pt x="0" y="424654"/>
                </a:lnTo>
                <a:lnTo>
                  <a:pt x="0" y="0"/>
                </a:lnTo>
                <a:lnTo>
                  <a:pt x="3985382" y="0"/>
                </a:lnTo>
                <a:lnTo>
                  <a:pt x="3985382" y="424654"/>
                </a:lnTo>
                <a:close/>
              </a:path>
            </a:pathLst>
          </a:custGeom>
          <a:solidFill>
            <a:srgbClr val="151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9375681" y="6051484"/>
            <a:ext cx="4041140" cy="4089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00">
                <a:solidFill>
                  <a:srgbClr val="E1E1E2"/>
                </a:solidFill>
                <a:latin typeface="Arial"/>
                <a:cs typeface="Arial"/>
              </a:rPr>
              <a:t>and</a:t>
            </a:r>
            <a:r>
              <a:rPr dirty="0" sz="2500" spc="65">
                <a:solidFill>
                  <a:srgbClr val="E1E1E2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E1E1E2"/>
                </a:solidFill>
                <a:latin typeface="Arial"/>
                <a:cs typeface="Arial"/>
              </a:rPr>
              <a:t>Git</a:t>
            </a:r>
            <a:r>
              <a:rPr dirty="0" sz="2500" spc="310">
                <a:solidFill>
                  <a:srgbClr val="E1E1E2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CFD1D4"/>
                </a:solidFill>
                <a:latin typeface="Arial"/>
                <a:cs typeface="Arial"/>
              </a:rPr>
              <a:t>servers</a:t>
            </a:r>
            <a:r>
              <a:rPr dirty="0" sz="2500" spc="130">
                <a:solidFill>
                  <a:srgbClr val="CFD1D4"/>
                </a:solidFill>
                <a:latin typeface="Arial"/>
                <a:cs typeface="Arial"/>
              </a:rPr>
              <a:t> </a:t>
            </a:r>
            <a:r>
              <a:rPr dirty="0" sz="2500" spc="65">
                <a:solidFill>
                  <a:srgbClr val="E1E1E2"/>
                </a:solidFill>
                <a:latin typeface="Arial"/>
                <a:cs typeface="Arial"/>
              </a:rPr>
              <a:t>for</a:t>
            </a:r>
            <a:r>
              <a:rPr dirty="0" sz="2500" spc="114">
                <a:solidFill>
                  <a:srgbClr val="E1E1E2"/>
                </a:solidFill>
                <a:latin typeface="Arial"/>
                <a:cs typeface="Arial"/>
              </a:rPr>
              <a:t> </a:t>
            </a:r>
            <a:r>
              <a:rPr dirty="0" sz="2500" spc="70">
                <a:solidFill>
                  <a:srgbClr val="E1E1E2"/>
                </a:solidFill>
                <a:latin typeface="Arial"/>
                <a:cs typeface="Arial"/>
              </a:rPr>
              <a:t>context.</a:t>
            </a:r>
            <a:endParaRPr sz="25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466519" y="8066595"/>
            <a:ext cx="2094864" cy="424815"/>
          </a:xfrm>
          <a:custGeom>
            <a:avLst/>
            <a:gdLst/>
            <a:ahLst/>
            <a:cxnLst/>
            <a:rect l="l" t="t" r="r" b="b"/>
            <a:pathLst>
              <a:path w="2094865" h="424815">
                <a:moveTo>
                  <a:pt x="2094267" y="424654"/>
                </a:moveTo>
                <a:lnTo>
                  <a:pt x="0" y="424654"/>
                </a:lnTo>
                <a:lnTo>
                  <a:pt x="0" y="0"/>
                </a:lnTo>
                <a:lnTo>
                  <a:pt x="2094267" y="0"/>
                </a:lnTo>
                <a:lnTo>
                  <a:pt x="2094267" y="424654"/>
                </a:lnTo>
                <a:close/>
              </a:path>
            </a:pathLst>
          </a:custGeom>
          <a:solidFill>
            <a:srgbClr val="151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4453818" y="8055768"/>
            <a:ext cx="8611235" cy="4089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00">
                <a:solidFill>
                  <a:srgbClr val="E1E1E2"/>
                </a:solidFill>
                <a:latin typeface="Arial"/>
                <a:cs typeface="Arial"/>
              </a:rPr>
              <a:t>Get</a:t>
            </a:r>
            <a:r>
              <a:rPr dirty="0" sz="2500" spc="75">
                <a:solidFill>
                  <a:srgbClr val="E1E1E2"/>
                </a:solidFill>
                <a:latin typeface="Arial"/>
                <a:cs typeface="Arial"/>
              </a:rPr>
              <a:t> </a:t>
            </a:r>
            <a:r>
              <a:rPr dirty="0" sz="2500" spc="90">
                <a:solidFill>
                  <a:srgbClr val="E1E1E2"/>
                </a:solidFill>
                <a:latin typeface="Arial"/>
                <a:cs typeface="Arial"/>
              </a:rPr>
              <a:t>started</a:t>
            </a:r>
            <a:r>
              <a:rPr dirty="0" sz="2500" spc="-35">
                <a:solidFill>
                  <a:srgbClr val="E1E1E2"/>
                </a:solidFill>
                <a:latin typeface="Arial"/>
                <a:cs typeface="Arial"/>
              </a:rPr>
              <a:t> </a:t>
            </a:r>
            <a:r>
              <a:rPr dirty="0" sz="2500" spc="80">
                <a:solidFill>
                  <a:srgbClr val="E1E1E2"/>
                </a:solidFill>
                <a:latin typeface="Arial"/>
                <a:cs typeface="Arial"/>
              </a:rPr>
              <a:t>at:</a:t>
            </a:r>
            <a:r>
              <a:rPr dirty="0" sz="2500" spc="-5">
                <a:solidFill>
                  <a:srgbClr val="E1E1E2"/>
                </a:solidFill>
                <a:latin typeface="Arial"/>
                <a:cs typeface="Arial"/>
              </a:rPr>
              <a:t> </a:t>
            </a:r>
            <a:r>
              <a:rPr dirty="0" sz="2500" spc="75">
                <a:solidFill>
                  <a:srgbClr val="8279BA"/>
                </a:solidFill>
                <a:latin typeface="Arial"/>
                <a:cs typeface="Arial"/>
              </a:rPr>
              <a:t>github.com/itsocialist/mcp-config-</a:t>
            </a:r>
            <a:r>
              <a:rPr dirty="0" sz="2500" spc="85">
                <a:solidFill>
                  <a:srgbClr val="8279BA"/>
                </a:solidFill>
                <a:latin typeface="Arial"/>
                <a:cs typeface="Arial"/>
              </a:rPr>
              <a:t>manager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2025-12-17T09:10:56Z</dcterms:created>
  <dcterms:modified xsi:type="dcterms:W3CDTF">2025-12-17T09:10:56Z</dcterms:modified>
</cp:coreProperties>
</file>