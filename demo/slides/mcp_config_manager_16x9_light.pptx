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5240000" cy="8578850"/>
  <p:notesSz cx="15240000" cy="8578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0376" y="1558925"/>
            <a:ext cx="7176134" cy="118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0" i="0">
                <a:solidFill>
                  <a:srgbClr val="0E1729"/>
                </a:solidFill>
                <a:latin typeface="Helvetica"/>
                <a:cs typeface="Helvetic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86000" y="4804156"/>
            <a:ext cx="10668000" cy="2144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D293B"/>
                </a:solidFill>
                <a:latin typeface="Helvetica"/>
                <a:cs typeface="Helvetic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0E1729"/>
                </a:solidFill>
                <a:latin typeface="Helvetica"/>
                <a:cs typeface="Helvetic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D293B"/>
                </a:solidFill>
                <a:latin typeface="Helvetica"/>
                <a:cs typeface="Helvetic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0E1729"/>
                </a:solidFill>
                <a:latin typeface="Helvetica"/>
                <a:cs typeface="Helvetic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62000" y="1973135"/>
            <a:ext cx="6629400" cy="56620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848600" y="1973135"/>
            <a:ext cx="6629400" cy="56620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0E1729"/>
                </a:solidFill>
                <a:latin typeface="Helvetica"/>
                <a:cs typeface="Helvetic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376" y="1989382"/>
            <a:ext cx="7988300" cy="95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0" i="0">
                <a:solidFill>
                  <a:srgbClr val="0E1729"/>
                </a:solidFill>
                <a:latin typeface="Helvetica"/>
                <a:cs typeface="Helvetic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0376" y="2918069"/>
            <a:ext cx="14435455" cy="3256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D293B"/>
                </a:solidFill>
                <a:latin typeface="Helvetica"/>
                <a:cs typeface="Helvetic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81600" y="7978330"/>
            <a:ext cx="4876800" cy="428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62000" y="7978330"/>
            <a:ext cx="3505200" cy="428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972800" y="7978330"/>
            <a:ext cx="3505200" cy="428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5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itsocialist/mcp-config-manager" TargetMode="Externa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239998" cy="856334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80376" y="2105330"/>
            <a:ext cx="14682469" cy="185801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0">
                <a:solidFill>
                  <a:srgbClr val="2562EB"/>
                </a:solidFill>
              </a:rPr>
              <a:t>MCP</a:t>
            </a:r>
            <a:r>
              <a:rPr dirty="0" sz="12000" spc="-204">
                <a:solidFill>
                  <a:srgbClr val="2562EB"/>
                </a:solidFill>
              </a:rPr>
              <a:t> </a:t>
            </a:r>
            <a:r>
              <a:rPr dirty="0" sz="12000">
                <a:solidFill>
                  <a:srgbClr val="2562EB"/>
                </a:solidFill>
              </a:rPr>
              <a:t>Conﬁg</a:t>
            </a:r>
            <a:r>
              <a:rPr dirty="0" sz="12000" spc="5">
                <a:solidFill>
                  <a:srgbClr val="2562EB"/>
                </a:solidFill>
              </a:rPr>
              <a:t> </a:t>
            </a:r>
            <a:r>
              <a:rPr dirty="0" sz="12000" spc="-10">
                <a:solidFill>
                  <a:srgbClr val="2562EB"/>
                </a:solidFill>
              </a:rPr>
              <a:t>Manager</a:t>
            </a:r>
            <a:endParaRPr sz="12000"/>
          </a:p>
        </p:txBody>
      </p:sp>
      <p:sp>
        <p:nvSpPr>
          <p:cNvPr id="4" name="object 4"/>
          <p:cNvSpPr txBox="1"/>
          <p:nvPr/>
        </p:nvSpPr>
        <p:spPr>
          <a:xfrm>
            <a:off x="2472729" y="4749799"/>
            <a:ext cx="10294620" cy="13754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445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4450" spc="-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4450">
                <a:solidFill>
                  <a:srgbClr val="0E1729"/>
                </a:solidFill>
                <a:latin typeface="Helvetica"/>
                <a:cs typeface="Helvetica"/>
              </a:rPr>
              <a:t>Visual</a:t>
            </a:r>
            <a:r>
              <a:rPr dirty="0" sz="4450" spc="-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4450">
                <a:solidFill>
                  <a:srgbClr val="0E1729"/>
                </a:solidFill>
                <a:latin typeface="Helvetica"/>
                <a:cs typeface="Helvetica"/>
              </a:rPr>
              <a:t>Command</a:t>
            </a:r>
            <a:r>
              <a:rPr dirty="0" sz="4450" spc="-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4450">
                <a:solidFill>
                  <a:srgbClr val="0E1729"/>
                </a:solidFill>
                <a:latin typeface="Helvetica"/>
                <a:cs typeface="Helvetica"/>
              </a:rPr>
              <a:t>Center</a:t>
            </a:r>
            <a:r>
              <a:rPr dirty="0" sz="4450" spc="-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4450">
                <a:solidFill>
                  <a:srgbClr val="0E1729"/>
                </a:solidFill>
                <a:latin typeface="Helvetica"/>
                <a:cs typeface="Helvetica"/>
              </a:rPr>
              <a:t>for</a:t>
            </a:r>
            <a:r>
              <a:rPr dirty="0" sz="4450" spc="-25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4450">
                <a:solidFill>
                  <a:srgbClr val="0E1729"/>
                </a:solidFill>
                <a:latin typeface="Helvetica"/>
                <a:cs typeface="Helvetica"/>
              </a:rPr>
              <a:t>AI</a:t>
            </a:r>
            <a:r>
              <a:rPr dirty="0" sz="4450" spc="-8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4450" spc="-409">
                <a:solidFill>
                  <a:srgbClr val="0E1729"/>
                </a:solidFill>
                <a:latin typeface="Helvetica"/>
                <a:cs typeface="Helvetica"/>
              </a:rPr>
              <a:t>T</a:t>
            </a:r>
            <a:r>
              <a:rPr dirty="0" sz="4450" spc="90">
                <a:solidFill>
                  <a:srgbClr val="0E1729"/>
                </a:solidFill>
                <a:latin typeface="Helvetica"/>
                <a:cs typeface="Helvetica"/>
              </a:rPr>
              <a:t>ools</a:t>
            </a:r>
            <a:endParaRPr sz="445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505"/>
              </a:spcBef>
            </a:pPr>
            <a:r>
              <a:rPr dirty="0" sz="2300">
                <a:solidFill>
                  <a:srgbClr val="1D293B"/>
                </a:solidFill>
                <a:latin typeface="Helvetica"/>
                <a:cs typeface="Helvetica"/>
              </a:rPr>
              <a:t>Simplifying the </a:t>
            </a:r>
            <a:r>
              <a:rPr dirty="0" sz="2300" b="1">
                <a:solidFill>
                  <a:srgbClr val="2562EB"/>
                </a:solidFill>
                <a:latin typeface="Helvetica"/>
                <a:cs typeface="Helvetica"/>
              </a:rPr>
              <a:t>Model Context Protocol </a:t>
            </a:r>
            <a:r>
              <a:rPr dirty="0" sz="2300" spc="-10">
                <a:solidFill>
                  <a:srgbClr val="1D293B"/>
                </a:solidFill>
                <a:latin typeface="Helvetica"/>
                <a:cs typeface="Helvetica"/>
              </a:rPr>
              <a:t>Ecosystem</a:t>
            </a:r>
            <a:endParaRPr sz="23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8233" y="6673116"/>
            <a:ext cx="192341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1D293B"/>
                </a:solidFill>
                <a:latin typeface="Helvetica"/>
                <a:cs typeface="Helvetica"/>
              </a:rPr>
              <a:t>Made</a:t>
            </a:r>
            <a:r>
              <a:rPr dirty="0" sz="11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150">
                <a:solidFill>
                  <a:srgbClr val="1D293B"/>
                </a:solidFill>
                <a:latin typeface="Helvetica"/>
                <a:cs typeface="Helvetica"/>
              </a:rPr>
              <a:t>with Google</a:t>
            </a:r>
            <a:r>
              <a:rPr dirty="0" sz="1150" spc="-6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150" spc="-10">
                <a:solidFill>
                  <a:srgbClr val="1D293B"/>
                </a:solidFill>
                <a:latin typeface="Helvetica"/>
                <a:cs typeface="Helvetica"/>
              </a:rPr>
              <a:t>Antigravity</a:t>
            </a:r>
            <a:endParaRPr sz="115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3173" y="8004720"/>
            <a:ext cx="531495" cy="384810"/>
          </a:xfrm>
          <a:custGeom>
            <a:avLst/>
            <a:gdLst/>
            <a:ahLst/>
            <a:cxnLst/>
            <a:rect l="l" t="t" r="r" b="b"/>
            <a:pathLst>
              <a:path w="531495" h="384809">
                <a:moveTo>
                  <a:pt x="273377" y="384547"/>
                </a:moveTo>
                <a:lnTo>
                  <a:pt x="257824" y="384547"/>
                </a:lnTo>
                <a:lnTo>
                  <a:pt x="244870" y="384084"/>
                </a:lnTo>
                <a:lnTo>
                  <a:pt x="206399" y="379932"/>
                </a:lnTo>
                <a:lnTo>
                  <a:pt x="155167" y="367554"/>
                </a:lnTo>
                <a:lnTo>
                  <a:pt x="110270" y="348692"/>
                </a:lnTo>
                <a:lnTo>
                  <a:pt x="71294" y="323818"/>
                </a:lnTo>
                <a:lnTo>
                  <a:pt x="39735" y="293890"/>
                </a:lnTo>
                <a:lnTo>
                  <a:pt x="16806" y="260056"/>
                </a:lnTo>
                <a:lnTo>
                  <a:pt x="3389" y="223617"/>
                </a:lnTo>
                <a:lnTo>
                  <a:pt x="0" y="198572"/>
                </a:lnTo>
                <a:lnTo>
                  <a:pt x="0" y="192273"/>
                </a:lnTo>
                <a:lnTo>
                  <a:pt x="0" y="185974"/>
                </a:lnTo>
                <a:lnTo>
                  <a:pt x="8868" y="142470"/>
                </a:lnTo>
                <a:lnTo>
                  <a:pt x="27129" y="107164"/>
                </a:lnTo>
                <a:lnTo>
                  <a:pt x="54504" y="75129"/>
                </a:lnTo>
                <a:lnTo>
                  <a:pt x="89942" y="47595"/>
                </a:lnTo>
                <a:lnTo>
                  <a:pt x="124666" y="28856"/>
                </a:lnTo>
                <a:lnTo>
                  <a:pt x="171162" y="12171"/>
                </a:lnTo>
                <a:lnTo>
                  <a:pt x="219127" y="2773"/>
                </a:lnTo>
                <a:lnTo>
                  <a:pt x="257824" y="0"/>
                </a:lnTo>
                <a:lnTo>
                  <a:pt x="273377" y="0"/>
                </a:lnTo>
                <a:lnTo>
                  <a:pt x="286331" y="463"/>
                </a:lnTo>
                <a:lnTo>
                  <a:pt x="324802" y="4615"/>
                </a:lnTo>
                <a:lnTo>
                  <a:pt x="376034" y="16993"/>
                </a:lnTo>
                <a:lnTo>
                  <a:pt x="420930" y="35855"/>
                </a:lnTo>
                <a:lnTo>
                  <a:pt x="459907" y="60728"/>
                </a:lnTo>
                <a:lnTo>
                  <a:pt x="491466" y="90657"/>
                </a:lnTo>
                <a:lnTo>
                  <a:pt x="514394" y="124491"/>
                </a:lnTo>
                <a:lnTo>
                  <a:pt x="527811" y="160929"/>
                </a:lnTo>
                <a:lnTo>
                  <a:pt x="531201" y="185974"/>
                </a:lnTo>
                <a:lnTo>
                  <a:pt x="531201" y="198572"/>
                </a:lnTo>
                <a:lnTo>
                  <a:pt x="522333" y="242076"/>
                </a:lnTo>
                <a:lnTo>
                  <a:pt x="504072" y="277383"/>
                </a:lnTo>
                <a:lnTo>
                  <a:pt x="476697" y="309418"/>
                </a:lnTo>
                <a:lnTo>
                  <a:pt x="441258" y="336952"/>
                </a:lnTo>
                <a:lnTo>
                  <a:pt x="406535" y="355691"/>
                </a:lnTo>
                <a:lnTo>
                  <a:pt x="360039" y="372375"/>
                </a:lnTo>
                <a:lnTo>
                  <a:pt x="312074" y="381774"/>
                </a:lnTo>
                <a:lnTo>
                  <a:pt x="286331" y="384084"/>
                </a:lnTo>
                <a:lnTo>
                  <a:pt x="273377" y="384547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2059" y="8098086"/>
            <a:ext cx="33718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150">
                <a:solidFill>
                  <a:srgbClr val="FFFFFF"/>
                </a:solidFill>
                <a:latin typeface="Apple Color Emoji"/>
                <a:cs typeface="Apple Color Emoji"/>
              </a:rPr>
              <a:t>🌙</a:t>
            </a:r>
            <a:r>
              <a:rPr dirty="0" sz="1100" spc="-835">
                <a:solidFill>
                  <a:srgbClr val="FFFFFF"/>
                </a:solidFill>
                <a:latin typeface="Apple Color Emoji"/>
                <a:cs typeface="Apple Color Emoji"/>
              </a:rPr>
              <a:t> </a:t>
            </a:r>
            <a:r>
              <a:rPr dirty="0" sz="950" spc="-45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100" spc="-45">
                <a:solidFill>
                  <a:srgbClr val="FFFFFF"/>
                </a:solidFill>
                <a:latin typeface="ヒラギノ明朝 ProN W3"/>
                <a:cs typeface="ヒラギノ明朝 ProN W3"/>
              </a:rPr>
              <a:t>☀</a:t>
            </a:r>
            <a:endParaRPr sz="1100">
              <a:latin typeface="ヒラギノ明朝 ProN W3"/>
              <a:cs typeface="ヒラギノ明朝 ProN W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 spc="-20"/>
              <a:t>MCP?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2918069"/>
            <a:ext cx="1443545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Model</a:t>
            </a:r>
            <a:r>
              <a:rPr dirty="0" sz="2450" spc="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Context</a:t>
            </a:r>
            <a:r>
              <a:rPr dirty="0" sz="245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Protocol (MCP)</a:t>
            </a:r>
            <a:r>
              <a:rPr dirty="0" sz="245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is</a:t>
            </a:r>
            <a:r>
              <a:rPr dirty="0" sz="245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an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open standard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that</a:t>
            </a:r>
            <a:r>
              <a:rPr dirty="0" sz="245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connects</a:t>
            </a:r>
            <a:r>
              <a:rPr dirty="0" sz="2450" spc="-14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 assistants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245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systems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directly.</a:t>
            </a:r>
            <a:endParaRPr sz="2450">
              <a:latin typeface="Helvetica"/>
              <a:cs typeface="Helvetic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3173" y="3892427"/>
            <a:ext cx="6786562" cy="27567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577242"/>
            <a:ext cx="4965065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 spc="-20"/>
              <a:t>MCP?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3173" y="3892428"/>
            <a:ext cx="6786562" cy="27567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187" y="4258773"/>
            <a:ext cx="91586" cy="915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0376" y="2918069"/>
            <a:ext cx="14435455" cy="1553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Model</a:t>
            </a:r>
            <a:r>
              <a:rPr dirty="0" sz="2450" spc="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Context</a:t>
            </a:r>
            <a:r>
              <a:rPr dirty="0" sz="245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Protocol (MCP)</a:t>
            </a:r>
            <a:r>
              <a:rPr dirty="0" sz="245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is</a:t>
            </a:r>
            <a:r>
              <a:rPr dirty="0" sz="245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an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open standard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that</a:t>
            </a:r>
            <a:r>
              <a:rPr dirty="0" sz="245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connects</a:t>
            </a:r>
            <a:r>
              <a:rPr dirty="0" sz="2450" spc="-14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 assistants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245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systems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directly.</a:t>
            </a:r>
            <a:endParaRPr sz="245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45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450">
              <a:latin typeface="Helvetica"/>
              <a:cs typeface="Helvetica"/>
            </a:endParaRPr>
          </a:p>
          <a:p>
            <a:pPr marL="323850">
              <a:lnSpc>
                <a:spcPct val="100000"/>
              </a:lnSpc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Think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"USB-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2450" spc="-14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2450" spc="-14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Applications"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577242"/>
            <a:ext cx="4965065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 spc="-20"/>
              <a:t>MCP?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3173" y="3892426"/>
            <a:ext cx="6786562" cy="2756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187" y="4258772"/>
            <a:ext cx="91586" cy="915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7187" y="4909037"/>
            <a:ext cx="91586" cy="9158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/>
              <a:t>The</a:t>
            </a:r>
            <a:r>
              <a:rPr dirty="0" sz="2450" spc="-5"/>
              <a:t> </a:t>
            </a:r>
            <a:r>
              <a:rPr dirty="0" sz="2450" b="1">
                <a:latin typeface="Helvetica"/>
                <a:cs typeface="Helvetica"/>
              </a:rPr>
              <a:t>Model</a:t>
            </a:r>
            <a:r>
              <a:rPr dirty="0" sz="2450" spc="5" b="1">
                <a:latin typeface="Helvetica"/>
                <a:cs typeface="Helvetica"/>
              </a:rPr>
              <a:t> </a:t>
            </a:r>
            <a:r>
              <a:rPr dirty="0" sz="2450" b="1">
                <a:latin typeface="Helvetica"/>
                <a:cs typeface="Helvetica"/>
              </a:rPr>
              <a:t>Context</a:t>
            </a:r>
            <a:r>
              <a:rPr dirty="0" sz="2450" spc="-5" b="1">
                <a:latin typeface="Helvetica"/>
                <a:cs typeface="Helvetica"/>
              </a:rPr>
              <a:t> </a:t>
            </a:r>
            <a:r>
              <a:rPr dirty="0" sz="2450" b="1">
                <a:latin typeface="Helvetica"/>
                <a:cs typeface="Helvetica"/>
              </a:rPr>
              <a:t>Protocol (MCP)</a:t>
            </a:r>
            <a:r>
              <a:rPr dirty="0" sz="2450" spc="-5" b="1">
                <a:latin typeface="Helvetica"/>
                <a:cs typeface="Helvetica"/>
              </a:rPr>
              <a:t> </a:t>
            </a:r>
            <a:r>
              <a:rPr dirty="0" sz="2450"/>
              <a:t>is</a:t>
            </a:r>
            <a:r>
              <a:rPr dirty="0" sz="2450" spc="5"/>
              <a:t> </a:t>
            </a:r>
            <a:r>
              <a:rPr dirty="0" sz="2450"/>
              <a:t>an</a:t>
            </a:r>
            <a:r>
              <a:rPr dirty="0" sz="2450" spc="-5"/>
              <a:t> </a:t>
            </a:r>
            <a:r>
              <a:rPr dirty="0" sz="2450"/>
              <a:t>open standard</a:t>
            </a:r>
            <a:r>
              <a:rPr dirty="0" sz="2450" spc="-5"/>
              <a:t> </a:t>
            </a:r>
            <a:r>
              <a:rPr dirty="0" sz="2450"/>
              <a:t>that</a:t>
            </a:r>
            <a:r>
              <a:rPr dirty="0" sz="2450" spc="5"/>
              <a:t> </a:t>
            </a:r>
            <a:r>
              <a:rPr dirty="0" sz="2450"/>
              <a:t>connects</a:t>
            </a:r>
            <a:r>
              <a:rPr dirty="0" sz="2450" spc="-140"/>
              <a:t> </a:t>
            </a:r>
            <a:r>
              <a:rPr dirty="0" sz="2450"/>
              <a:t>AI assistants</a:t>
            </a:r>
            <a:r>
              <a:rPr dirty="0" sz="2450" spc="-5"/>
              <a:t> </a:t>
            </a:r>
            <a:r>
              <a:rPr dirty="0" sz="2450"/>
              <a:t>to</a:t>
            </a:r>
            <a:r>
              <a:rPr dirty="0" sz="2450" spc="5"/>
              <a:t> </a:t>
            </a:r>
            <a:r>
              <a:rPr dirty="0" sz="2450"/>
              <a:t>systems</a:t>
            </a:r>
            <a:r>
              <a:rPr dirty="0" sz="2450" spc="-5"/>
              <a:t> </a:t>
            </a:r>
            <a:r>
              <a:rPr dirty="0" sz="2450" spc="-10"/>
              <a:t>directly.</a:t>
            </a:r>
            <a:endParaRPr sz="245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450"/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450"/>
          </a:p>
          <a:p>
            <a:pPr marL="323850">
              <a:lnSpc>
                <a:spcPct val="100000"/>
              </a:lnSpc>
            </a:pPr>
            <a:r>
              <a:rPr dirty="0" sz="2450"/>
              <a:t>Think</a:t>
            </a:r>
            <a:r>
              <a:rPr dirty="0" sz="2450" spc="-15"/>
              <a:t> </a:t>
            </a:r>
            <a:r>
              <a:rPr dirty="0" sz="2450" spc="-20"/>
              <a:t>"USB-</a:t>
            </a:r>
            <a:r>
              <a:rPr dirty="0" sz="2450"/>
              <a:t>C</a:t>
            </a:r>
            <a:r>
              <a:rPr dirty="0" sz="2450" spc="-15"/>
              <a:t> </a:t>
            </a:r>
            <a:r>
              <a:rPr dirty="0" sz="2450"/>
              <a:t>for</a:t>
            </a:r>
            <a:r>
              <a:rPr dirty="0" sz="2450" spc="-145"/>
              <a:t> </a:t>
            </a:r>
            <a:r>
              <a:rPr dirty="0" sz="2450"/>
              <a:t>AI</a:t>
            </a:r>
            <a:r>
              <a:rPr dirty="0" sz="2450" spc="-145"/>
              <a:t> </a:t>
            </a:r>
            <a:r>
              <a:rPr dirty="0" sz="2450" spc="-10"/>
              <a:t>Applications"</a:t>
            </a:r>
            <a:endParaRPr sz="2450"/>
          </a:p>
          <a:p>
            <a:pPr marL="323850" marR="7665084">
              <a:lnSpc>
                <a:spcPct val="107900"/>
              </a:lnSpc>
              <a:spcBef>
                <a:spcPts val="1945"/>
              </a:spcBef>
            </a:pPr>
            <a:r>
              <a:rPr dirty="0" sz="2450"/>
              <a:t>Standardized</a:t>
            </a:r>
            <a:r>
              <a:rPr dirty="0" sz="2450" spc="-10"/>
              <a:t> </a:t>
            </a:r>
            <a:r>
              <a:rPr dirty="0" sz="2450"/>
              <a:t>way</a:t>
            </a:r>
            <a:r>
              <a:rPr dirty="0" sz="2450" spc="-5"/>
              <a:t> </a:t>
            </a:r>
            <a:r>
              <a:rPr dirty="0" sz="2450"/>
              <a:t>for</a:t>
            </a:r>
            <a:r>
              <a:rPr dirty="0" sz="2450" spc="-140"/>
              <a:t> </a:t>
            </a:r>
            <a:r>
              <a:rPr dirty="0" sz="2450"/>
              <a:t>AIs</a:t>
            </a:r>
            <a:r>
              <a:rPr dirty="0" sz="2450" spc="-5"/>
              <a:t> </a:t>
            </a:r>
            <a:r>
              <a:rPr dirty="0" sz="2450"/>
              <a:t>to</a:t>
            </a:r>
            <a:r>
              <a:rPr dirty="0" sz="2450" spc="-10"/>
              <a:t> </a:t>
            </a:r>
            <a:r>
              <a:rPr dirty="0" sz="2450"/>
              <a:t>access</a:t>
            </a:r>
            <a:r>
              <a:rPr dirty="0" sz="2450" spc="-5"/>
              <a:t> </a:t>
            </a:r>
            <a:r>
              <a:rPr dirty="0" sz="2450" b="1">
                <a:latin typeface="Helvetica"/>
                <a:cs typeface="Helvetica"/>
              </a:rPr>
              <a:t>Data</a:t>
            </a:r>
            <a:r>
              <a:rPr dirty="0" sz="2450" spc="-5" b="1">
                <a:latin typeface="Helvetica"/>
                <a:cs typeface="Helvetica"/>
              </a:rPr>
              <a:t> </a:t>
            </a:r>
            <a:r>
              <a:rPr dirty="0" sz="2450" spc="-10"/>
              <a:t>(ﬁles, </a:t>
            </a:r>
            <a:r>
              <a:rPr dirty="0" sz="2450"/>
              <a:t>databases)</a:t>
            </a:r>
            <a:r>
              <a:rPr dirty="0" sz="2450" spc="-35"/>
              <a:t> </a:t>
            </a:r>
            <a:r>
              <a:rPr dirty="0" sz="2450"/>
              <a:t>and</a:t>
            </a:r>
            <a:r>
              <a:rPr dirty="0" sz="2450" spc="-30"/>
              <a:t> </a:t>
            </a:r>
            <a:r>
              <a:rPr dirty="0" sz="2450" spc="-20" b="1">
                <a:latin typeface="Helvetica"/>
                <a:cs typeface="Helvetica"/>
              </a:rPr>
              <a:t>Tools</a:t>
            </a:r>
            <a:r>
              <a:rPr dirty="0" sz="2450" spc="-30" b="1">
                <a:latin typeface="Helvetica"/>
                <a:cs typeface="Helvetica"/>
              </a:rPr>
              <a:t> </a:t>
            </a:r>
            <a:r>
              <a:rPr dirty="0" sz="2450"/>
              <a:t>(functions,</a:t>
            </a:r>
            <a:r>
              <a:rPr dirty="0" sz="2450" spc="-155"/>
              <a:t> </a:t>
            </a:r>
            <a:r>
              <a:rPr dirty="0" sz="2450" spc="-10"/>
              <a:t>APIs).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577242"/>
            <a:ext cx="4965065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 spc="-20"/>
              <a:t>MCP?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3173" y="3892426"/>
            <a:ext cx="6786562" cy="2756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187" y="4258772"/>
            <a:ext cx="91586" cy="915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7187" y="4909037"/>
            <a:ext cx="91586" cy="915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7187" y="5962282"/>
            <a:ext cx="91586" cy="9158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/>
              <a:t>The</a:t>
            </a:r>
            <a:r>
              <a:rPr dirty="0" sz="2450" spc="-5"/>
              <a:t> </a:t>
            </a:r>
            <a:r>
              <a:rPr dirty="0" sz="2450" b="1">
                <a:latin typeface="Helvetica"/>
                <a:cs typeface="Helvetica"/>
              </a:rPr>
              <a:t>Model</a:t>
            </a:r>
            <a:r>
              <a:rPr dirty="0" sz="2450" spc="5" b="1">
                <a:latin typeface="Helvetica"/>
                <a:cs typeface="Helvetica"/>
              </a:rPr>
              <a:t> </a:t>
            </a:r>
            <a:r>
              <a:rPr dirty="0" sz="2450" b="1">
                <a:latin typeface="Helvetica"/>
                <a:cs typeface="Helvetica"/>
              </a:rPr>
              <a:t>Context</a:t>
            </a:r>
            <a:r>
              <a:rPr dirty="0" sz="2450" spc="-5" b="1">
                <a:latin typeface="Helvetica"/>
                <a:cs typeface="Helvetica"/>
              </a:rPr>
              <a:t> </a:t>
            </a:r>
            <a:r>
              <a:rPr dirty="0" sz="2450" b="1">
                <a:latin typeface="Helvetica"/>
                <a:cs typeface="Helvetica"/>
              </a:rPr>
              <a:t>Protocol (MCP)</a:t>
            </a:r>
            <a:r>
              <a:rPr dirty="0" sz="2450" spc="-5" b="1">
                <a:latin typeface="Helvetica"/>
                <a:cs typeface="Helvetica"/>
              </a:rPr>
              <a:t> </a:t>
            </a:r>
            <a:r>
              <a:rPr dirty="0" sz="2450"/>
              <a:t>is</a:t>
            </a:r>
            <a:r>
              <a:rPr dirty="0" sz="2450" spc="5"/>
              <a:t> </a:t>
            </a:r>
            <a:r>
              <a:rPr dirty="0" sz="2450"/>
              <a:t>an</a:t>
            </a:r>
            <a:r>
              <a:rPr dirty="0" sz="2450" spc="-5"/>
              <a:t> </a:t>
            </a:r>
            <a:r>
              <a:rPr dirty="0" sz="2450"/>
              <a:t>open standard</a:t>
            </a:r>
            <a:r>
              <a:rPr dirty="0" sz="2450" spc="-5"/>
              <a:t> </a:t>
            </a:r>
            <a:r>
              <a:rPr dirty="0" sz="2450"/>
              <a:t>that</a:t>
            </a:r>
            <a:r>
              <a:rPr dirty="0" sz="2450" spc="5"/>
              <a:t> </a:t>
            </a:r>
            <a:r>
              <a:rPr dirty="0" sz="2450"/>
              <a:t>connects</a:t>
            </a:r>
            <a:r>
              <a:rPr dirty="0" sz="2450" spc="-140"/>
              <a:t> </a:t>
            </a:r>
            <a:r>
              <a:rPr dirty="0" sz="2450"/>
              <a:t>AI assistants</a:t>
            </a:r>
            <a:r>
              <a:rPr dirty="0" sz="2450" spc="-5"/>
              <a:t> </a:t>
            </a:r>
            <a:r>
              <a:rPr dirty="0" sz="2450"/>
              <a:t>to</a:t>
            </a:r>
            <a:r>
              <a:rPr dirty="0" sz="2450" spc="5"/>
              <a:t> </a:t>
            </a:r>
            <a:r>
              <a:rPr dirty="0" sz="2450"/>
              <a:t>systems</a:t>
            </a:r>
            <a:r>
              <a:rPr dirty="0" sz="2450" spc="-5"/>
              <a:t> </a:t>
            </a:r>
            <a:r>
              <a:rPr dirty="0" sz="2450" spc="-10"/>
              <a:t>directly.</a:t>
            </a:r>
            <a:endParaRPr sz="245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450"/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450"/>
          </a:p>
          <a:p>
            <a:pPr marL="323850">
              <a:lnSpc>
                <a:spcPct val="100000"/>
              </a:lnSpc>
            </a:pPr>
            <a:r>
              <a:rPr dirty="0" sz="2450"/>
              <a:t>Think</a:t>
            </a:r>
            <a:r>
              <a:rPr dirty="0" sz="2450" spc="-15"/>
              <a:t> </a:t>
            </a:r>
            <a:r>
              <a:rPr dirty="0" sz="2450" spc="-20"/>
              <a:t>"USB-</a:t>
            </a:r>
            <a:r>
              <a:rPr dirty="0" sz="2450"/>
              <a:t>C</a:t>
            </a:r>
            <a:r>
              <a:rPr dirty="0" sz="2450" spc="-15"/>
              <a:t> </a:t>
            </a:r>
            <a:r>
              <a:rPr dirty="0" sz="2450"/>
              <a:t>for</a:t>
            </a:r>
            <a:r>
              <a:rPr dirty="0" sz="2450" spc="-145"/>
              <a:t> </a:t>
            </a:r>
            <a:r>
              <a:rPr dirty="0" sz="2450"/>
              <a:t>AI</a:t>
            </a:r>
            <a:r>
              <a:rPr dirty="0" sz="2450" spc="-145"/>
              <a:t> </a:t>
            </a:r>
            <a:r>
              <a:rPr dirty="0" sz="2450" spc="-10"/>
              <a:t>Applications"</a:t>
            </a:r>
            <a:endParaRPr sz="2450"/>
          </a:p>
          <a:p>
            <a:pPr marL="323850" marR="7665084">
              <a:lnSpc>
                <a:spcPct val="107900"/>
              </a:lnSpc>
              <a:spcBef>
                <a:spcPts val="1945"/>
              </a:spcBef>
            </a:pPr>
            <a:r>
              <a:rPr dirty="0" sz="2450"/>
              <a:t>Standardized</a:t>
            </a:r>
            <a:r>
              <a:rPr dirty="0" sz="2450" spc="-10"/>
              <a:t> </a:t>
            </a:r>
            <a:r>
              <a:rPr dirty="0" sz="2450"/>
              <a:t>way</a:t>
            </a:r>
            <a:r>
              <a:rPr dirty="0" sz="2450" spc="-5"/>
              <a:t> </a:t>
            </a:r>
            <a:r>
              <a:rPr dirty="0" sz="2450"/>
              <a:t>for</a:t>
            </a:r>
            <a:r>
              <a:rPr dirty="0" sz="2450" spc="-140"/>
              <a:t> </a:t>
            </a:r>
            <a:r>
              <a:rPr dirty="0" sz="2450"/>
              <a:t>AIs</a:t>
            </a:r>
            <a:r>
              <a:rPr dirty="0" sz="2450" spc="-5"/>
              <a:t> </a:t>
            </a:r>
            <a:r>
              <a:rPr dirty="0" sz="2450"/>
              <a:t>to</a:t>
            </a:r>
            <a:r>
              <a:rPr dirty="0" sz="2450" spc="-10"/>
              <a:t> </a:t>
            </a:r>
            <a:r>
              <a:rPr dirty="0" sz="2450"/>
              <a:t>access</a:t>
            </a:r>
            <a:r>
              <a:rPr dirty="0" sz="2450" spc="-5"/>
              <a:t> </a:t>
            </a:r>
            <a:r>
              <a:rPr dirty="0" sz="2450" b="1">
                <a:latin typeface="Helvetica"/>
                <a:cs typeface="Helvetica"/>
              </a:rPr>
              <a:t>Data</a:t>
            </a:r>
            <a:r>
              <a:rPr dirty="0" sz="2450" spc="-5" b="1">
                <a:latin typeface="Helvetica"/>
                <a:cs typeface="Helvetica"/>
              </a:rPr>
              <a:t> </a:t>
            </a:r>
            <a:r>
              <a:rPr dirty="0" sz="2450" spc="-10"/>
              <a:t>(ﬁles, </a:t>
            </a:r>
            <a:r>
              <a:rPr dirty="0" sz="2450"/>
              <a:t>databases)</a:t>
            </a:r>
            <a:r>
              <a:rPr dirty="0" sz="2450" spc="-35"/>
              <a:t> </a:t>
            </a:r>
            <a:r>
              <a:rPr dirty="0" sz="2450"/>
              <a:t>and</a:t>
            </a:r>
            <a:r>
              <a:rPr dirty="0" sz="2450" spc="-30"/>
              <a:t> </a:t>
            </a:r>
            <a:r>
              <a:rPr dirty="0" sz="2450" spc="-20" b="1">
                <a:latin typeface="Helvetica"/>
                <a:cs typeface="Helvetica"/>
              </a:rPr>
              <a:t>Tools</a:t>
            </a:r>
            <a:r>
              <a:rPr dirty="0" sz="2450" spc="-30" b="1">
                <a:latin typeface="Helvetica"/>
                <a:cs typeface="Helvetica"/>
              </a:rPr>
              <a:t> </a:t>
            </a:r>
            <a:r>
              <a:rPr dirty="0" sz="2450"/>
              <a:t>(functions,</a:t>
            </a:r>
            <a:r>
              <a:rPr dirty="0" sz="2450" spc="-155"/>
              <a:t> </a:t>
            </a:r>
            <a:r>
              <a:rPr dirty="0" sz="2450" spc="-10"/>
              <a:t>APIs).</a:t>
            </a:r>
            <a:endParaRPr sz="2450">
              <a:latin typeface="Helvetica"/>
              <a:cs typeface="Helvetica"/>
            </a:endParaRPr>
          </a:p>
          <a:p>
            <a:pPr marL="323850">
              <a:lnSpc>
                <a:spcPct val="100000"/>
              </a:lnSpc>
              <a:spcBef>
                <a:spcPts val="2180"/>
              </a:spcBef>
            </a:pPr>
            <a:r>
              <a:rPr dirty="0" sz="2450"/>
              <a:t>Decouples</a:t>
            </a:r>
            <a:r>
              <a:rPr dirty="0" sz="2450" spc="-25"/>
              <a:t> </a:t>
            </a:r>
            <a:r>
              <a:rPr dirty="0" sz="2450"/>
              <a:t>the</a:t>
            </a:r>
            <a:r>
              <a:rPr dirty="0" sz="2450" spc="-25"/>
              <a:t> </a:t>
            </a:r>
            <a:r>
              <a:rPr dirty="0" sz="2450" i="1">
                <a:latin typeface="Helvetica"/>
                <a:cs typeface="Helvetica"/>
              </a:rPr>
              <a:t>Model</a:t>
            </a:r>
            <a:r>
              <a:rPr dirty="0" sz="2450" spc="-20" i="1">
                <a:latin typeface="Helvetica"/>
                <a:cs typeface="Helvetica"/>
              </a:rPr>
              <a:t> </a:t>
            </a:r>
            <a:r>
              <a:rPr dirty="0" sz="2450"/>
              <a:t>from</a:t>
            </a:r>
            <a:r>
              <a:rPr dirty="0" sz="2450" spc="-25"/>
              <a:t> </a:t>
            </a:r>
            <a:r>
              <a:rPr dirty="0" sz="2450"/>
              <a:t>the</a:t>
            </a:r>
            <a:r>
              <a:rPr dirty="0" sz="2450" spc="-25"/>
              <a:t> </a:t>
            </a:r>
            <a:r>
              <a:rPr dirty="0" sz="2450" spc="-10" i="1">
                <a:latin typeface="Helvetica"/>
                <a:cs typeface="Helvetica"/>
              </a:rPr>
              <a:t>Context</a:t>
            </a:r>
            <a:r>
              <a:rPr dirty="0" sz="2450" spc="-10"/>
              <a:t>.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46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State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MCP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130549"/>
            <a:ext cx="7005320" cy="287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Since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its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launch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Nov</a:t>
            </a:r>
            <a:r>
              <a:rPr dirty="0" sz="1700" spc="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2024</a:t>
            </a:r>
            <a:r>
              <a:rPr dirty="0" sz="1700" spc="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by</a:t>
            </a:r>
            <a:r>
              <a:rPr dirty="0" sz="1700" spc="-9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Anthropic,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ecosystem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has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exploded.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787891"/>
            <a:ext cx="462280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State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MCP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3727570"/>
            <a:ext cx="64110" cy="6410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05216" y="4002330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5216" y="4414469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5216" y="482660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7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Since</a:t>
            </a:r>
            <a:r>
              <a:rPr dirty="0" spc="5"/>
              <a:t> </a:t>
            </a:r>
            <a:r>
              <a:rPr dirty="0"/>
              <a:t>its</a:t>
            </a:r>
            <a:r>
              <a:rPr dirty="0" spc="5"/>
              <a:t> </a:t>
            </a:r>
            <a:r>
              <a:rPr dirty="0"/>
              <a:t>launch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 b="1">
                <a:latin typeface="Helvetica"/>
                <a:cs typeface="Helvetica"/>
              </a:rPr>
              <a:t>Nov</a:t>
            </a:r>
            <a:r>
              <a:rPr dirty="0" spc="5" b="1">
                <a:latin typeface="Helvetica"/>
                <a:cs typeface="Helvetica"/>
              </a:rPr>
              <a:t> </a:t>
            </a:r>
            <a:r>
              <a:rPr dirty="0" b="1">
                <a:latin typeface="Helvetica"/>
                <a:cs typeface="Helvetica"/>
              </a:rPr>
              <a:t>2024</a:t>
            </a:r>
            <a:r>
              <a:rPr dirty="0" spc="10" b="1">
                <a:latin typeface="Helvetica"/>
                <a:cs typeface="Helvetica"/>
              </a:rPr>
              <a:t> </a:t>
            </a:r>
            <a:r>
              <a:rPr dirty="0"/>
              <a:t>by</a:t>
            </a:r>
            <a:r>
              <a:rPr dirty="0" spc="-90"/>
              <a:t> </a:t>
            </a:r>
            <a:r>
              <a:rPr dirty="0"/>
              <a:t>Anthropic,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ecosystem</a:t>
            </a:r>
            <a:r>
              <a:rPr dirty="0" spc="5"/>
              <a:t> </a:t>
            </a:r>
            <a:r>
              <a:rPr dirty="0"/>
              <a:t>has</a:t>
            </a:r>
            <a:r>
              <a:rPr dirty="0" spc="5"/>
              <a:t> </a:t>
            </a:r>
            <a:r>
              <a:rPr dirty="0" spc="-10"/>
              <a:t>exploded.</a:t>
            </a:r>
          </a:p>
          <a:p>
            <a:pPr marL="230504">
              <a:lnSpc>
                <a:spcPts val="2005"/>
              </a:lnSpc>
              <a:spcBef>
                <a:spcPts val="1640"/>
              </a:spcBef>
            </a:pPr>
            <a:r>
              <a:rPr dirty="0" b="1">
                <a:latin typeface="Helvetica"/>
                <a:cs typeface="Helvetica"/>
              </a:rPr>
              <a:t>2025 </a:t>
            </a:r>
            <a:r>
              <a:rPr dirty="0" spc="-10" b="1">
                <a:latin typeface="Helvetica"/>
                <a:cs typeface="Helvetica"/>
              </a:rPr>
              <a:t>Milestones</a:t>
            </a:r>
            <a:r>
              <a:rPr dirty="0" spc="-10"/>
              <a:t>:</a:t>
            </a:r>
          </a:p>
          <a:p>
            <a:pPr marL="596900">
              <a:lnSpc>
                <a:spcPts val="2065"/>
              </a:lnSpc>
            </a:pPr>
            <a:r>
              <a:rPr dirty="0" sz="1550"/>
              <a:t>OAuth</a:t>
            </a:r>
            <a:r>
              <a:rPr dirty="0" sz="1550" spc="-80"/>
              <a:t> </a:t>
            </a:r>
            <a:r>
              <a:rPr dirty="0" sz="1550" spc="-10"/>
              <a:t>2.1</a:t>
            </a:r>
            <a:r>
              <a:rPr dirty="0" sz="1550" spc="-100"/>
              <a:t> </a:t>
            </a:r>
            <a:r>
              <a:rPr dirty="0" sz="1550"/>
              <a:t>Authorization</a:t>
            </a:r>
            <a:r>
              <a:rPr dirty="0" sz="1550" spc="-50"/>
              <a:t> </a:t>
            </a:r>
            <a:r>
              <a:rPr dirty="0" sz="1550"/>
              <a:t>Framework</a:t>
            </a:r>
            <a:r>
              <a:rPr dirty="0" sz="1550" spc="-50"/>
              <a:t> </a:t>
            </a:r>
            <a:r>
              <a:rPr dirty="0" sz="1550"/>
              <a:t>(Security</a:t>
            </a:r>
            <a:r>
              <a:rPr dirty="0" sz="1550" spc="-50"/>
              <a:t> </a:t>
            </a:r>
            <a:r>
              <a:rPr dirty="0" sz="1750" spc="-25">
                <a:latin typeface="Apple Color Emoji"/>
                <a:cs typeface="Apple Color Emoji"/>
              </a:rPr>
              <a:t>🔒</a:t>
            </a:r>
            <a:r>
              <a:rPr dirty="0" sz="1550" spc="-25"/>
              <a:t>)</a:t>
            </a:r>
            <a:endParaRPr sz="1550">
              <a:latin typeface="Apple Color Emoji"/>
              <a:cs typeface="Apple Color Emoji"/>
            </a:endParaRPr>
          </a:p>
          <a:p>
            <a:pPr marL="596900">
              <a:lnSpc>
                <a:spcPct val="100000"/>
              </a:lnSpc>
              <a:spcBef>
                <a:spcPts val="1145"/>
              </a:spcBef>
            </a:pPr>
            <a:r>
              <a:rPr dirty="0" sz="1550"/>
              <a:t>Streamable</a:t>
            </a:r>
            <a:r>
              <a:rPr dirty="0" sz="1550" spc="-60"/>
              <a:t> </a:t>
            </a:r>
            <a:r>
              <a:rPr dirty="0" sz="1550"/>
              <a:t>HTTP</a:t>
            </a:r>
            <a:r>
              <a:rPr dirty="0" sz="1550" spc="-80"/>
              <a:t> </a:t>
            </a:r>
            <a:r>
              <a:rPr dirty="0" sz="1550"/>
              <a:t>&amp;</a:t>
            </a:r>
            <a:r>
              <a:rPr dirty="0" sz="1550" spc="-55"/>
              <a:t> </a:t>
            </a:r>
            <a:r>
              <a:rPr dirty="0" sz="1550"/>
              <a:t>Binary/Audio</a:t>
            </a:r>
            <a:r>
              <a:rPr dirty="0" sz="1550" spc="-55"/>
              <a:t> </a:t>
            </a:r>
            <a:r>
              <a:rPr dirty="0" sz="1550"/>
              <a:t>Support</a:t>
            </a:r>
            <a:r>
              <a:rPr dirty="0" sz="1550" spc="-55"/>
              <a:t> </a:t>
            </a:r>
            <a:r>
              <a:rPr dirty="0" sz="1750" spc="-50">
                <a:latin typeface="Apple Color Emoji"/>
                <a:cs typeface="Apple Color Emoji"/>
              </a:rPr>
              <a:t>🎧</a:t>
            </a:r>
            <a:endParaRPr sz="1750">
              <a:latin typeface="Apple Color Emoji"/>
              <a:cs typeface="Apple Color Emoji"/>
            </a:endParaRPr>
          </a:p>
          <a:p>
            <a:pPr marL="596900">
              <a:lnSpc>
                <a:spcPct val="100000"/>
              </a:lnSpc>
              <a:spcBef>
                <a:spcPts val="1145"/>
              </a:spcBef>
            </a:pPr>
            <a:r>
              <a:rPr dirty="0" sz="1550"/>
              <a:t>MCP</a:t>
            </a:r>
            <a:r>
              <a:rPr dirty="0" sz="1550" spc="-80"/>
              <a:t> </a:t>
            </a:r>
            <a:r>
              <a:rPr dirty="0" sz="1550"/>
              <a:t>Registry</a:t>
            </a:r>
            <a:r>
              <a:rPr dirty="0" sz="1550" spc="-55"/>
              <a:t> </a:t>
            </a:r>
            <a:r>
              <a:rPr dirty="0" sz="1550"/>
              <a:t>Launch</a:t>
            </a:r>
            <a:r>
              <a:rPr dirty="0" sz="1550" spc="-60"/>
              <a:t> </a:t>
            </a:r>
            <a:r>
              <a:rPr dirty="0" sz="1550"/>
              <a:t>(Discovery</a:t>
            </a:r>
            <a:r>
              <a:rPr dirty="0" sz="1550" spc="-55"/>
              <a:t> </a:t>
            </a:r>
            <a:r>
              <a:rPr dirty="0" sz="1750" spc="-25">
                <a:latin typeface="Apple Color Emoji"/>
                <a:cs typeface="Apple Color Emoji"/>
              </a:rPr>
              <a:t>🔍</a:t>
            </a:r>
            <a:r>
              <a:rPr dirty="0" sz="1550" spc="-25"/>
              <a:t>)</a:t>
            </a:r>
            <a:endParaRPr sz="1550">
              <a:latin typeface="Apple Color Emoji"/>
              <a:cs typeface="Apple Color Emoj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787891"/>
            <a:ext cx="462280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State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MCP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3727570"/>
            <a:ext cx="64110" cy="6410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05216" y="4002329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5216" y="441446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5216" y="482660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5266223"/>
            <a:ext cx="64110" cy="6410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05216" y="5540983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5216" y="5953122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7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Since</a:t>
            </a:r>
            <a:r>
              <a:rPr dirty="0" spc="5"/>
              <a:t> </a:t>
            </a:r>
            <a:r>
              <a:rPr dirty="0"/>
              <a:t>its</a:t>
            </a:r>
            <a:r>
              <a:rPr dirty="0" spc="5"/>
              <a:t> </a:t>
            </a:r>
            <a:r>
              <a:rPr dirty="0"/>
              <a:t>launch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 b="1">
                <a:latin typeface="Helvetica"/>
                <a:cs typeface="Helvetica"/>
              </a:rPr>
              <a:t>Nov</a:t>
            </a:r>
            <a:r>
              <a:rPr dirty="0" spc="5" b="1">
                <a:latin typeface="Helvetica"/>
                <a:cs typeface="Helvetica"/>
              </a:rPr>
              <a:t> </a:t>
            </a:r>
            <a:r>
              <a:rPr dirty="0" b="1">
                <a:latin typeface="Helvetica"/>
                <a:cs typeface="Helvetica"/>
              </a:rPr>
              <a:t>2024</a:t>
            </a:r>
            <a:r>
              <a:rPr dirty="0" spc="10" b="1">
                <a:latin typeface="Helvetica"/>
                <a:cs typeface="Helvetica"/>
              </a:rPr>
              <a:t> </a:t>
            </a:r>
            <a:r>
              <a:rPr dirty="0"/>
              <a:t>by</a:t>
            </a:r>
            <a:r>
              <a:rPr dirty="0" spc="-90"/>
              <a:t> </a:t>
            </a:r>
            <a:r>
              <a:rPr dirty="0"/>
              <a:t>Anthropic,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ecosystem</a:t>
            </a:r>
            <a:r>
              <a:rPr dirty="0" spc="5"/>
              <a:t> </a:t>
            </a:r>
            <a:r>
              <a:rPr dirty="0"/>
              <a:t>has</a:t>
            </a:r>
            <a:r>
              <a:rPr dirty="0" spc="5"/>
              <a:t> </a:t>
            </a:r>
            <a:r>
              <a:rPr dirty="0" spc="-10"/>
              <a:t>exploded.</a:t>
            </a:r>
          </a:p>
          <a:p>
            <a:pPr marL="230504">
              <a:lnSpc>
                <a:spcPts val="2005"/>
              </a:lnSpc>
              <a:spcBef>
                <a:spcPts val="1640"/>
              </a:spcBef>
            </a:pPr>
            <a:r>
              <a:rPr dirty="0" b="1">
                <a:latin typeface="Helvetica"/>
                <a:cs typeface="Helvetica"/>
              </a:rPr>
              <a:t>2025 </a:t>
            </a:r>
            <a:r>
              <a:rPr dirty="0" spc="-10" b="1">
                <a:latin typeface="Helvetica"/>
                <a:cs typeface="Helvetica"/>
              </a:rPr>
              <a:t>Milestones</a:t>
            </a:r>
            <a:r>
              <a:rPr dirty="0" spc="-10"/>
              <a:t>:</a:t>
            </a:r>
          </a:p>
          <a:p>
            <a:pPr marL="596900">
              <a:lnSpc>
                <a:spcPts val="2065"/>
              </a:lnSpc>
            </a:pPr>
            <a:r>
              <a:rPr dirty="0" sz="1550"/>
              <a:t>OAuth</a:t>
            </a:r>
            <a:r>
              <a:rPr dirty="0" sz="1550" spc="-80"/>
              <a:t> </a:t>
            </a:r>
            <a:r>
              <a:rPr dirty="0" sz="1550" spc="-10"/>
              <a:t>2.1</a:t>
            </a:r>
            <a:r>
              <a:rPr dirty="0" sz="1550" spc="-100"/>
              <a:t> </a:t>
            </a:r>
            <a:r>
              <a:rPr dirty="0" sz="1550"/>
              <a:t>Authorization</a:t>
            </a:r>
            <a:r>
              <a:rPr dirty="0" sz="1550" spc="-50"/>
              <a:t> </a:t>
            </a:r>
            <a:r>
              <a:rPr dirty="0" sz="1550"/>
              <a:t>Framework</a:t>
            </a:r>
            <a:r>
              <a:rPr dirty="0" sz="1550" spc="-50"/>
              <a:t> </a:t>
            </a:r>
            <a:r>
              <a:rPr dirty="0" sz="1550"/>
              <a:t>(Security</a:t>
            </a:r>
            <a:r>
              <a:rPr dirty="0" sz="1550" spc="-50"/>
              <a:t> </a:t>
            </a:r>
            <a:r>
              <a:rPr dirty="0" sz="1750" spc="-25">
                <a:latin typeface="Apple Color Emoji"/>
                <a:cs typeface="Apple Color Emoji"/>
              </a:rPr>
              <a:t>🔒</a:t>
            </a:r>
            <a:r>
              <a:rPr dirty="0" sz="1550" spc="-25"/>
              <a:t>)</a:t>
            </a:r>
            <a:endParaRPr sz="1550">
              <a:latin typeface="Apple Color Emoji"/>
              <a:cs typeface="Apple Color Emoji"/>
            </a:endParaRPr>
          </a:p>
          <a:p>
            <a:pPr marL="596900">
              <a:lnSpc>
                <a:spcPct val="100000"/>
              </a:lnSpc>
              <a:spcBef>
                <a:spcPts val="1145"/>
              </a:spcBef>
            </a:pPr>
            <a:r>
              <a:rPr dirty="0" sz="1550"/>
              <a:t>Streamable</a:t>
            </a:r>
            <a:r>
              <a:rPr dirty="0" sz="1550" spc="-60"/>
              <a:t> </a:t>
            </a:r>
            <a:r>
              <a:rPr dirty="0" sz="1550"/>
              <a:t>HTTP</a:t>
            </a:r>
            <a:r>
              <a:rPr dirty="0" sz="1550" spc="-80"/>
              <a:t> </a:t>
            </a:r>
            <a:r>
              <a:rPr dirty="0" sz="1550"/>
              <a:t>&amp;</a:t>
            </a:r>
            <a:r>
              <a:rPr dirty="0" sz="1550" spc="-55"/>
              <a:t> </a:t>
            </a:r>
            <a:r>
              <a:rPr dirty="0" sz="1550"/>
              <a:t>Binary/Audio</a:t>
            </a:r>
            <a:r>
              <a:rPr dirty="0" sz="1550" spc="-55"/>
              <a:t> </a:t>
            </a:r>
            <a:r>
              <a:rPr dirty="0" sz="1550"/>
              <a:t>Support</a:t>
            </a:r>
            <a:r>
              <a:rPr dirty="0" sz="1550" spc="-55"/>
              <a:t> </a:t>
            </a:r>
            <a:r>
              <a:rPr dirty="0" sz="1750" spc="-50">
                <a:latin typeface="Apple Color Emoji"/>
                <a:cs typeface="Apple Color Emoji"/>
              </a:rPr>
              <a:t>🎧</a:t>
            </a:r>
            <a:endParaRPr sz="1750">
              <a:latin typeface="Apple Color Emoji"/>
              <a:cs typeface="Apple Color Emoji"/>
            </a:endParaRPr>
          </a:p>
          <a:p>
            <a:pPr marL="596900">
              <a:lnSpc>
                <a:spcPct val="100000"/>
              </a:lnSpc>
              <a:spcBef>
                <a:spcPts val="1145"/>
              </a:spcBef>
            </a:pPr>
            <a:r>
              <a:rPr dirty="0" sz="1550"/>
              <a:t>MCP</a:t>
            </a:r>
            <a:r>
              <a:rPr dirty="0" sz="1550" spc="-80"/>
              <a:t> </a:t>
            </a:r>
            <a:r>
              <a:rPr dirty="0" sz="1550"/>
              <a:t>Registry</a:t>
            </a:r>
            <a:r>
              <a:rPr dirty="0" sz="1550" spc="-55"/>
              <a:t> </a:t>
            </a:r>
            <a:r>
              <a:rPr dirty="0" sz="1550"/>
              <a:t>Launch</a:t>
            </a:r>
            <a:r>
              <a:rPr dirty="0" sz="1550" spc="-60"/>
              <a:t> </a:t>
            </a:r>
            <a:r>
              <a:rPr dirty="0" sz="1550"/>
              <a:t>(Discovery</a:t>
            </a:r>
            <a:r>
              <a:rPr dirty="0" sz="1550" spc="-55"/>
              <a:t> </a:t>
            </a:r>
            <a:r>
              <a:rPr dirty="0" sz="1750" spc="-25">
                <a:latin typeface="Apple Color Emoji"/>
                <a:cs typeface="Apple Color Emoji"/>
              </a:rPr>
              <a:t>🔍</a:t>
            </a:r>
            <a:r>
              <a:rPr dirty="0" sz="1550" spc="-25"/>
              <a:t>)</a:t>
            </a:r>
            <a:endParaRPr sz="1550">
              <a:latin typeface="Apple Color Emoji"/>
              <a:cs typeface="Apple Color Emoji"/>
            </a:endParaRPr>
          </a:p>
          <a:p>
            <a:pPr marL="230504">
              <a:lnSpc>
                <a:spcPct val="100000"/>
              </a:lnSpc>
              <a:spcBef>
                <a:spcPts val="1555"/>
              </a:spcBef>
            </a:pPr>
            <a:r>
              <a:rPr dirty="0" spc="-10" b="1">
                <a:latin typeface="Helvetica"/>
                <a:cs typeface="Helvetica"/>
              </a:rPr>
              <a:t>Adoption</a:t>
            </a:r>
            <a:r>
              <a:rPr dirty="0" spc="-10"/>
              <a:t>:</a:t>
            </a:r>
          </a:p>
          <a:p>
            <a:pPr marL="596900">
              <a:lnSpc>
                <a:spcPct val="100000"/>
              </a:lnSpc>
              <a:spcBef>
                <a:spcPts val="130"/>
              </a:spcBef>
            </a:pPr>
            <a:r>
              <a:rPr dirty="0" sz="1550"/>
              <a:t>Integrated</a:t>
            </a:r>
            <a:r>
              <a:rPr dirty="0" sz="1550" spc="-50"/>
              <a:t> </a:t>
            </a:r>
            <a:r>
              <a:rPr dirty="0" sz="1550"/>
              <a:t>into</a:t>
            </a:r>
            <a:r>
              <a:rPr dirty="0" sz="1550" spc="-50"/>
              <a:t> </a:t>
            </a:r>
            <a:r>
              <a:rPr dirty="0" sz="1550"/>
              <a:t>Microsoft</a:t>
            </a:r>
            <a:r>
              <a:rPr dirty="0" sz="1550" spc="-45"/>
              <a:t> </a:t>
            </a:r>
            <a:r>
              <a:rPr dirty="0" sz="1550"/>
              <a:t>Copilot</a:t>
            </a:r>
            <a:r>
              <a:rPr dirty="0" sz="1550" spc="-50"/>
              <a:t> </a:t>
            </a:r>
            <a:r>
              <a:rPr dirty="0" sz="1550"/>
              <a:t>Studio,</a:t>
            </a:r>
            <a:r>
              <a:rPr dirty="0" sz="1550" spc="-50"/>
              <a:t> </a:t>
            </a:r>
            <a:r>
              <a:rPr dirty="0" sz="1550"/>
              <a:t>Claude,</a:t>
            </a:r>
            <a:r>
              <a:rPr dirty="0" sz="1550" spc="-45"/>
              <a:t> </a:t>
            </a:r>
            <a:r>
              <a:rPr dirty="0" sz="1550"/>
              <a:t>and</a:t>
            </a:r>
            <a:r>
              <a:rPr dirty="0" sz="1550" spc="-50"/>
              <a:t> </a:t>
            </a:r>
            <a:r>
              <a:rPr dirty="0" sz="1550" spc="-10"/>
              <a:t>more.</a:t>
            </a:r>
            <a:endParaRPr sz="1550"/>
          </a:p>
          <a:p>
            <a:pPr marL="596900">
              <a:lnSpc>
                <a:spcPct val="100000"/>
              </a:lnSpc>
              <a:spcBef>
                <a:spcPts val="1385"/>
              </a:spcBef>
            </a:pPr>
            <a:r>
              <a:rPr dirty="0" sz="1550"/>
              <a:t>Donated</a:t>
            </a:r>
            <a:r>
              <a:rPr dirty="0" sz="1550" spc="-45"/>
              <a:t> </a:t>
            </a:r>
            <a:r>
              <a:rPr dirty="0" sz="1550"/>
              <a:t>to</a:t>
            </a:r>
            <a:r>
              <a:rPr dirty="0" sz="1550" spc="-35"/>
              <a:t> </a:t>
            </a:r>
            <a:r>
              <a:rPr dirty="0" sz="1550"/>
              <a:t>the</a:t>
            </a:r>
            <a:r>
              <a:rPr dirty="0" sz="1550" spc="-30"/>
              <a:t> </a:t>
            </a:r>
            <a:r>
              <a:rPr dirty="0" sz="1550" b="1">
                <a:latin typeface="Helvetica"/>
                <a:cs typeface="Helvetica"/>
              </a:rPr>
              <a:t>Linux</a:t>
            </a:r>
            <a:r>
              <a:rPr dirty="0" sz="1550" spc="-30" b="1">
                <a:latin typeface="Helvetica"/>
                <a:cs typeface="Helvetica"/>
              </a:rPr>
              <a:t> </a:t>
            </a:r>
            <a:r>
              <a:rPr dirty="0" sz="1550" b="1">
                <a:latin typeface="Helvetica"/>
                <a:cs typeface="Helvetica"/>
              </a:rPr>
              <a:t>Foundation</a:t>
            </a:r>
            <a:r>
              <a:rPr dirty="0" sz="1550" spc="-30" b="1">
                <a:latin typeface="Helvetica"/>
                <a:cs typeface="Helvetica"/>
              </a:rPr>
              <a:t> </a:t>
            </a:r>
            <a:r>
              <a:rPr dirty="0" sz="1550" spc="-10"/>
              <a:t>(Agentic</a:t>
            </a:r>
            <a:r>
              <a:rPr dirty="0" sz="1550" spc="-95"/>
              <a:t> </a:t>
            </a:r>
            <a:r>
              <a:rPr dirty="0" sz="1550"/>
              <a:t>AI</a:t>
            </a:r>
            <a:r>
              <a:rPr dirty="0" sz="1550" spc="-30"/>
              <a:t> </a:t>
            </a:r>
            <a:r>
              <a:rPr dirty="0" sz="1550" spc="-10"/>
              <a:t>Foundation).</a:t>
            </a:r>
            <a:endParaRPr sz="15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787891"/>
            <a:ext cx="462280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State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MCP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3727569"/>
            <a:ext cx="64110" cy="6410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05216" y="4002329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5216" y="441446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5216" y="482660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5266223"/>
            <a:ext cx="64110" cy="6410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05216" y="5540983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5216" y="5953122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552" y="6383579"/>
            <a:ext cx="64110" cy="6410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0376" y="3130549"/>
            <a:ext cx="7005320" cy="34105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Since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its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launch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Nov</a:t>
            </a:r>
            <a:r>
              <a:rPr dirty="0" sz="1700" spc="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2024</a:t>
            </a:r>
            <a:r>
              <a:rPr dirty="0" sz="1700" spc="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by</a:t>
            </a:r>
            <a:r>
              <a:rPr dirty="0" sz="1700" spc="-9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Anthropic,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ecosystem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has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exploded.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ts val="2005"/>
              </a:lnSpc>
              <a:spcBef>
                <a:spcPts val="164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2025 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Milestones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endParaRPr sz="1700">
              <a:latin typeface="Helvetica"/>
              <a:cs typeface="Helvetica"/>
            </a:endParaRPr>
          </a:p>
          <a:p>
            <a:pPr marL="596900">
              <a:lnSpc>
                <a:spcPts val="2065"/>
              </a:lnSpc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OAuth</a:t>
            </a:r>
            <a:r>
              <a:rPr dirty="0" sz="1550" spc="-8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2.1</a:t>
            </a:r>
            <a:r>
              <a:rPr dirty="0" sz="1550" spc="-10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Authorization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Framework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(Security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50" spc="-25">
                <a:solidFill>
                  <a:srgbClr val="1D293B"/>
                </a:solidFill>
                <a:latin typeface="Apple Color Emoji"/>
                <a:cs typeface="Apple Color Emoji"/>
              </a:rPr>
              <a:t>🔒</a:t>
            </a:r>
            <a:r>
              <a:rPr dirty="0" sz="1550" spc="-25">
                <a:solidFill>
                  <a:srgbClr val="1D293B"/>
                </a:solidFill>
                <a:latin typeface="Helvetica"/>
                <a:cs typeface="Helvetica"/>
              </a:rPr>
              <a:t>)</a:t>
            </a:r>
            <a:endParaRPr sz="1550">
              <a:latin typeface="Helvetica"/>
              <a:cs typeface="Helvetica"/>
            </a:endParaRPr>
          </a:p>
          <a:p>
            <a:pPr marL="596900">
              <a:lnSpc>
                <a:spcPct val="100000"/>
              </a:lnSpc>
              <a:spcBef>
                <a:spcPts val="1145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Streamable</a:t>
            </a:r>
            <a:r>
              <a:rPr dirty="0" sz="15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HTTP</a:t>
            </a:r>
            <a:r>
              <a:rPr dirty="0" sz="1550" spc="-8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550" spc="-5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Binary/Audio</a:t>
            </a:r>
            <a:r>
              <a:rPr dirty="0" sz="1550" spc="-5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Support</a:t>
            </a:r>
            <a:r>
              <a:rPr dirty="0" sz="1550" spc="-5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50" spc="-50">
                <a:solidFill>
                  <a:srgbClr val="1D293B"/>
                </a:solidFill>
                <a:latin typeface="Apple Color Emoji"/>
                <a:cs typeface="Apple Color Emoji"/>
              </a:rPr>
              <a:t>🎧</a:t>
            </a:r>
            <a:endParaRPr sz="1750">
              <a:latin typeface="Apple Color Emoji"/>
              <a:cs typeface="Apple Color Emoji"/>
            </a:endParaRPr>
          </a:p>
          <a:p>
            <a:pPr marL="596900">
              <a:lnSpc>
                <a:spcPct val="100000"/>
              </a:lnSpc>
              <a:spcBef>
                <a:spcPts val="1145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1550" spc="-8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Registry</a:t>
            </a:r>
            <a:r>
              <a:rPr dirty="0" sz="1550" spc="-5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Launch</a:t>
            </a:r>
            <a:r>
              <a:rPr dirty="0" sz="15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(Discovery</a:t>
            </a:r>
            <a:r>
              <a:rPr dirty="0" sz="1550" spc="-5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50" spc="-25">
                <a:solidFill>
                  <a:srgbClr val="1D293B"/>
                </a:solidFill>
                <a:latin typeface="Apple Color Emoji"/>
                <a:cs typeface="Apple Color Emoji"/>
              </a:rPr>
              <a:t>🔍</a:t>
            </a:r>
            <a:r>
              <a:rPr dirty="0" sz="1550" spc="-25">
                <a:solidFill>
                  <a:srgbClr val="1D293B"/>
                </a:solidFill>
                <a:latin typeface="Helvetica"/>
                <a:cs typeface="Helvetica"/>
              </a:rPr>
              <a:t>)</a:t>
            </a:r>
            <a:endParaRPr sz="155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55"/>
              </a:spcBef>
            </a:pP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Adoption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endParaRPr sz="1700">
              <a:latin typeface="Helvetica"/>
              <a:cs typeface="Helvetica"/>
            </a:endParaRPr>
          </a:p>
          <a:p>
            <a:pPr marL="59690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Integrated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into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Microsoft</a:t>
            </a:r>
            <a:r>
              <a:rPr dirty="0" sz="1550" spc="-4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Copilot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Studio,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Claude,</a:t>
            </a:r>
            <a:r>
              <a:rPr dirty="0" sz="1550" spc="-4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and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more.</a:t>
            </a:r>
            <a:endParaRPr sz="1550">
              <a:latin typeface="Helvetica"/>
              <a:cs typeface="Helvetica"/>
            </a:endParaRPr>
          </a:p>
          <a:p>
            <a:pPr marL="596900">
              <a:lnSpc>
                <a:spcPct val="100000"/>
              </a:lnSpc>
              <a:spcBef>
                <a:spcPts val="1385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Donated</a:t>
            </a:r>
            <a:r>
              <a:rPr dirty="0" sz="1550" spc="-4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15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15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b="1">
                <a:solidFill>
                  <a:srgbClr val="1D293B"/>
                </a:solidFill>
                <a:latin typeface="Helvetica"/>
                <a:cs typeface="Helvetica"/>
              </a:rPr>
              <a:t>Linux</a:t>
            </a:r>
            <a:r>
              <a:rPr dirty="0" sz="1550" spc="-3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b="1">
                <a:solidFill>
                  <a:srgbClr val="1D293B"/>
                </a:solidFill>
                <a:latin typeface="Helvetica"/>
                <a:cs typeface="Helvetica"/>
              </a:rPr>
              <a:t>Foundation</a:t>
            </a:r>
            <a:r>
              <a:rPr dirty="0" sz="1550" spc="-3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(Agentic</a:t>
            </a:r>
            <a:r>
              <a:rPr dirty="0" sz="1550" spc="-9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15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Foundation).</a:t>
            </a:r>
            <a:endParaRPr sz="155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2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Projection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$1.8B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market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by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end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of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2025.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705463"/>
            <a:ext cx="10537825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15"/>
              <a:t> </a:t>
            </a:r>
            <a:r>
              <a:rPr dirty="0"/>
              <a:t>Do</a:t>
            </a:r>
            <a:r>
              <a:rPr dirty="0" spc="-10"/>
              <a:t> </a:t>
            </a:r>
            <a:r>
              <a:rPr dirty="0"/>
              <a:t>We</a:t>
            </a:r>
            <a:r>
              <a:rPr dirty="0" spc="-15"/>
              <a:t> </a:t>
            </a:r>
            <a:r>
              <a:rPr dirty="0"/>
              <a:t>Need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10"/>
              <a:t> Manager?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037131"/>
            <a:ext cx="393065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2850" spc="1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"Conﬁguration</a:t>
            </a:r>
            <a:r>
              <a:rPr dirty="0" sz="2850" spc="12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Hell"</a:t>
            </a:r>
            <a:endParaRPr sz="28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7701" y="5583237"/>
            <a:ext cx="33147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One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ﬁle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down,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6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to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go...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3727450"/>
            <a:ext cx="6815455" cy="1932939"/>
            <a:chOff x="457200" y="3727450"/>
            <a:chExt cx="6815455" cy="1932939"/>
          </a:xfrm>
        </p:grpSpPr>
        <p:sp>
          <p:nvSpPr>
            <p:cNvPr id="6" name="object 6"/>
            <p:cNvSpPr/>
            <p:nvPr/>
          </p:nvSpPr>
          <p:spPr>
            <a:xfrm>
              <a:off x="457187" y="3727449"/>
              <a:ext cx="6815455" cy="1932939"/>
            </a:xfrm>
            <a:custGeom>
              <a:avLst/>
              <a:gdLst/>
              <a:ahLst/>
              <a:cxnLst/>
              <a:rect l="l" t="t" r="r" b="b"/>
              <a:pathLst>
                <a:path w="6815455" h="1932939">
                  <a:moveTo>
                    <a:pt x="6815328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0" y="1694180"/>
                  </a:lnTo>
                  <a:lnTo>
                    <a:pt x="0" y="1932940"/>
                  </a:lnTo>
                  <a:lnTo>
                    <a:pt x="6815328" y="1932940"/>
                  </a:lnTo>
                  <a:lnTo>
                    <a:pt x="6815328" y="1694472"/>
                  </a:lnTo>
                  <a:lnTo>
                    <a:pt x="6815328" y="1694180"/>
                  </a:lnTo>
                  <a:lnTo>
                    <a:pt x="6815328" y="146659"/>
                  </a:lnTo>
                  <a:lnTo>
                    <a:pt x="6622440" y="146659"/>
                  </a:lnTo>
                  <a:lnTo>
                    <a:pt x="6622440" y="1694180"/>
                  </a:lnTo>
                  <a:lnTo>
                    <a:pt x="193065" y="1694180"/>
                  </a:lnTo>
                  <a:lnTo>
                    <a:pt x="193065" y="146050"/>
                  </a:lnTo>
                  <a:lnTo>
                    <a:pt x="6815328" y="14605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0264" y="3874108"/>
              <a:ext cx="6429375" cy="1548130"/>
            </a:xfrm>
            <a:custGeom>
              <a:avLst/>
              <a:gdLst/>
              <a:ahLst/>
              <a:cxnLst/>
              <a:rect l="l" t="t" r="r" b="b"/>
              <a:pathLst>
                <a:path w="6429375" h="1548129">
                  <a:moveTo>
                    <a:pt x="6429374" y="1547812"/>
                  </a:moveTo>
                  <a:lnTo>
                    <a:pt x="0" y="1547812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547812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0264" y="3888886"/>
            <a:ext cx="6429375" cy="1485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35"/>
              </a:spcBef>
            </a:pPr>
            <a:r>
              <a:rPr dirty="0" sz="1550" spc="52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550" spc="85">
                <a:solidFill>
                  <a:srgbClr val="74705D"/>
                </a:solidFill>
                <a:latin typeface="Times New Roman"/>
                <a:cs typeface="Times New Roman"/>
              </a:rPr>
              <a:t>  </a:t>
            </a:r>
            <a:r>
              <a:rPr dirty="0" sz="1550" spc="265">
                <a:solidFill>
                  <a:srgbClr val="74705D"/>
                </a:solidFill>
                <a:latin typeface="Times New Roman"/>
                <a:cs typeface="Times New Roman"/>
              </a:rPr>
              <a:t>claude_desktop_config.json</a:t>
            </a:r>
            <a:endParaRPr sz="15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85"/>
              </a:spcBef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550">
              <a:latin typeface="Times New Roman"/>
              <a:cs typeface="Times New Roman"/>
            </a:endParaRPr>
          </a:p>
          <a:p>
            <a:pPr marL="528955" marR="4199255" indent="-241935">
              <a:lnSpc>
                <a:spcPts val="1950"/>
              </a:lnSpc>
              <a:spcBef>
                <a:spcPts val="5"/>
              </a:spcBef>
            </a:pPr>
            <a:r>
              <a:rPr dirty="0" sz="1550" spc="254">
                <a:solidFill>
                  <a:srgbClr val="DDDDDD"/>
                </a:solidFill>
                <a:latin typeface="Times New Roman"/>
                <a:cs typeface="Times New Roman"/>
              </a:rPr>
              <a:t>"mcpServers":</a:t>
            </a:r>
            <a:r>
              <a:rPr dirty="0" sz="1550" spc="105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{ </a:t>
            </a:r>
            <a:r>
              <a:rPr dirty="0" sz="1550" spc="395">
                <a:solidFill>
                  <a:srgbClr val="DDDDDD"/>
                </a:solidFill>
                <a:latin typeface="Times New Roman"/>
                <a:cs typeface="Times New Roman"/>
              </a:rPr>
              <a:t>"git":</a:t>
            </a:r>
            <a:r>
              <a:rPr dirty="0" sz="1550" spc="85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9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r>
              <a:rPr dirty="0" sz="1550" spc="90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560">
                <a:solidFill>
                  <a:srgbClr val="DDDDDD"/>
                </a:solidFill>
                <a:latin typeface="Times New Roman"/>
                <a:cs typeface="Times New Roman"/>
              </a:rPr>
              <a:t>...</a:t>
            </a:r>
            <a:r>
              <a:rPr dirty="0" sz="1550" spc="90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  <a:p>
            <a:pPr marL="287020">
              <a:lnSpc>
                <a:spcPts val="1789"/>
              </a:lnSpc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90"/>
              </a:spcBef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705463"/>
            <a:ext cx="10537825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15"/>
              <a:t> </a:t>
            </a:r>
            <a:r>
              <a:rPr dirty="0"/>
              <a:t>Do</a:t>
            </a:r>
            <a:r>
              <a:rPr dirty="0" spc="-10"/>
              <a:t> </a:t>
            </a:r>
            <a:r>
              <a:rPr dirty="0"/>
              <a:t>We</a:t>
            </a:r>
            <a:r>
              <a:rPr dirty="0" spc="-15"/>
              <a:t> </a:t>
            </a:r>
            <a:r>
              <a:rPr dirty="0"/>
              <a:t>Need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10"/>
              <a:t> Manager?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037131"/>
            <a:ext cx="393065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2850" spc="1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"Conﬁguration</a:t>
            </a:r>
            <a:r>
              <a:rPr dirty="0" sz="2850" spc="12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Hell"</a:t>
            </a:r>
            <a:endParaRPr sz="28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7701" y="5583237"/>
            <a:ext cx="33147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One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ﬁle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down,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6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to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go...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3727450"/>
            <a:ext cx="6815455" cy="1932939"/>
            <a:chOff x="457200" y="3727450"/>
            <a:chExt cx="6815455" cy="1932939"/>
          </a:xfrm>
        </p:grpSpPr>
        <p:sp>
          <p:nvSpPr>
            <p:cNvPr id="6" name="object 6"/>
            <p:cNvSpPr/>
            <p:nvPr/>
          </p:nvSpPr>
          <p:spPr>
            <a:xfrm>
              <a:off x="457187" y="3727449"/>
              <a:ext cx="6815455" cy="1932939"/>
            </a:xfrm>
            <a:custGeom>
              <a:avLst/>
              <a:gdLst/>
              <a:ahLst/>
              <a:cxnLst/>
              <a:rect l="l" t="t" r="r" b="b"/>
              <a:pathLst>
                <a:path w="6815455" h="1932939">
                  <a:moveTo>
                    <a:pt x="6815328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0" y="1694180"/>
                  </a:lnTo>
                  <a:lnTo>
                    <a:pt x="0" y="1932940"/>
                  </a:lnTo>
                  <a:lnTo>
                    <a:pt x="6815328" y="1932940"/>
                  </a:lnTo>
                  <a:lnTo>
                    <a:pt x="6815328" y="1694472"/>
                  </a:lnTo>
                  <a:lnTo>
                    <a:pt x="6815328" y="1694180"/>
                  </a:lnTo>
                  <a:lnTo>
                    <a:pt x="6815328" y="146659"/>
                  </a:lnTo>
                  <a:lnTo>
                    <a:pt x="6622440" y="146659"/>
                  </a:lnTo>
                  <a:lnTo>
                    <a:pt x="6622440" y="1694180"/>
                  </a:lnTo>
                  <a:lnTo>
                    <a:pt x="193065" y="1694180"/>
                  </a:lnTo>
                  <a:lnTo>
                    <a:pt x="193065" y="146050"/>
                  </a:lnTo>
                  <a:lnTo>
                    <a:pt x="6815328" y="14605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0264" y="3874107"/>
              <a:ext cx="6429375" cy="1548130"/>
            </a:xfrm>
            <a:custGeom>
              <a:avLst/>
              <a:gdLst/>
              <a:ahLst/>
              <a:cxnLst/>
              <a:rect l="l" t="t" r="r" b="b"/>
              <a:pathLst>
                <a:path w="6429375" h="1548129">
                  <a:moveTo>
                    <a:pt x="6429374" y="1547812"/>
                  </a:moveTo>
                  <a:lnTo>
                    <a:pt x="0" y="1547812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547812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0264" y="3888886"/>
            <a:ext cx="6429375" cy="1485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35"/>
              </a:spcBef>
            </a:pPr>
            <a:r>
              <a:rPr dirty="0" sz="1550" spc="52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550" spc="85">
                <a:solidFill>
                  <a:srgbClr val="74705D"/>
                </a:solidFill>
                <a:latin typeface="Times New Roman"/>
                <a:cs typeface="Times New Roman"/>
              </a:rPr>
              <a:t>  </a:t>
            </a:r>
            <a:r>
              <a:rPr dirty="0" sz="1550" spc="265">
                <a:solidFill>
                  <a:srgbClr val="74705D"/>
                </a:solidFill>
                <a:latin typeface="Times New Roman"/>
                <a:cs typeface="Times New Roman"/>
              </a:rPr>
              <a:t>claude_desktop_config.json</a:t>
            </a:r>
            <a:endParaRPr sz="15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85"/>
              </a:spcBef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550">
              <a:latin typeface="Times New Roman"/>
              <a:cs typeface="Times New Roman"/>
            </a:endParaRPr>
          </a:p>
          <a:p>
            <a:pPr marL="528955" marR="4199255" indent="-241935">
              <a:lnSpc>
                <a:spcPts val="1950"/>
              </a:lnSpc>
              <a:spcBef>
                <a:spcPts val="5"/>
              </a:spcBef>
            </a:pPr>
            <a:r>
              <a:rPr dirty="0" sz="1550" spc="254">
                <a:solidFill>
                  <a:srgbClr val="DDDDDD"/>
                </a:solidFill>
                <a:latin typeface="Times New Roman"/>
                <a:cs typeface="Times New Roman"/>
              </a:rPr>
              <a:t>"mcpServers":</a:t>
            </a:r>
            <a:r>
              <a:rPr dirty="0" sz="1550" spc="105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{ </a:t>
            </a:r>
            <a:r>
              <a:rPr dirty="0" sz="1550" spc="395">
                <a:solidFill>
                  <a:srgbClr val="DDDDDD"/>
                </a:solidFill>
                <a:latin typeface="Times New Roman"/>
                <a:cs typeface="Times New Roman"/>
              </a:rPr>
              <a:t>"git":</a:t>
            </a:r>
            <a:r>
              <a:rPr dirty="0" sz="1550" spc="85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9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r>
              <a:rPr dirty="0" sz="1550" spc="90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560">
                <a:solidFill>
                  <a:srgbClr val="DDDDDD"/>
                </a:solidFill>
                <a:latin typeface="Times New Roman"/>
                <a:cs typeface="Times New Roman"/>
              </a:rPr>
              <a:t>...</a:t>
            </a:r>
            <a:r>
              <a:rPr dirty="0" sz="1550" spc="90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  <a:p>
            <a:pPr marL="287020">
              <a:lnSpc>
                <a:spcPts val="1789"/>
              </a:lnSpc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90"/>
              </a:spcBef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647" y="3800838"/>
            <a:ext cx="64111" cy="641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215311" y="407559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08420" y="3652390"/>
            <a:ext cx="2835275" cy="55816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3</a:t>
            </a:r>
            <a:r>
              <a:rPr dirty="0" sz="1700" spc="2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Different</a:t>
            </a:r>
            <a:r>
              <a:rPr dirty="0" sz="1700" spc="2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700" spc="2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Conﬁgs:</a:t>
            </a:r>
            <a:endParaRPr sz="1700">
              <a:latin typeface="Helvetica"/>
              <a:cs typeface="Helvetica"/>
            </a:endParaRPr>
          </a:p>
          <a:p>
            <a:pPr marL="37846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5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Desktop</a:t>
            </a:r>
            <a:endParaRPr sz="1550">
              <a:latin typeface="Helvetica"/>
              <a:cs typeface="Helvetic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15311" y="4487737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374766" y="4361289"/>
            <a:ext cx="166116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Code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20">
                <a:solidFill>
                  <a:srgbClr val="1D293B"/>
                </a:solidFill>
                <a:latin typeface="Helvetica"/>
                <a:cs typeface="Helvetica"/>
              </a:rPr>
              <a:t>(CLI)</a:t>
            </a:r>
            <a:endParaRPr sz="1550">
              <a:latin typeface="Helvetica"/>
              <a:cs typeface="Helvetic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15311" y="4899876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374766" y="4773429"/>
            <a:ext cx="17703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5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5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VS</a:t>
            </a:r>
            <a:r>
              <a:rPr dirty="0" sz="15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20">
                <a:solidFill>
                  <a:srgbClr val="1D293B"/>
                </a:solidFill>
                <a:latin typeface="Helvetica"/>
                <a:cs typeface="Helvetica"/>
              </a:rPr>
              <a:t>Code</a:t>
            </a:r>
            <a:endParaRPr sz="15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705463"/>
            <a:ext cx="10537825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15"/>
              <a:t> </a:t>
            </a:r>
            <a:r>
              <a:rPr dirty="0"/>
              <a:t>Do</a:t>
            </a:r>
            <a:r>
              <a:rPr dirty="0" spc="-10"/>
              <a:t> </a:t>
            </a:r>
            <a:r>
              <a:rPr dirty="0"/>
              <a:t>We</a:t>
            </a:r>
            <a:r>
              <a:rPr dirty="0" spc="-15"/>
              <a:t> </a:t>
            </a:r>
            <a:r>
              <a:rPr dirty="0"/>
              <a:t>Need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10"/>
              <a:t> Manager?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037131"/>
            <a:ext cx="393065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2850" spc="1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"Conﬁguration</a:t>
            </a:r>
            <a:r>
              <a:rPr dirty="0" sz="2850" spc="12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Hell"</a:t>
            </a:r>
            <a:endParaRPr sz="28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7701" y="5583237"/>
            <a:ext cx="33147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One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ﬁle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down,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6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to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go...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3727450"/>
            <a:ext cx="6815455" cy="1932939"/>
            <a:chOff x="457200" y="3727450"/>
            <a:chExt cx="6815455" cy="1932939"/>
          </a:xfrm>
        </p:grpSpPr>
        <p:sp>
          <p:nvSpPr>
            <p:cNvPr id="6" name="object 6"/>
            <p:cNvSpPr/>
            <p:nvPr/>
          </p:nvSpPr>
          <p:spPr>
            <a:xfrm>
              <a:off x="457187" y="3727449"/>
              <a:ext cx="6815455" cy="1932939"/>
            </a:xfrm>
            <a:custGeom>
              <a:avLst/>
              <a:gdLst/>
              <a:ahLst/>
              <a:cxnLst/>
              <a:rect l="l" t="t" r="r" b="b"/>
              <a:pathLst>
                <a:path w="6815455" h="1932939">
                  <a:moveTo>
                    <a:pt x="6815328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0" y="1694180"/>
                  </a:lnTo>
                  <a:lnTo>
                    <a:pt x="0" y="1932940"/>
                  </a:lnTo>
                  <a:lnTo>
                    <a:pt x="6815328" y="1932940"/>
                  </a:lnTo>
                  <a:lnTo>
                    <a:pt x="6815328" y="1694472"/>
                  </a:lnTo>
                  <a:lnTo>
                    <a:pt x="6815328" y="1694180"/>
                  </a:lnTo>
                  <a:lnTo>
                    <a:pt x="6815328" y="146659"/>
                  </a:lnTo>
                  <a:lnTo>
                    <a:pt x="6622440" y="146659"/>
                  </a:lnTo>
                  <a:lnTo>
                    <a:pt x="6622440" y="1694180"/>
                  </a:lnTo>
                  <a:lnTo>
                    <a:pt x="193065" y="1694180"/>
                  </a:lnTo>
                  <a:lnTo>
                    <a:pt x="193065" y="146050"/>
                  </a:lnTo>
                  <a:lnTo>
                    <a:pt x="6815328" y="14605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0264" y="3874107"/>
              <a:ext cx="6429375" cy="1548130"/>
            </a:xfrm>
            <a:custGeom>
              <a:avLst/>
              <a:gdLst/>
              <a:ahLst/>
              <a:cxnLst/>
              <a:rect l="l" t="t" r="r" b="b"/>
              <a:pathLst>
                <a:path w="6429375" h="1548129">
                  <a:moveTo>
                    <a:pt x="6429374" y="1547812"/>
                  </a:moveTo>
                  <a:lnTo>
                    <a:pt x="0" y="1547812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547812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0264" y="3888886"/>
            <a:ext cx="6429375" cy="1485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35"/>
              </a:spcBef>
            </a:pPr>
            <a:r>
              <a:rPr dirty="0" sz="1550" spc="52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550" spc="85">
                <a:solidFill>
                  <a:srgbClr val="74705D"/>
                </a:solidFill>
                <a:latin typeface="Times New Roman"/>
                <a:cs typeface="Times New Roman"/>
              </a:rPr>
              <a:t>  </a:t>
            </a:r>
            <a:r>
              <a:rPr dirty="0" sz="1550" spc="265">
                <a:solidFill>
                  <a:srgbClr val="74705D"/>
                </a:solidFill>
                <a:latin typeface="Times New Roman"/>
                <a:cs typeface="Times New Roman"/>
              </a:rPr>
              <a:t>claude_desktop_config.json</a:t>
            </a:r>
            <a:endParaRPr sz="15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85"/>
              </a:spcBef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550">
              <a:latin typeface="Times New Roman"/>
              <a:cs typeface="Times New Roman"/>
            </a:endParaRPr>
          </a:p>
          <a:p>
            <a:pPr marL="528955" marR="4199255" indent="-241935">
              <a:lnSpc>
                <a:spcPts val="1950"/>
              </a:lnSpc>
              <a:spcBef>
                <a:spcPts val="5"/>
              </a:spcBef>
            </a:pPr>
            <a:r>
              <a:rPr dirty="0" sz="1550" spc="254">
                <a:solidFill>
                  <a:srgbClr val="DDDDDD"/>
                </a:solidFill>
                <a:latin typeface="Times New Roman"/>
                <a:cs typeface="Times New Roman"/>
              </a:rPr>
              <a:t>"mcpServers":</a:t>
            </a:r>
            <a:r>
              <a:rPr dirty="0" sz="1550" spc="105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{ </a:t>
            </a:r>
            <a:r>
              <a:rPr dirty="0" sz="1550" spc="395">
                <a:solidFill>
                  <a:srgbClr val="DDDDDD"/>
                </a:solidFill>
                <a:latin typeface="Times New Roman"/>
                <a:cs typeface="Times New Roman"/>
              </a:rPr>
              <a:t>"git":</a:t>
            </a:r>
            <a:r>
              <a:rPr dirty="0" sz="1550" spc="85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9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r>
              <a:rPr dirty="0" sz="1550" spc="90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560">
                <a:solidFill>
                  <a:srgbClr val="DDDDDD"/>
                </a:solidFill>
                <a:latin typeface="Times New Roman"/>
                <a:cs typeface="Times New Roman"/>
              </a:rPr>
              <a:t>...</a:t>
            </a:r>
            <a:r>
              <a:rPr dirty="0" sz="1550" spc="90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  <a:p>
            <a:pPr marL="287020">
              <a:lnSpc>
                <a:spcPts val="1789"/>
              </a:lnSpc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90"/>
              </a:spcBef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647" y="3800838"/>
            <a:ext cx="64111" cy="641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215311" y="407559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08420" y="3652390"/>
            <a:ext cx="2835275" cy="55816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3</a:t>
            </a:r>
            <a:r>
              <a:rPr dirty="0" sz="1700" spc="2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Different</a:t>
            </a:r>
            <a:r>
              <a:rPr dirty="0" sz="1700" spc="2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700" spc="2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Conﬁgs:</a:t>
            </a:r>
            <a:endParaRPr sz="1700">
              <a:latin typeface="Helvetica"/>
              <a:cs typeface="Helvetica"/>
            </a:endParaRPr>
          </a:p>
          <a:p>
            <a:pPr marL="37846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5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Desktop</a:t>
            </a:r>
            <a:endParaRPr sz="1550">
              <a:latin typeface="Helvetica"/>
              <a:cs typeface="Helvetic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15311" y="4487737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374766" y="4361289"/>
            <a:ext cx="166116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Code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20">
                <a:solidFill>
                  <a:srgbClr val="1D293B"/>
                </a:solidFill>
                <a:latin typeface="Helvetica"/>
                <a:cs typeface="Helvetica"/>
              </a:rPr>
              <a:t>(CLI)</a:t>
            </a:r>
            <a:endParaRPr sz="1550">
              <a:latin typeface="Helvetica"/>
              <a:cs typeface="Helvetic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15311" y="4899876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374766" y="4773429"/>
            <a:ext cx="17703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5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5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VS</a:t>
            </a:r>
            <a:r>
              <a:rPr dirty="0" sz="15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20">
                <a:solidFill>
                  <a:srgbClr val="1D293B"/>
                </a:solidFill>
                <a:latin typeface="Helvetica"/>
                <a:cs typeface="Helvetica"/>
              </a:rPr>
              <a:t>Code</a:t>
            </a:r>
            <a:endParaRPr sz="1550">
              <a:latin typeface="Helvetica"/>
              <a:cs typeface="Helvetic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0647" y="5339491"/>
            <a:ext cx="64111" cy="64101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8215311" y="5614251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08420" y="5191043"/>
            <a:ext cx="2310765" cy="55816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Plus</a:t>
            </a:r>
            <a:r>
              <a:rPr dirty="0" sz="1700" spc="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1700" spc="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Rest:</a:t>
            </a:r>
            <a:endParaRPr sz="1700">
              <a:latin typeface="Helvetica"/>
              <a:cs typeface="Helvetica"/>
            </a:endParaRPr>
          </a:p>
          <a:p>
            <a:pPr marL="37846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Cursor,</a:t>
            </a:r>
            <a:r>
              <a:rPr dirty="0" sz="15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Windsurf,</a:t>
            </a:r>
            <a:r>
              <a:rPr dirty="0" sz="15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20">
                <a:solidFill>
                  <a:srgbClr val="1D293B"/>
                </a:solidFill>
                <a:latin typeface="Helvetica"/>
                <a:cs typeface="Helvetica"/>
              </a:rPr>
              <a:t>Kiro</a:t>
            </a:r>
            <a:endParaRPr sz="1550">
              <a:latin typeface="Helvetica"/>
              <a:cs typeface="Helvetic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15311" y="6026391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374766" y="5899943"/>
            <a:ext cx="165735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Antigravity,</a:t>
            </a:r>
            <a:r>
              <a:rPr dirty="0" sz="1550" spc="-7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Gemini</a:t>
            </a:r>
            <a:endParaRPr sz="15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705463"/>
            <a:ext cx="10537825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15"/>
              <a:t> </a:t>
            </a:r>
            <a:r>
              <a:rPr dirty="0"/>
              <a:t>Do</a:t>
            </a:r>
            <a:r>
              <a:rPr dirty="0" spc="-10"/>
              <a:t> </a:t>
            </a:r>
            <a:r>
              <a:rPr dirty="0"/>
              <a:t>We</a:t>
            </a:r>
            <a:r>
              <a:rPr dirty="0" spc="-15"/>
              <a:t> </a:t>
            </a:r>
            <a:r>
              <a:rPr dirty="0"/>
              <a:t>Need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10"/>
              <a:t> Manager?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037131"/>
            <a:ext cx="393065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2850" spc="1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"Conﬁguration</a:t>
            </a:r>
            <a:r>
              <a:rPr dirty="0" sz="2850" spc="12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Hell"</a:t>
            </a:r>
            <a:endParaRPr sz="28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7701" y="5583237"/>
            <a:ext cx="33147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One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ﬁle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down,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6</a:t>
            </a:r>
            <a:r>
              <a:rPr dirty="0" sz="2450" spc="-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to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go...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3727450"/>
            <a:ext cx="6815455" cy="1932939"/>
            <a:chOff x="457200" y="3727450"/>
            <a:chExt cx="6815455" cy="1932939"/>
          </a:xfrm>
        </p:grpSpPr>
        <p:sp>
          <p:nvSpPr>
            <p:cNvPr id="6" name="object 6"/>
            <p:cNvSpPr/>
            <p:nvPr/>
          </p:nvSpPr>
          <p:spPr>
            <a:xfrm>
              <a:off x="457187" y="3727449"/>
              <a:ext cx="6815455" cy="1932939"/>
            </a:xfrm>
            <a:custGeom>
              <a:avLst/>
              <a:gdLst/>
              <a:ahLst/>
              <a:cxnLst/>
              <a:rect l="l" t="t" r="r" b="b"/>
              <a:pathLst>
                <a:path w="6815455" h="1932939">
                  <a:moveTo>
                    <a:pt x="6815328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0" y="1694180"/>
                  </a:lnTo>
                  <a:lnTo>
                    <a:pt x="0" y="1932940"/>
                  </a:lnTo>
                  <a:lnTo>
                    <a:pt x="6815328" y="1932940"/>
                  </a:lnTo>
                  <a:lnTo>
                    <a:pt x="6815328" y="1694484"/>
                  </a:lnTo>
                  <a:lnTo>
                    <a:pt x="6815328" y="1694180"/>
                  </a:lnTo>
                  <a:lnTo>
                    <a:pt x="6815328" y="146672"/>
                  </a:lnTo>
                  <a:lnTo>
                    <a:pt x="6622440" y="146672"/>
                  </a:lnTo>
                  <a:lnTo>
                    <a:pt x="6622440" y="1694180"/>
                  </a:lnTo>
                  <a:lnTo>
                    <a:pt x="193065" y="1694180"/>
                  </a:lnTo>
                  <a:lnTo>
                    <a:pt x="193065" y="146050"/>
                  </a:lnTo>
                  <a:lnTo>
                    <a:pt x="6815328" y="14605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0264" y="3874107"/>
              <a:ext cx="6429375" cy="1548130"/>
            </a:xfrm>
            <a:custGeom>
              <a:avLst/>
              <a:gdLst/>
              <a:ahLst/>
              <a:cxnLst/>
              <a:rect l="l" t="t" r="r" b="b"/>
              <a:pathLst>
                <a:path w="6429375" h="1548129">
                  <a:moveTo>
                    <a:pt x="6429374" y="1547812"/>
                  </a:moveTo>
                  <a:lnTo>
                    <a:pt x="0" y="1547812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547812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0264" y="3888886"/>
            <a:ext cx="6429375" cy="1485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35"/>
              </a:spcBef>
            </a:pPr>
            <a:r>
              <a:rPr dirty="0" sz="1550" spc="52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550" spc="85">
                <a:solidFill>
                  <a:srgbClr val="74705D"/>
                </a:solidFill>
                <a:latin typeface="Times New Roman"/>
                <a:cs typeface="Times New Roman"/>
              </a:rPr>
              <a:t>  </a:t>
            </a:r>
            <a:r>
              <a:rPr dirty="0" sz="1550" spc="265">
                <a:solidFill>
                  <a:srgbClr val="74705D"/>
                </a:solidFill>
                <a:latin typeface="Times New Roman"/>
                <a:cs typeface="Times New Roman"/>
              </a:rPr>
              <a:t>claude_desktop_config.json</a:t>
            </a:r>
            <a:endParaRPr sz="15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85"/>
              </a:spcBef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550">
              <a:latin typeface="Times New Roman"/>
              <a:cs typeface="Times New Roman"/>
            </a:endParaRPr>
          </a:p>
          <a:p>
            <a:pPr marL="528955" marR="4199255" indent="-241935">
              <a:lnSpc>
                <a:spcPts val="1950"/>
              </a:lnSpc>
              <a:spcBef>
                <a:spcPts val="5"/>
              </a:spcBef>
            </a:pPr>
            <a:r>
              <a:rPr dirty="0" sz="1550" spc="254">
                <a:solidFill>
                  <a:srgbClr val="DDDDDD"/>
                </a:solidFill>
                <a:latin typeface="Times New Roman"/>
                <a:cs typeface="Times New Roman"/>
              </a:rPr>
              <a:t>"mcpServers":</a:t>
            </a:r>
            <a:r>
              <a:rPr dirty="0" sz="1550" spc="105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{ </a:t>
            </a:r>
            <a:r>
              <a:rPr dirty="0" sz="1550" spc="395">
                <a:solidFill>
                  <a:srgbClr val="DDDDDD"/>
                </a:solidFill>
                <a:latin typeface="Times New Roman"/>
                <a:cs typeface="Times New Roman"/>
              </a:rPr>
              <a:t>"git":</a:t>
            </a:r>
            <a:r>
              <a:rPr dirty="0" sz="1550" spc="85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9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r>
              <a:rPr dirty="0" sz="1550" spc="90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560">
                <a:solidFill>
                  <a:srgbClr val="DDDDDD"/>
                </a:solidFill>
                <a:latin typeface="Times New Roman"/>
                <a:cs typeface="Times New Roman"/>
              </a:rPr>
              <a:t>...</a:t>
            </a:r>
            <a:r>
              <a:rPr dirty="0" sz="1550" spc="90">
                <a:solidFill>
                  <a:srgbClr val="DDDDDD"/>
                </a:solidFill>
                <a:latin typeface="Times New Roman"/>
                <a:cs typeface="Times New Roman"/>
              </a:rPr>
              <a:t>  </a:t>
            </a: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  <a:p>
            <a:pPr marL="287020">
              <a:lnSpc>
                <a:spcPts val="1789"/>
              </a:lnSpc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90"/>
              </a:spcBef>
            </a:pPr>
            <a:r>
              <a:rPr dirty="0" sz="1550" spc="14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647" y="3800838"/>
            <a:ext cx="64111" cy="641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215311" y="4075597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08420" y="3652390"/>
            <a:ext cx="2835275" cy="55816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3</a:t>
            </a:r>
            <a:r>
              <a:rPr dirty="0" sz="1700" spc="2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Different</a:t>
            </a:r>
            <a:r>
              <a:rPr dirty="0" sz="1700" spc="2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700" spc="2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Conﬁgs:</a:t>
            </a:r>
            <a:endParaRPr sz="1700">
              <a:latin typeface="Helvetica"/>
              <a:cs typeface="Helvetica"/>
            </a:endParaRPr>
          </a:p>
          <a:p>
            <a:pPr marL="37846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5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Desktop</a:t>
            </a:r>
            <a:endParaRPr sz="1550">
              <a:latin typeface="Helvetica"/>
              <a:cs typeface="Helvetic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15311" y="4487736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374766" y="4361289"/>
            <a:ext cx="166116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Code</a:t>
            </a:r>
            <a:r>
              <a:rPr dirty="0" sz="1550" spc="-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20">
                <a:solidFill>
                  <a:srgbClr val="1D293B"/>
                </a:solidFill>
                <a:latin typeface="Helvetica"/>
                <a:cs typeface="Helvetica"/>
              </a:rPr>
              <a:t>(CLI)</a:t>
            </a:r>
            <a:endParaRPr sz="1550">
              <a:latin typeface="Helvetica"/>
              <a:cs typeface="Helvetic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15311" y="4899876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374766" y="4773429"/>
            <a:ext cx="17703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5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5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VS</a:t>
            </a:r>
            <a:r>
              <a:rPr dirty="0" sz="15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20">
                <a:solidFill>
                  <a:srgbClr val="1D293B"/>
                </a:solidFill>
                <a:latin typeface="Helvetica"/>
                <a:cs typeface="Helvetica"/>
              </a:rPr>
              <a:t>Code</a:t>
            </a:r>
            <a:endParaRPr sz="1550">
              <a:latin typeface="Helvetica"/>
              <a:cs typeface="Helvetic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0647" y="5339491"/>
            <a:ext cx="64111" cy="64101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8215311" y="5614251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08420" y="5191043"/>
            <a:ext cx="2310765" cy="55816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Plus</a:t>
            </a:r>
            <a:r>
              <a:rPr dirty="0" sz="1700" spc="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1700" spc="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Rest:</a:t>
            </a:r>
            <a:endParaRPr sz="1700">
              <a:latin typeface="Helvetica"/>
              <a:cs typeface="Helvetica"/>
            </a:endParaRPr>
          </a:p>
          <a:p>
            <a:pPr marL="37846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Cursor,</a:t>
            </a:r>
            <a:r>
              <a:rPr dirty="0" sz="15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>
                <a:solidFill>
                  <a:srgbClr val="1D293B"/>
                </a:solidFill>
                <a:latin typeface="Helvetica"/>
                <a:cs typeface="Helvetica"/>
              </a:rPr>
              <a:t>Windsurf,</a:t>
            </a:r>
            <a:r>
              <a:rPr dirty="0" sz="15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20">
                <a:solidFill>
                  <a:srgbClr val="1D293B"/>
                </a:solidFill>
                <a:latin typeface="Helvetica"/>
                <a:cs typeface="Helvetica"/>
              </a:rPr>
              <a:t>Kiro</a:t>
            </a:r>
            <a:endParaRPr sz="1550">
              <a:latin typeface="Helvetica"/>
              <a:cs typeface="Helvetic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15311" y="6026390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54951" y="54951"/>
                </a:moveTo>
                <a:lnTo>
                  <a:pt x="0" y="54951"/>
                </a:lnTo>
                <a:lnTo>
                  <a:pt x="0" y="0"/>
                </a:lnTo>
                <a:lnTo>
                  <a:pt x="54951" y="0"/>
                </a:lnTo>
                <a:lnTo>
                  <a:pt x="54951" y="54951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008420" y="5899943"/>
            <a:ext cx="2702560" cy="723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95"/>
              </a:spcBef>
            </a:pP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Antigravity,</a:t>
            </a:r>
            <a:r>
              <a:rPr dirty="0" sz="1550" spc="-7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Helvetica"/>
                <a:cs typeface="Helvetica"/>
              </a:rPr>
              <a:t>Gemini</a:t>
            </a:r>
            <a:endParaRPr sz="155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1700" b="1">
                <a:solidFill>
                  <a:srgbClr val="EF4444"/>
                </a:solidFill>
                <a:latin typeface="Helvetica"/>
                <a:cs typeface="Helvetica"/>
              </a:rPr>
              <a:t>It</a:t>
            </a:r>
            <a:r>
              <a:rPr dirty="0" sz="1700" spc="20" b="1">
                <a:solidFill>
                  <a:srgbClr val="EF4444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EF4444"/>
                </a:solidFill>
                <a:latin typeface="Helvetica"/>
                <a:cs typeface="Helvetica"/>
              </a:rPr>
              <a:t>Gets</a:t>
            </a:r>
            <a:r>
              <a:rPr dirty="0" sz="1700" spc="20" b="1">
                <a:solidFill>
                  <a:srgbClr val="EF4444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EF4444"/>
                </a:solidFill>
                <a:latin typeface="Helvetica"/>
                <a:cs typeface="Helvetica"/>
              </a:rPr>
              <a:t>Complicated.</a:t>
            </a:r>
            <a:r>
              <a:rPr dirty="0" sz="1700" spc="20" b="1">
                <a:solidFill>
                  <a:srgbClr val="EF4444"/>
                </a:solidFill>
                <a:latin typeface="Helvetica"/>
                <a:cs typeface="Helvetica"/>
              </a:rPr>
              <a:t> </a:t>
            </a:r>
            <a:r>
              <a:rPr dirty="0" sz="1700" spc="-20" b="1">
                <a:solidFill>
                  <a:srgbClr val="EF4444"/>
                </a:solidFill>
                <a:latin typeface="Helvetica"/>
                <a:cs typeface="Helvetica"/>
              </a:rPr>
              <a:t>Fast.</a:t>
            </a:r>
            <a:endParaRPr sz="1700">
              <a:latin typeface="Helvetica"/>
              <a:cs typeface="Helvetic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0647" y="6466006"/>
            <a:ext cx="64111" cy="641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826232"/>
            <a:ext cx="950722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Enter</a:t>
            </a:r>
            <a:r>
              <a:rPr dirty="0" spc="10"/>
              <a:t> </a:t>
            </a: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Conﬁg</a:t>
            </a:r>
            <a:r>
              <a:rPr dirty="0" spc="10"/>
              <a:t> </a:t>
            </a:r>
            <a:r>
              <a:rPr dirty="0" spc="-10"/>
              <a:t>Manager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780814"/>
            <a:ext cx="4072890" cy="287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</a:t>
            </a:r>
            <a:r>
              <a:rPr dirty="0" sz="1700" spc="-9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uniﬁed,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interface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your</a:t>
            </a:r>
            <a:r>
              <a:rPr dirty="0" sz="1700" spc="-8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tools.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826232"/>
            <a:ext cx="950722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Enter</a:t>
            </a:r>
            <a:r>
              <a:rPr dirty="0" spc="10"/>
              <a:t> </a:t>
            </a: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Conﬁg</a:t>
            </a:r>
            <a:r>
              <a:rPr dirty="0" spc="10"/>
              <a:t> </a:t>
            </a:r>
            <a:r>
              <a:rPr dirty="0" spc="-10"/>
              <a:t>Manager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4368674"/>
            <a:ext cx="64110" cy="641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0376" y="3780814"/>
            <a:ext cx="4951730" cy="7454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</a:t>
            </a:r>
            <a:r>
              <a:rPr dirty="0" sz="1700" spc="-9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uniﬁed,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interface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your</a:t>
            </a:r>
            <a:r>
              <a:rPr dirty="0" sz="1700" spc="-8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tools.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Validation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No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more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JSON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syntax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errors.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826232"/>
            <a:ext cx="950722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Enter</a:t>
            </a:r>
            <a:r>
              <a:rPr dirty="0" spc="10"/>
              <a:t> </a:t>
            </a: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Conﬁg</a:t>
            </a:r>
            <a:r>
              <a:rPr dirty="0" spc="10"/>
              <a:t> </a:t>
            </a:r>
            <a:r>
              <a:rPr dirty="0" spc="-10"/>
              <a:t>Manager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4368674"/>
            <a:ext cx="64110" cy="641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826606"/>
            <a:ext cx="64110" cy="641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0376" y="3780814"/>
            <a:ext cx="6019165" cy="12033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</a:t>
            </a:r>
            <a:r>
              <a:rPr dirty="0" sz="1700" spc="-9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uniﬁed,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interface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your</a:t>
            </a:r>
            <a:r>
              <a:rPr dirty="0" sz="1700" spc="-8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tools.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Validation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No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more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JSON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syntax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errors.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Cross-Client</a:t>
            </a:r>
            <a:r>
              <a:rPr dirty="0" sz="1700" spc="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Sync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Write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once,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update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VS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Code.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826232"/>
            <a:ext cx="950722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Enter</a:t>
            </a:r>
            <a:r>
              <a:rPr dirty="0" spc="10"/>
              <a:t> </a:t>
            </a: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Conﬁg</a:t>
            </a:r>
            <a:r>
              <a:rPr dirty="0" spc="10"/>
              <a:t> </a:t>
            </a:r>
            <a:r>
              <a:rPr dirty="0" spc="-10"/>
              <a:t>Manager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4368673"/>
            <a:ext cx="64110" cy="641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826606"/>
            <a:ext cx="64110" cy="641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552" y="5284539"/>
            <a:ext cx="64110" cy="641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0376" y="3780814"/>
            <a:ext cx="6019165" cy="16611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</a:t>
            </a:r>
            <a:r>
              <a:rPr dirty="0" sz="1700" spc="-9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uniﬁed,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interface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your</a:t>
            </a:r>
            <a:r>
              <a:rPr dirty="0" sz="1700" spc="-8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tools.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Validation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No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more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JSON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syntax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errors.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Cross-Client</a:t>
            </a:r>
            <a:r>
              <a:rPr dirty="0" sz="1700" spc="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Sync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Write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once,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update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VS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Code.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Server</a:t>
            </a:r>
            <a:r>
              <a:rPr dirty="0" sz="1700" spc="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Library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Discover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install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with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one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click.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826232"/>
            <a:ext cx="950722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Enter</a:t>
            </a:r>
            <a:r>
              <a:rPr dirty="0" spc="10"/>
              <a:t> </a:t>
            </a: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Conﬁg</a:t>
            </a:r>
            <a:r>
              <a:rPr dirty="0" spc="10"/>
              <a:t> </a:t>
            </a:r>
            <a:r>
              <a:rPr dirty="0" spc="-10"/>
              <a:t>Manager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4368673"/>
            <a:ext cx="64110" cy="64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826606"/>
            <a:ext cx="64110" cy="64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552" y="5284538"/>
            <a:ext cx="64110" cy="64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552" y="5742471"/>
            <a:ext cx="64110" cy="641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0376" y="3780814"/>
            <a:ext cx="6019165" cy="21189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</a:t>
            </a:r>
            <a:r>
              <a:rPr dirty="0" sz="1700" spc="-9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uniﬁed,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interface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your</a:t>
            </a:r>
            <a:r>
              <a:rPr dirty="0" sz="1700" spc="-8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tools.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Validation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No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more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JSON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syntax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errors.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Cross-Client</a:t>
            </a:r>
            <a:r>
              <a:rPr dirty="0" sz="1700" spc="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Sync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Write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once,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update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VS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Code.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Server</a:t>
            </a:r>
            <a:r>
              <a:rPr dirty="0" sz="1700" spc="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Library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Discover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install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with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one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click.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7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Live</a:t>
            </a:r>
            <a:r>
              <a:rPr dirty="0" sz="1700" spc="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Monitoring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See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real-time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checks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and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status.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826232"/>
            <a:ext cx="950722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Enter</a:t>
            </a:r>
            <a:r>
              <a:rPr dirty="0" spc="10"/>
              <a:t> </a:t>
            </a: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Conﬁg</a:t>
            </a:r>
            <a:r>
              <a:rPr dirty="0" spc="10"/>
              <a:t> </a:t>
            </a:r>
            <a:r>
              <a:rPr dirty="0" spc="-10"/>
              <a:t>Manager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4368673"/>
            <a:ext cx="64110" cy="64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826605"/>
            <a:ext cx="64110" cy="64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552" y="5284538"/>
            <a:ext cx="64110" cy="64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552" y="5742471"/>
            <a:ext cx="64110" cy="64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0376" y="3780814"/>
            <a:ext cx="6019165" cy="21189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</a:t>
            </a:r>
            <a:r>
              <a:rPr dirty="0" sz="1700" spc="-9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uniﬁed,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interface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your</a:t>
            </a:r>
            <a:r>
              <a:rPr dirty="0" sz="1700" spc="-8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tools.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Visual</a:t>
            </a:r>
            <a:r>
              <a:rPr dirty="0" sz="1700" spc="-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Validation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No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more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JSON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syntax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errors.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Cross-Client</a:t>
            </a:r>
            <a:r>
              <a:rPr dirty="0" sz="1700" spc="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Sync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Write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once,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update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Claude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VS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Code.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Server</a:t>
            </a:r>
            <a:r>
              <a:rPr dirty="0" sz="1700" spc="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Library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Discover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install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with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one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click.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7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Live</a:t>
            </a:r>
            <a:r>
              <a:rPr dirty="0" sz="1700" spc="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Monitoring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See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real-time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checks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and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status.</a:t>
            </a:r>
            <a:endParaRPr sz="1700">
              <a:latin typeface="Helvetica"/>
              <a:cs typeface="Helvetic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03173" y="2372093"/>
            <a:ext cx="6786562" cy="43686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644251" y="6902083"/>
            <a:ext cx="146177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(Demo </a:t>
            </a:r>
            <a:r>
              <a:rPr dirty="0" sz="2450" spc="-25">
                <a:solidFill>
                  <a:srgbClr val="64738B"/>
                </a:solidFill>
                <a:latin typeface="Helvetica"/>
                <a:cs typeface="Helvetica"/>
              </a:rPr>
              <a:t>UI)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879477"/>
            <a:ext cx="767334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 Context</a:t>
            </a:r>
            <a:r>
              <a:rPr dirty="0" spc="10"/>
              <a:t> </a:t>
            </a:r>
            <a:r>
              <a:rPr dirty="0" spc="-10"/>
              <a:t>Economy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220304"/>
            <a:ext cx="9102090" cy="919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8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servers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provide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power,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but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they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consume</a:t>
            </a:r>
            <a:r>
              <a:rPr dirty="0" sz="2450" spc="-4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Content</a:t>
            </a:r>
            <a:r>
              <a:rPr dirty="0" sz="2450" spc="-3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 b="1">
                <a:solidFill>
                  <a:srgbClr val="1D293B"/>
                </a:solidFill>
                <a:latin typeface="Helvetica"/>
                <a:cs typeface="Helvetica"/>
              </a:rPr>
              <a:t>Window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.</a:t>
            </a:r>
            <a:endParaRPr sz="245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Cost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of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 spc="-10">
                <a:solidFill>
                  <a:srgbClr val="0E1729"/>
                </a:solidFill>
                <a:latin typeface="Helvetica"/>
                <a:cs typeface="Helvetica"/>
              </a:rPr>
              <a:t>Context</a:t>
            </a:r>
            <a:endParaRPr sz="2000">
              <a:latin typeface="Helvetica"/>
              <a:cs typeface="Helvetic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63123" y="3837471"/>
            <a:ext cx="3223895" cy="2802890"/>
            <a:chOff x="9763123" y="3837471"/>
            <a:chExt cx="3223895" cy="2802890"/>
          </a:xfrm>
        </p:grpSpPr>
        <p:sp>
          <p:nvSpPr>
            <p:cNvPr id="5" name="object 5"/>
            <p:cNvSpPr/>
            <p:nvPr/>
          </p:nvSpPr>
          <p:spPr>
            <a:xfrm>
              <a:off x="9772282" y="3846629"/>
              <a:ext cx="3206115" cy="2784475"/>
            </a:xfrm>
            <a:custGeom>
              <a:avLst/>
              <a:gdLst/>
              <a:ahLst/>
              <a:cxnLst/>
              <a:rect l="l" t="t" r="r" b="b"/>
              <a:pathLst>
                <a:path w="3206115" h="2784475">
                  <a:moveTo>
                    <a:pt x="3145628" y="2784230"/>
                  </a:moveTo>
                  <a:lnTo>
                    <a:pt x="59901" y="2784230"/>
                  </a:lnTo>
                  <a:lnTo>
                    <a:pt x="55732" y="2783818"/>
                  </a:lnTo>
                  <a:lnTo>
                    <a:pt x="15800" y="2762460"/>
                  </a:lnTo>
                  <a:lnTo>
                    <a:pt x="0" y="2724323"/>
                  </a:lnTo>
                  <a:lnTo>
                    <a:pt x="1" y="2720120"/>
                  </a:lnTo>
                  <a:lnTo>
                    <a:pt x="0" y="59906"/>
                  </a:lnTo>
                  <a:lnTo>
                    <a:pt x="15800" y="21751"/>
                  </a:lnTo>
                  <a:lnTo>
                    <a:pt x="55732" y="412"/>
                  </a:lnTo>
                  <a:lnTo>
                    <a:pt x="59901" y="0"/>
                  </a:lnTo>
                  <a:lnTo>
                    <a:pt x="3145628" y="0"/>
                  </a:lnTo>
                  <a:lnTo>
                    <a:pt x="3183773" y="15780"/>
                  </a:lnTo>
                  <a:lnTo>
                    <a:pt x="3205118" y="55721"/>
                  </a:lnTo>
                  <a:lnTo>
                    <a:pt x="3205529" y="59906"/>
                  </a:lnTo>
                  <a:lnTo>
                    <a:pt x="3205529" y="2724323"/>
                  </a:lnTo>
                  <a:lnTo>
                    <a:pt x="3189726" y="2762460"/>
                  </a:lnTo>
                  <a:lnTo>
                    <a:pt x="3149796" y="2783818"/>
                  </a:lnTo>
                  <a:lnTo>
                    <a:pt x="3145628" y="2784230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772282" y="3846629"/>
              <a:ext cx="3206115" cy="2784475"/>
            </a:xfrm>
            <a:custGeom>
              <a:avLst/>
              <a:gdLst/>
              <a:ahLst/>
              <a:cxnLst/>
              <a:rect l="l" t="t" r="r" b="b"/>
              <a:pathLst>
                <a:path w="3206115" h="2784475">
                  <a:moveTo>
                    <a:pt x="1" y="2720120"/>
                  </a:moveTo>
                  <a:lnTo>
                    <a:pt x="1" y="64110"/>
                  </a:lnTo>
                  <a:lnTo>
                    <a:pt x="0" y="59906"/>
                  </a:lnTo>
                  <a:lnTo>
                    <a:pt x="410" y="55721"/>
                  </a:lnTo>
                  <a:lnTo>
                    <a:pt x="1232" y="51590"/>
                  </a:lnTo>
                  <a:lnTo>
                    <a:pt x="2053" y="47460"/>
                  </a:lnTo>
                  <a:lnTo>
                    <a:pt x="3268" y="43448"/>
                  </a:lnTo>
                  <a:lnTo>
                    <a:pt x="18777" y="18766"/>
                  </a:lnTo>
                  <a:lnTo>
                    <a:pt x="21753" y="15780"/>
                  </a:lnTo>
                  <a:lnTo>
                    <a:pt x="24991" y="13115"/>
                  </a:lnTo>
                  <a:lnTo>
                    <a:pt x="28491" y="10788"/>
                  </a:lnTo>
                  <a:lnTo>
                    <a:pt x="31991" y="8444"/>
                  </a:lnTo>
                  <a:lnTo>
                    <a:pt x="59901" y="0"/>
                  </a:lnTo>
                  <a:lnTo>
                    <a:pt x="64111" y="0"/>
                  </a:lnTo>
                  <a:lnTo>
                    <a:pt x="3141419" y="0"/>
                  </a:lnTo>
                  <a:lnTo>
                    <a:pt x="3145628" y="0"/>
                  </a:lnTo>
                  <a:lnTo>
                    <a:pt x="3149796" y="412"/>
                  </a:lnTo>
                  <a:lnTo>
                    <a:pt x="3177035" y="10788"/>
                  </a:lnTo>
                  <a:lnTo>
                    <a:pt x="3180535" y="13115"/>
                  </a:lnTo>
                  <a:lnTo>
                    <a:pt x="3203474" y="47460"/>
                  </a:lnTo>
                  <a:lnTo>
                    <a:pt x="3205529" y="59906"/>
                  </a:lnTo>
                  <a:lnTo>
                    <a:pt x="3205529" y="64110"/>
                  </a:lnTo>
                  <a:lnTo>
                    <a:pt x="3205529" y="2720120"/>
                  </a:lnTo>
                  <a:lnTo>
                    <a:pt x="3205529" y="2724323"/>
                  </a:lnTo>
                  <a:lnTo>
                    <a:pt x="3205118" y="2728491"/>
                  </a:lnTo>
                  <a:lnTo>
                    <a:pt x="3204296" y="2732603"/>
                  </a:lnTo>
                  <a:lnTo>
                    <a:pt x="3203474" y="2736733"/>
                  </a:lnTo>
                  <a:lnTo>
                    <a:pt x="3194723" y="2755719"/>
                  </a:lnTo>
                  <a:lnTo>
                    <a:pt x="3192384" y="2759227"/>
                  </a:lnTo>
                  <a:lnTo>
                    <a:pt x="3177035" y="2773386"/>
                  </a:lnTo>
                  <a:lnTo>
                    <a:pt x="3173534" y="2775731"/>
                  </a:lnTo>
                  <a:lnTo>
                    <a:pt x="3169840" y="2777700"/>
                  </a:lnTo>
                  <a:lnTo>
                    <a:pt x="3165951" y="2779330"/>
                  </a:lnTo>
                  <a:lnTo>
                    <a:pt x="3162061" y="2780960"/>
                  </a:lnTo>
                  <a:lnTo>
                    <a:pt x="3158052" y="2782169"/>
                  </a:lnTo>
                  <a:lnTo>
                    <a:pt x="3153925" y="2782994"/>
                  </a:lnTo>
                  <a:lnTo>
                    <a:pt x="3149796" y="2783818"/>
                  </a:lnTo>
                  <a:lnTo>
                    <a:pt x="3145628" y="2784230"/>
                  </a:lnTo>
                  <a:lnTo>
                    <a:pt x="3141419" y="2784230"/>
                  </a:lnTo>
                  <a:lnTo>
                    <a:pt x="64111" y="2784230"/>
                  </a:lnTo>
                  <a:lnTo>
                    <a:pt x="59901" y="2784230"/>
                  </a:lnTo>
                  <a:lnTo>
                    <a:pt x="55732" y="2783818"/>
                  </a:lnTo>
                  <a:lnTo>
                    <a:pt x="51603" y="2782994"/>
                  </a:lnTo>
                  <a:lnTo>
                    <a:pt x="47474" y="2782169"/>
                  </a:lnTo>
                  <a:lnTo>
                    <a:pt x="43466" y="2780960"/>
                  </a:lnTo>
                  <a:lnTo>
                    <a:pt x="39577" y="2779330"/>
                  </a:lnTo>
                  <a:lnTo>
                    <a:pt x="35687" y="2777700"/>
                  </a:lnTo>
                  <a:lnTo>
                    <a:pt x="31992" y="2775731"/>
                  </a:lnTo>
                  <a:lnTo>
                    <a:pt x="28492" y="2773386"/>
                  </a:lnTo>
                  <a:lnTo>
                    <a:pt x="24991" y="2771051"/>
                  </a:lnTo>
                  <a:lnTo>
                    <a:pt x="10804" y="2755719"/>
                  </a:lnTo>
                  <a:lnTo>
                    <a:pt x="8465" y="2752211"/>
                  </a:lnTo>
                  <a:lnTo>
                    <a:pt x="1232" y="2732603"/>
                  </a:lnTo>
                  <a:lnTo>
                    <a:pt x="410" y="2728491"/>
                  </a:lnTo>
                  <a:lnTo>
                    <a:pt x="0" y="2724323"/>
                  </a:lnTo>
                  <a:lnTo>
                    <a:pt x="1" y="2720120"/>
                  </a:lnTo>
                  <a:close/>
                </a:path>
              </a:pathLst>
            </a:custGeom>
            <a:ln w="1831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951915" y="3768209"/>
            <a:ext cx="2846705" cy="2461895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30"/>
              </a:spcBef>
            </a:pPr>
            <a:r>
              <a:rPr dirty="0" sz="8650" spc="-25">
                <a:solidFill>
                  <a:srgbClr val="2562EB"/>
                </a:solidFill>
                <a:latin typeface="Helvetica"/>
                <a:cs typeface="Helvetica"/>
              </a:rPr>
              <a:t>24k</a:t>
            </a:r>
            <a:endParaRPr sz="865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2450" spc="-30">
                <a:solidFill>
                  <a:srgbClr val="465469"/>
                </a:solidFill>
                <a:latin typeface="Helvetica"/>
                <a:cs typeface="Helvetica"/>
              </a:rPr>
              <a:t>Tokens</a:t>
            </a:r>
            <a:r>
              <a:rPr dirty="0" sz="2450" spc="-65">
                <a:solidFill>
                  <a:srgbClr val="465469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465469"/>
                </a:solidFill>
                <a:latin typeface="Helvetica"/>
                <a:cs typeface="Helvetica"/>
              </a:rPr>
              <a:t>/</a:t>
            </a:r>
            <a:r>
              <a:rPr dirty="0" sz="2450" spc="-55">
                <a:solidFill>
                  <a:srgbClr val="465469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465469"/>
                </a:solidFill>
                <a:latin typeface="Helvetica"/>
                <a:cs typeface="Helvetica"/>
              </a:rPr>
              <a:t>Request</a:t>
            </a:r>
            <a:endParaRPr sz="245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with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5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active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servers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879478"/>
            <a:ext cx="767334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 Context</a:t>
            </a:r>
            <a:r>
              <a:rPr dirty="0" spc="10"/>
              <a:t> </a:t>
            </a:r>
            <a:r>
              <a:rPr dirty="0" spc="-10"/>
              <a:t>Economy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63123" y="3837470"/>
            <a:ext cx="3223895" cy="2802890"/>
            <a:chOff x="9763123" y="3837470"/>
            <a:chExt cx="3223895" cy="2802890"/>
          </a:xfrm>
        </p:grpSpPr>
        <p:sp>
          <p:nvSpPr>
            <p:cNvPr id="4" name="object 4"/>
            <p:cNvSpPr/>
            <p:nvPr/>
          </p:nvSpPr>
          <p:spPr>
            <a:xfrm>
              <a:off x="9772282" y="3846629"/>
              <a:ext cx="3206115" cy="2784475"/>
            </a:xfrm>
            <a:custGeom>
              <a:avLst/>
              <a:gdLst/>
              <a:ahLst/>
              <a:cxnLst/>
              <a:rect l="l" t="t" r="r" b="b"/>
              <a:pathLst>
                <a:path w="3206115" h="2784475">
                  <a:moveTo>
                    <a:pt x="3145628" y="2784212"/>
                  </a:moveTo>
                  <a:lnTo>
                    <a:pt x="59901" y="2784212"/>
                  </a:lnTo>
                  <a:lnTo>
                    <a:pt x="55732" y="2783800"/>
                  </a:lnTo>
                  <a:lnTo>
                    <a:pt x="15800" y="2762460"/>
                  </a:lnTo>
                  <a:lnTo>
                    <a:pt x="0" y="2724323"/>
                  </a:lnTo>
                  <a:lnTo>
                    <a:pt x="1" y="2720120"/>
                  </a:lnTo>
                  <a:lnTo>
                    <a:pt x="0" y="59906"/>
                  </a:lnTo>
                  <a:lnTo>
                    <a:pt x="15800" y="21715"/>
                  </a:lnTo>
                  <a:lnTo>
                    <a:pt x="55732" y="412"/>
                  </a:lnTo>
                  <a:lnTo>
                    <a:pt x="59901" y="0"/>
                  </a:lnTo>
                  <a:lnTo>
                    <a:pt x="3145628" y="0"/>
                  </a:lnTo>
                  <a:lnTo>
                    <a:pt x="3183773" y="15780"/>
                  </a:lnTo>
                  <a:lnTo>
                    <a:pt x="3205118" y="55739"/>
                  </a:lnTo>
                  <a:lnTo>
                    <a:pt x="3205529" y="59906"/>
                  </a:lnTo>
                  <a:lnTo>
                    <a:pt x="3205529" y="2724323"/>
                  </a:lnTo>
                  <a:lnTo>
                    <a:pt x="3189726" y="2762460"/>
                  </a:lnTo>
                  <a:lnTo>
                    <a:pt x="3149796" y="2783800"/>
                  </a:lnTo>
                  <a:lnTo>
                    <a:pt x="3145628" y="2784212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772282" y="3846629"/>
              <a:ext cx="3206115" cy="2784475"/>
            </a:xfrm>
            <a:custGeom>
              <a:avLst/>
              <a:gdLst/>
              <a:ahLst/>
              <a:cxnLst/>
              <a:rect l="l" t="t" r="r" b="b"/>
              <a:pathLst>
                <a:path w="3206115" h="2784475">
                  <a:moveTo>
                    <a:pt x="1" y="2720120"/>
                  </a:moveTo>
                  <a:lnTo>
                    <a:pt x="1" y="64110"/>
                  </a:lnTo>
                  <a:lnTo>
                    <a:pt x="0" y="59906"/>
                  </a:lnTo>
                  <a:lnTo>
                    <a:pt x="410" y="55739"/>
                  </a:lnTo>
                  <a:lnTo>
                    <a:pt x="1232" y="51609"/>
                  </a:lnTo>
                  <a:lnTo>
                    <a:pt x="2053" y="47460"/>
                  </a:lnTo>
                  <a:lnTo>
                    <a:pt x="3268" y="43430"/>
                  </a:lnTo>
                  <a:lnTo>
                    <a:pt x="18777" y="18766"/>
                  </a:lnTo>
                  <a:lnTo>
                    <a:pt x="21753" y="15780"/>
                  </a:lnTo>
                  <a:lnTo>
                    <a:pt x="51603" y="1236"/>
                  </a:lnTo>
                  <a:lnTo>
                    <a:pt x="55732" y="412"/>
                  </a:lnTo>
                  <a:lnTo>
                    <a:pt x="59901" y="0"/>
                  </a:lnTo>
                  <a:lnTo>
                    <a:pt x="64111" y="0"/>
                  </a:lnTo>
                  <a:lnTo>
                    <a:pt x="3141419" y="0"/>
                  </a:lnTo>
                  <a:lnTo>
                    <a:pt x="3145628" y="0"/>
                  </a:lnTo>
                  <a:lnTo>
                    <a:pt x="3149796" y="412"/>
                  </a:lnTo>
                  <a:lnTo>
                    <a:pt x="3153925" y="1236"/>
                  </a:lnTo>
                  <a:lnTo>
                    <a:pt x="3158052" y="2042"/>
                  </a:lnTo>
                  <a:lnTo>
                    <a:pt x="3177035" y="10788"/>
                  </a:lnTo>
                  <a:lnTo>
                    <a:pt x="3180535" y="13133"/>
                  </a:lnTo>
                  <a:lnTo>
                    <a:pt x="3183773" y="15780"/>
                  </a:lnTo>
                  <a:lnTo>
                    <a:pt x="3186750" y="18766"/>
                  </a:lnTo>
                  <a:lnTo>
                    <a:pt x="3189726" y="21715"/>
                  </a:lnTo>
                  <a:lnTo>
                    <a:pt x="3204296" y="51609"/>
                  </a:lnTo>
                  <a:lnTo>
                    <a:pt x="3205118" y="55739"/>
                  </a:lnTo>
                  <a:lnTo>
                    <a:pt x="3205529" y="59906"/>
                  </a:lnTo>
                  <a:lnTo>
                    <a:pt x="3205529" y="64110"/>
                  </a:lnTo>
                  <a:lnTo>
                    <a:pt x="3205529" y="2720120"/>
                  </a:lnTo>
                  <a:lnTo>
                    <a:pt x="3205529" y="2724323"/>
                  </a:lnTo>
                  <a:lnTo>
                    <a:pt x="3205118" y="2728491"/>
                  </a:lnTo>
                  <a:lnTo>
                    <a:pt x="3186750" y="2765446"/>
                  </a:lnTo>
                  <a:lnTo>
                    <a:pt x="3177035" y="2773386"/>
                  </a:lnTo>
                  <a:lnTo>
                    <a:pt x="3173534" y="2775731"/>
                  </a:lnTo>
                  <a:lnTo>
                    <a:pt x="3141419" y="2784230"/>
                  </a:lnTo>
                  <a:lnTo>
                    <a:pt x="64111" y="2784230"/>
                  </a:lnTo>
                  <a:lnTo>
                    <a:pt x="59901" y="2784212"/>
                  </a:lnTo>
                  <a:lnTo>
                    <a:pt x="55732" y="2783800"/>
                  </a:lnTo>
                  <a:lnTo>
                    <a:pt x="51603" y="2782975"/>
                  </a:lnTo>
                  <a:lnTo>
                    <a:pt x="47474" y="2782151"/>
                  </a:lnTo>
                  <a:lnTo>
                    <a:pt x="28492" y="2773386"/>
                  </a:lnTo>
                  <a:lnTo>
                    <a:pt x="24991" y="2771069"/>
                  </a:lnTo>
                  <a:lnTo>
                    <a:pt x="10804" y="2755719"/>
                  </a:lnTo>
                  <a:lnTo>
                    <a:pt x="8465" y="2752211"/>
                  </a:lnTo>
                  <a:lnTo>
                    <a:pt x="0" y="2724323"/>
                  </a:lnTo>
                  <a:lnTo>
                    <a:pt x="1" y="2720120"/>
                  </a:lnTo>
                  <a:close/>
                </a:path>
              </a:pathLst>
            </a:custGeom>
            <a:ln w="1831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951915" y="3768208"/>
            <a:ext cx="2846705" cy="2461895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30"/>
              </a:spcBef>
            </a:pPr>
            <a:r>
              <a:rPr dirty="0" sz="8650" spc="-25">
                <a:solidFill>
                  <a:srgbClr val="2562EB"/>
                </a:solidFill>
                <a:latin typeface="Helvetica"/>
                <a:cs typeface="Helvetica"/>
              </a:rPr>
              <a:t>24k</a:t>
            </a:r>
            <a:endParaRPr sz="865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2450" spc="-30">
                <a:solidFill>
                  <a:srgbClr val="465469"/>
                </a:solidFill>
                <a:latin typeface="Helvetica"/>
                <a:cs typeface="Helvetica"/>
              </a:rPr>
              <a:t>Tokens</a:t>
            </a:r>
            <a:r>
              <a:rPr dirty="0" sz="2450" spc="-65">
                <a:solidFill>
                  <a:srgbClr val="465469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465469"/>
                </a:solidFill>
                <a:latin typeface="Helvetica"/>
                <a:cs typeface="Helvetica"/>
              </a:rPr>
              <a:t>/</a:t>
            </a:r>
            <a:r>
              <a:rPr dirty="0" sz="2450" spc="-55">
                <a:solidFill>
                  <a:srgbClr val="465469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465469"/>
                </a:solidFill>
                <a:latin typeface="Helvetica"/>
                <a:cs typeface="Helvetica"/>
              </a:rPr>
              <a:t>Request</a:t>
            </a:r>
            <a:endParaRPr sz="245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with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5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active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servers</a:t>
            </a:r>
            <a:endParaRPr sz="2450">
              <a:latin typeface="Helvetica"/>
              <a:cs typeface="Helvetic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4377831"/>
            <a:ext cx="64110" cy="6409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80376" y="3220304"/>
            <a:ext cx="9102090" cy="1315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8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servers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provide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power,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but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they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consume</a:t>
            </a:r>
            <a:r>
              <a:rPr dirty="0" sz="2450" spc="-4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Content</a:t>
            </a:r>
            <a:r>
              <a:rPr dirty="0" sz="2450" spc="-3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 b="1">
                <a:solidFill>
                  <a:srgbClr val="1D293B"/>
                </a:solidFill>
                <a:latin typeface="Helvetica"/>
                <a:cs typeface="Helvetica"/>
              </a:rPr>
              <a:t>Window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.</a:t>
            </a:r>
            <a:endParaRPr sz="245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Cost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of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 spc="-10">
                <a:solidFill>
                  <a:srgbClr val="0E1729"/>
                </a:solidFill>
                <a:latin typeface="Helvetica"/>
                <a:cs typeface="Helvetica"/>
              </a:rPr>
              <a:t>Context</a:t>
            </a:r>
            <a:endParaRPr sz="20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070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Every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connected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server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adds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system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prompts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and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tool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deﬁnitions.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879478"/>
            <a:ext cx="767334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 Context</a:t>
            </a:r>
            <a:r>
              <a:rPr dirty="0" spc="10"/>
              <a:t> </a:t>
            </a:r>
            <a:r>
              <a:rPr dirty="0" spc="-10"/>
              <a:t>Economy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63123" y="3837470"/>
            <a:ext cx="3223895" cy="2802890"/>
            <a:chOff x="9763123" y="3837470"/>
            <a:chExt cx="3223895" cy="2802890"/>
          </a:xfrm>
        </p:grpSpPr>
        <p:sp>
          <p:nvSpPr>
            <p:cNvPr id="4" name="object 4"/>
            <p:cNvSpPr/>
            <p:nvPr/>
          </p:nvSpPr>
          <p:spPr>
            <a:xfrm>
              <a:off x="9772282" y="3846629"/>
              <a:ext cx="3206115" cy="2784475"/>
            </a:xfrm>
            <a:custGeom>
              <a:avLst/>
              <a:gdLst/>
              <a:ahLst/>
              <a:cxnLst/>
              <a:rect l="l" t="t" r="r" b="b"/>
              <a:pathLst>
                <a:path w="3206115" h="2784475">
                  <a:moveTo>
                    <a:pt x="3145628" y="2784212"/>
                  </a:moveTo>
                  <a:lnTo>
                    <a:pt x="59901" y="2784212"/>
                  </a:lnTo>
                  <a:lnTo>
                    <a:pt x="55732" y="2783800"/>
                  </a:lnTo>
                  <a:lnTo>
                    <a:pt x="15800" y="2762460"/>
                  </a:lnTo>
                  <a:lnTo>
                    <a:pt x="0" y="2724323"/>
                  </a:lnTo>
                  <a:lnTo>
                    <a:pt x="1" y="2720120"/>
                  </a:lnTo>
                  <a:lnTo>
                    <a:pt x="0" y="59888"/>
                  </a:lnTo>
                  <a:lnTo>
                    <a:pt x="15800" y="21715"/>
                  </a:lnTo>
                  <a:lnTo>
                    <a:pt x="55732" y="412"/>
                  </a:lnTo>
                  <a:lnTo>
                    <a:pt x="59901" y="0"/>
                  </a:lnTo>
                  <a:lnTo>
                    <a:pt x="3145628" y="0"/>
                  </a:lnTo>
                  <a:lnTo>
                    <a:pt x="3183773" y="15780"/>
                  </a:lnTo>
                  <a:lnTo>
                    <a:pt x="3205118" y="55721"/>
                  </a:lnTo>
                  <a:lnTo>
                    <a:pt x="3205529" y="59888"/>
                  </a:lnTo>
                  <a:lnTo>
                    <a:pt x="3205529" y="2724323"/>
                  </a:lnTo>
                  <a:lnTo>
                    <a:pt x="3189726" y="2762460"/>
                  </a:lnTo>
                  <a:lnTo>
                    <a:pt x="3149796" y="2783800"/>
                  </a:lnTo>
                  <a:lnTo>
                    <a:pt x="3145628" y="2784212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772282" y="3846629"/>
              <a:ext cx="3206115" cy="2784475"/>
            </a:xfrm>
            <a:custGeom>
              <a:avLst/>
              <a:gdLst/>
              <a:ahLst/>
              <a:cxnLst/>
              <a:rect l="l" t="t" r="r" b="b"/>
              <a:pathLst>
                <a:path w="3206115" h="2784475">
                  <a:moveTo>
                    <a:pt x="1" y="2720120"/>
                  </a:moveTo>
                  <a:lnTo>
                    <a:pt x="1" y="64110"/>
                  </a:lnTo>
                  <a:lnTo>
                    <a:pt x="0" y="59888"/>
                  </a:lnTo>
                  <a:lnTo>
                    <a:pt x="410" y="55721"/>
                  </a:lnTo>
                  <a:lnTo>
                    <a:pt x="1232" y="51590"/>
                  </a:lnTo>
                  <a:lnTo>
                    <a:pt x="2053" y="47460"/>
                  </a:lnTo>
                  <a:lnTo>
                    <a:pt x="3268" y="43430"/>
                  </a:lnTo>
                  <a:lnTo>
                    <a:pt x="18777" y="18766"/>
                  </a:lnTo>
                  <a:lnTo>
                    <a:pt x="21753" y="15780"/>
                  </a:lnTo>
                  <a:lnTo>
                    <a:pt x="51603" y="1236"/>
                  </a:lnTo>
                  <a:lnTo>
                    <a:pt x="55732" y="412"/>
                  </a:lnTo>
                  <a:lnTo>
                    <a:pt x="59901" y="0"/>
                  </a:lnTo>
                  <a:lnTo>
                    <a:pt x="64111" y="0"/>
                  </a:lnTo>
                  <a:lnTo>
                    <a:pt x="3141419" y="0"/>
                  </a:lnTo>
                  <a:lnTo>
                    <a:pt x="3145628" y="0"/>
                  </a:lnTo>
                  <a:lnTo>
                    <a:pt x="3149796" y="412"/>
                  </a:lnTo>
                  <a:lnTo>
                    <a:pt x="3153925" y="1236"/>
                  </a:lnTo>
                  <a:lnTo>
                    <a:pt x="3158052" y="2042"/>
                  </a:lnTo>
                  <a:lnTo>
                    <a:pt x="3177035" y="10788"/>
                  </a:lnTo>
                  <a:lnTo>
                    <a:pt x="3180535" y="13133"/>
                  </a:lnTo>
                  <a:lnTo>
                    <a:pt x="3183773" y="15780"/>
                  </a:lnTo>
                  <a:lnTo>
                    <a:pt x="3186750" y="18766"/>
                  </a:lnTo>
                  <a:lnTo>
                    <a:pt x="3189726" y="21715"/>
                  </a:lnTo>
                  <a:lnTo>
                    <a:pt x="3205529" y="59888"/>
                  </a:lnTo>
                  <a:lnTo>
                    <a:pt x="3205529" y="64110"/>
                  </a:lnTo>
                  <a:lnTo>
                    <a:pt x="3205529" y="2720120"/>
                  </a:lnTo>
                  <a:lnTo>
                    <a:pt x="3205529" y="2724323"/>
                  </a:lnTo>
                  <a:lnTo>
                    <a:pt x="3205118" y="2728491"/>
                  </a:lnTo>
                  <a:lnTo>
                    <a:pt x="3186750" y="2765446"/>
                  </a:lnTo>
                  <a:lnTo>
                    <a:pt x="3149796" y="2783800"/>
                  </a:lnTo>
                  <a:lnTo>
                    <a:pt x="3141419" y="2784230"/>
                  </a:lnTo>
                  <a:lnTo>
                    <a:pt x="64111" y="2784230"/>
                  </a:lnTo>
                  <a:lnTo>
                    <a:pt x="28492" y="2773405"/>
                  </a:lnTo>
                  <a:lnTo>
                    <a:pt x="24991" y="2771069"/>
                  </a:lnTo>
                  <a:lnTo>
                    <a:pt x="2053" y="2736733"/>
                  </a:lnTo>
                  <a:lnTo>
                    <a:pt x="0" y="2724323"/>
                  </a:lnTo>
                  <a:lnTo>
                    <a:pt x="1" y="2720120"/>
                  </a:lnTo>
                  <a:close/>
                </a:path>
              </a:pathLst>
            </a:custGeom>
            <a:ln w="1831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951915" y="3768208"/>
            <a:ext cx="2846705" cy="2461895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30"/>
              </a:spcBef>
            </a:pPr>
            <a:r>
              <a:rPr dirty="0" sz="8650" spc="-25">
                <a:solidFill>
                  <a:srgbClr val="2562EB"/>
                </a:solidFill>
                <a:latin typeface="Helvetica"/>
                <a:cs typeface="Helvetica"/>
              </a:rPr>
              <a:t>24k</a:t>
            </a:r>
            <a:endParaRPr sz="865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2450" spc="-30">
                <a:solidFill>
                  <a:srgbClr val="465469"/>
                </a:solidFill>
                <a:latin typeface="Helvetica"/>
                <a:cs typeface="Helvetica"/>
              </a:rPr>
              <a:t>Tokens</a:t>
            </a:r>
            <a:r>
              <a:rPr dirty="0" sz="2450" spc="-65">
                <a:solidFill>
                  <a:srgbClr val="465469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465469"/>
                </a:solidFill>
                <a:latin typeface="Helvetica"/>
                <a:cs typeface="Helvetica"/>
              </a:rPr>
              <a:t>/</a:t>
            </a:r>
            <a:r>
              <a:rPr dirty="0" sz="2450" spc="-55">
                <a:solidFill>
                  <a:srgbClr val="465469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465469"/>
                </a:solidFill>
                <a:latin typeface="Helvetica"/>
                <a:cs typeface="Helvetica"/>
              </a:rPr>
              <a:t>Request</a:t>
            </a:r>
            <a:endParaRPr sz="245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with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5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active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servers</a:t>
            </a:r>
            <a:endParaRPr sz="2450">
              <a:latin typeface="Helvetica"/>
              <a:cs typeface="Helvetic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4377831"/>
            <a:ext cx="64110" cy="6411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80376" y="3220304"/>
            <a:ext cx="9102090" cy="1315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8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servers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provide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power,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but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they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consume</a:t>
            </a:r>
            <a:r>
              <a:rPr dirty="0" sz="2450" spc="-4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Content</a:t>
            </a:r>
            <a:r>
              <a:rPr dirty="0" sz="2450" spc="-3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 b="1">
                <a:solidFill>
                  <a:srgbClr val="1D293B"/>
                </a:solidFill>
                <a:latin typeface="Helvetica"/>
                <a:cs typeface="Helvetica"/>
              </a:rPr>
              <a:t>Window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.</a:t>
            </a:r>
            <a:endParaRPr sz="245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Cost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of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 spc="-10">
                <a:solidFill>
                  <a:srgbClr val="0E1729"/>
                </a:solidFill>
                <a:latin typeface="Helvetica"/>
                <a:cs typeface="Helvetica"/>
              </a:rPr>
              <a:t>Context</a:t>
            </a:r>
            <a:endParaRPr sz="20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070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Every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connected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server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adds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system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prompts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and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tool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deﬁnitions.</a:t>
            </a:r>
            <a:endParaRPr sz="1700">
              <a:latin typeface="Helvetica"/>
              <a:cs typeface="Helvetic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835763"/>
            <a:ext cx="64110" cy="640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8324" y="4705838"/>
            <a:ext cx="5152390" cy="287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Too</a:t>
            </a:r>
            <a:r>
              <a:rPr dirty="0" sz="170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Many</a:t>
            </a:r>
            <a:r>
              <a:rPr dirty="0" sz="170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Servers</a:t>
            </a:r>
            <a:r>
              <a:rPr dirty="0" sz="170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=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Slower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inference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higher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cost.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879478"/>
            <a:ext cx="767334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 Context</a:t>
            </a:r>
            <a:r>
              <a:rPr dirty="0" spc="10"/>
              <a:t> </a:t>
            </a:r>
            <a:r>
              <a:rPr dirty="0" spc="-10"/>
              <a:t>Economy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63123" y="3837470"/>
            <a:ext cx="3223895" cy="2802890"/>
            <a:chOff x="9763123" y="3837470"/>
            <a:chExt cx="3223895" cy="2802890"/>
          </a:xfrm>
        </p:grpSpPr>
        <p:sp>
          <p:nvSpPr>
            <p:cNvPr id="4" name="object 4"/>
            <p:cNvSpPr/>
            <p:nvPr/>
          </p:nvSpPr>
          <p:spPr>
            <a:xfrm>
              <a:off x="9772282" y="3846629"/>
              <a:ext cx="3206115" cy="2784475"/>
            </a:xfrm>
            <a:custGeom>
              <a:avLst/>
              <a:gdLst/>
              <a:ahLst/>
              <a:cxnLst/>
              <a:rect l="l" t="t" r="r" b="b"/>
              <a:pathLst>
                <a:path w="3206115" h="2784475">
                  <a:moveTo>
                    <a:pt x="3145628" y="2784230"/>
                  </a:moveTo>
                  <a:lnTo>
                    <a:pt x="59901" y="2784230"/>
                  </a:lnTo>
                  <a:lnTo>
                    <a:pt x="55732" y="2783818"/>
                  </a:lnTo>
                  <a:lnTo>
                    <a:pt x="15800" y="2762442"/>
                  </a:lnTo>
                  <a:lnTo>
                    <a:pt x="0" y="2724305"/>
                  </a:lnTo>
                  <a:lnTo>
                    <a:pt x="1" y="2720120"/>
                  </a:lnTo>
                  <a:lnTo>
                    <a:pt x="0" y="59888"/>
                  </a:lnTo>
                  <a:lnTo>
                    <a:pt x="15800" y="21733"/>
                  </a:lnTo>
                  <a:lnTo>
                    <a:pt x="55732" y="412"/>
                  </a:lnTo>
                  <a:lnTo>
                    <a:pt x="59901" y="0"/>
                  </a:lnTo>
                  <a:lnTo>
                    <a:pt x="3145628" y="0"/>
                  </a:lnTo>
                  <a:lnTo>
                    <a:pt x="3183773" y="15780"/>
                  </a:lnTo>
                  <a:lnTo>
                    <a:pt x="3205118" y="55721"/>
                  </a:lnTo>
                  <a:lnTo>
                    <a:pt x="3205529" y="59888"/>
                  </a:lnTo>
                  <a:lnTo>
                    <a:pt x="3205529" y="2724305"/>
                  </a:lnTo>
                  <a:lnTo>
                    <a:pt x="3189726" y="2762442"/>
                  </a:lnTo>
                  <a:lnTo>
                    <a:pt x="3149796" y="2783818"/>
                  </a:lnTo>
                  <a:lnTo>
                    <a:pt x="3145628" y="2784230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772282" y="3846629"/>
              <a:ext cx="3206115" cy="2784475"/>
            </a:xfrm>
            <a:custGeom>
              <a:avLst/>
              <a:gdLst/>
              <a:ahLst/>
              <a:cxnLst/>
              <a:rect l="l" t="t" r="r" b="b"/>
              <a:pathLst>
                <a:path w="3206115" h="2784475">
                  <a:moveTo>
                    <a:pt x="1" y="2720120"/>
                  </a:moveTo>
                  <a:lnTo>
                    <a:pt x="1" y="64110"/>
                  </a:lnTo>
                  <a:lnTo>
                    <a:pt x="0" y="59888"/>
                  </a:lnTo>
                  <a:lnTo>
                    <a:pt x="410" y="55721"/>
                  </a:lnTo>
                  <a:lnTo>
                    <a:pt x="1232" y="51590"/>
                  </a:lnTo>
                  <a:lnTo>
                    <a:pt x="2053" y="47460"/>
                  </a:lnTo>
                  <a:lnTo>
                    <a:pt x="3268" y="43448"/>
                  </a:lnTo>
                  <a:lnTo>
                    <a:pt x="18777" y="18766"/>
                  </a:lnTo>
                  <a:lnTo>
                    <a:pt x="21753" y="15780"/>
                  </a:lnTo>
                  <a:lnTo>
                    <a:pt x="51603" y="1236"/>
                  </a:lnTo>
                  <a:lnTo>
                    <a:pt x="55732" y="412"/>
                  </a:lnTo>
                  <a:lnTo>
                    <a:pt x="59901" y="0"/>
                  </a:lnTo>
                  <a:lnTo>
                    <a:pt x="64111" y="0"/>
                  </a:lnTo>
                  <a:lnTo>
                    <a:pt x="3141419" y="0"/>
                  </a:lnTo>
                  <a:lnTo>
                    <a:pt x="3145628" y="0"/>
                  </a:lnTo>
                  <a:lnTo>
                    <a:pt x="3149796" y="412"/>
                  </a:lnTo>
                  <a:lnTo>
                    <a:pt x="3153925" y="1236"/>
                  </a:lnTo>
                  <a:lnTo>
                    <a:pt x="3158052" y="2042"/>
                  </a:lnTo>
                  <a:lnTo>
                    <a:pt x="3177035" y="10788"/>
                  </a:lnTo>
                  <a:lnTo>
                    <a:pt x="3180535" y="13133"/>
                  </a:lnTo>
                  <a:lnTo>
                    <a:pt x="3183773" y="15780"/>
                  </a:lnTo>
                  <a:lnTo>
                    <a:pt x="3186750" y="18766"/>
                  </a:lnTo>
                  <a:lnTo>
                    <a:pt x="3189726" y="21733"/>
                  </a:lnTo>
                  <a:lnTo>
                    <a:pt x="3205529" y="59888"/>
                  </a:lnTo>
                  <a:lnTo>
                    <a:pt x="3205529" y="64110"/>
                  </a:lnTo>
                  <a:lnTo>
                    <a:pt x="3205529" y="2720120"/>
                  </a:lnTo>
                  <a:lnTo>
                    <a:pt x="3205529" y="2724305"/>
                  </a:lnTo>
                  <a:lnTo>
                    <a:pt x="3205118" y="2728472"/>
                  </a:lnTo>
                  <a:lnTo>
                    <a:pt x="3194723" y="2755701"/>
                  </a:lnTo>
                  <a:lnTo>
                    <a:pt x="3192384" y="2759209"/>
                  </a:lnTo>
                  <a:lnTo>
                    <a:pt x="3177035" y="2773386"/>
                  </a:lnTo>
                  <a:lnTo>
                    <a:pt x="3173534" y="2775731"/>
                  </a:lnTo>
                  <a:lnTo>
                    <a:pt x="3169840" y="2777700"/>
                  </a:lnTo>
                  <a:lnTo>
                    <a:pt x="3165951" y="2779312"/>
                  </a:lnTo>
                  <a:lnTo>
                    <a:pt x="3162061" y="2780942"/>
                  </a:lnTo>
                  <a:lnTo>
                    <a:pt x="3158052" y="2782151"/>
                  </a:lnTo>
                  <a:lnTo>
                    <a:pt x="3153925" y="2782975"/>
                  </a:lnTo>
                  <a:lnTo>
                    <a:pt x="3149796" y="2783818"/>
                  </a:lnTo>
                  <a:lnTo>
                    <a:pt x="3145628" y="2784230"/>
                  </a:lnTo>
                  <a:lnTo>
                    <a:pt x="3141419" y="2784230"/>
                  </a:lnTo>
                  <a:lnTo>
                    <a:pt x="64111" y="2784230"/>
                  </a:lnTo>
                  <a:lnTo>
                    <a:pt x="59901" y="2784230"/>
                  </a:lnTo>
                  <a:lnTo>
                    <a:pt x="55732" y="2783818"/>
                  </a:lnTo>
                  <a:lnTo>
                    <a:pt x="51603" y="2782975"/>
                  </a:lnTo>
                  <a:lnTo>
                    <a:pt x="47474" y="2782151"/>
                  </a:lnTo>
                  <a:lnTo>
                    <a:pt x="43466" y="2780942"/>
                  </a:lnTo>
                  <a:lnTo>
                    <a:pt x="39577" y="2779312"/>
                  </a:lnTo>
                  <a:lnTo>
                    <a:pt x="35687" y="2777700"/>
                  </a:lnTo>
                  <a:lnTo>
                    <a:pt x="31992" y="2775731"/>
                  </a:lnTo>
                  <a:lnTo>
                    <a:pt x="28492" y="2773386"/>
                  </a:lnTo>
                  <a:lnTo>
                    <a:pt x="24991" y="2771051"/>
                  </a:lnTo>
                  <a:lnTo>
                    <a:pt x="10804" y="2755701"/>
                  </a:lnTo>
                  <a:lnTo>
                    <a:pt x="8465" y="2752211"/>
                  </a:lnTo>
                  <a:lnTo>
                    <a:pt x="0" y="2724305"/>
                  </a:lnTo>
                  <a:lnTo>
                    <a:pt x="1" y="2720120"/>
                  </a:lnTo>
                  <a:close/>
                </a:path>
              </a:pathLst>
            </a:custGeom>
            <a:ln w="1831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951915" y="3768208"/>
            <a:ext cx="2846705" cy="2461895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30"/>
              </a:spcBef>
            </a:pPr>
            <a:r>
              <a:rPr dirty="0" sz="8650" spc="-25">
                <a:solidFill>
                  <a:srgbClr val="2562EB"/>
                </a:solidFill>
                <a:latin typeface="Helvetica"/>
                <a:cs typeface="Helvetica"/>
              </a:rPr>
              <a:t>24k</a:t>
            </a:r>
            <a:endParaRPr sz="865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2450" spc="-30">
                <a:solidFill>
                  <a:srgbClr val="465469"/>
                </a:solidFill>
                <a:latin typeface="Helvetica"/>
                <a:cs typeface="Helvetica"/>
              </a:rPr>
              <a:t>Tokens</a:t>
            </a:r>
            <a:r>
              <a:rPr dirty="0" sz="2450" spc="-65">
                <a:solidFill>
                  <a:srgbClr val="465469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465469"/>
                </a:solidFill>
                <a:latin typeface="Helvetica"/>
                <a:cs typeface="Helvetica"/>
              </a:rPr>
              <a:t>/</a:t>
            </a:r>
            <a:r>
              <a:rPr dirty="0" sz="2450" spc="-55">
                <a:solidFill>
                  <a:srgbClr val="465469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465469"/>
                </a:solidFill>
                <a:latin typeface="Helvetica"/>
                <a:cs typeface="Helvetica"/>
              </a:rPr>
              <a:t>Request</a:t>
            </a:r>
            <a:endParaRPr sz="245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with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5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active</a:t>
            </a:r>
            <a:r>
              <a:rPr dirty="0" sz="2450" spc="-1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servers</a:t>
            </a:r>
            <a:endParaRPr sz="2450">
              <a:latin typeface="Helvetica"/>
              <a:cs typeface="Helvetic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4377830"/>
            <a:ext cx="64110" cy="6409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80376" y="3220304"/>
            <a:ext cx="9102090" cy="1315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8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servers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provide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power,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but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they</a:t>
            </a:r>
            <a:r>
              <a:rPr dirty="0" sz="2450" spc="-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consume</a:t>
            </a:r>
            <a:r>
              <a:rPr dirty="0" sz="2450" spc="-4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Content</a:t>
            </a:r>
            <a:r>
              <a:rPr dirty="0" sz="2450" spc="-3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 b="1">
                <a:solidFill>
                  <a:srgbClr val="1D293B"/>
                </a:solidFill>
                <a:latin typeface="Helvetica"/>
                <a:cs typeface="Helvetica"/>
              </a:rPr>
              <a:t>Window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.</a:t>
            </a:r>
            <a:endParaRPr sz="245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Cost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of</a:t>
            </a:r>
            <a:r>
              <a:rPr dirty="0" sz="2000" spc="1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 spc="-10">
                <a:solidFill>
                  <a:srgbClr val="0E1729"/>
                </a:solidFill>
                <a:latin typeface="Helvetica"/>
                <a:cs typeface="Helvetica"/>
              </a:rPr>
              <a:t>Context</a:t>
            </a:r>
            <a:endParaRPr sz="20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070"/>
              </a:spcBef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Every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connected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server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adds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system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prompts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and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tool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deﬁnitions.</a:t>
            </a:r>
            <a:endParaRPr sz="1700">
              <a:latin typeface="Helvetica"/>
              <a:cs typeface="Helvetic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835763"/>
            <a:ext cx="64110" cy="6411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8324" y="4705838"/>
            <a:ext cx="5152390" cy="287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Too</a:t>
            </a:r>
            <a:r>
              <a:rPr dirty="0" sz="170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Many</a:t>
            </a:r>
            <a:r>
              <a:rPr dirty="0" sz="170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Servers</a:t>
            </a:r>
            <a:r>
              <a:rPr dirty="0" sz="170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=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Slower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inference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higher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cost.</a:t>
            </a:r>
            <a:endParaRPr sz="1700">
              <a:latin typeface="Helvetica"/>
              <a:cs typeface="Helvetic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552" y="5293696"/>
            <a:ext cx="64110" cy="6409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8324" y="5163771"/>
            <a:ext cx="5481320" cy="287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Solution:</a:t>
            </a:r>
            <a:r>
              <a:rPr dirty="0" sz="1700" spc="-3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20">
                <a:solidFill>
                  <a:srgbClr val="1D293B"/>
                </a:solidFill>
                <a:latin typeface="Helvetica"/>
                <a:cs typeface="Helvetica"/>
              </a:rPr>
              <a:t>Toggle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servers On/Off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instantly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based on</a:t>
            </a:r>
            <a:r>
              <a:rPr dirty="0" sz="170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task.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2328252"/>
            <a:ext cx="5653405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 Origin</a:t>
            </a:r>
            <a:r>
              <a:rPr dirty="0" spc="10"/>
              <a:t> </a:t>
            </a:r>
            <a:r>
              <a:rPr dirty="0" spc="-10"/>
              <a:t>Story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52" y="4240450"/>
            <a:ext cx="64110" cy="64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698383"/>
            <a:ext cx="64110" cy="64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552" y="5156316"/>
            <a:ext cx="64110" cy="6409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380487" y="5660389"/>
            <a:ext cx="10488295" cy="374650"/>
            <a:chOff x="2380487" y="5660389"/>
            <a:chExt cx="10488295" cy="374650"/>
          </a:xfrm>
        </p:grpSpPr>
        <p:sp>
          <p:nvSpPr>
            <p:cNvPr id="7" name="object 7"/>
            <p:cNvSpPr/>
            <p:nvPr/>
          </p:nvSpPr>
          <p:spPr>
            <a:xfrm>
              <a:off x="2380475" y="5660389"/>
              <a:ext cx="10488295" cy="374650"/>
            </a:xfrm>
            <a:custGeom>
              <a:avLst/>
              <a:gdLst/>
              <a:ahLst/>
              <a:cxnLst/>
              <a:rect l="l" t="t" r="r" b="b"/>
              <a:pathLst>
                <a:path w="10488295" h="374650">
                  <a:moveTo>
                    <a:pt x="10488168" y="27139"/>
                  </a:moveTo>
                  <a:lnTo>
                    <a:pt x="10459949" y="27139"/>
                  </a:lnTo>
                  <a:lnTo>
                    <a:pt x="10459949" y="347700"/>
                  </a:lnTo>
                  <a:lnTo>
                    <a:pt x="10488168" y="347700"/>
                  </a:lnTo>
                  <a:lnTo>
                    <a:pt x="10488168" y="27139"/>
                  </a:lnTo>
                  <a:close/>
                </a:path>
                <a:path w="10488295" h="374650">
                  <a:moveTo>
                    <a:pt x="10488168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347980"/>
                  </a:lnTo>
                  <a:lnTo>
                    <a:pt x="0" y="374650"/>
                  </a:lnTo>
                  <a:lnTo>
                    <a:pt x="10488168" y="374650"/>
                  </a:lnTo>
                  <a:lnTo>
                    <a:pt x="10488168" y="347980"/>
                  </a:lnTo>
                  <a:lnTo>
                    <a:pt x="28244" y="347980"/>
                  </a:lnTo>
                  <a:lnTo>
                    <a:pt x="28244" y="26670"/>
                  </a:lnTo>
                  <a:lnTo>
                    <a:pt x="10488168" y="26670"/>
                  </a:lnTo>
                  <a:lnTo>
                    <a:pt x="1048816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08725" y="5687517"/>
              <a:ext cx="36830" cy="320675"/>
            </a:xfrm>
            <a:custGeom>
              <a:avLst/>
              <a:gdLst/>
              <a:ahLst/>
              <a:cxnLst/>
              <a:rect l="l" t="t" r="r" b="b"/>
              <a:pathLst>
                <a:path w="36830" h="320675">
                  <a:moveTo>
                    <a:pt x="36634" y="320552"/>
                  </a:moveTo>
                  <a:lnTo>
                    <a:pt x="0" y="320552"/>
                  </a:lnTo>
                  <a:lnTo>
                    <a:pt x="0" y="0"/>
                  </a:lnTo>
                  <a:lnTo>
                    <a:pt x="36634" y="0"/>
                  </a:lnTo>
                  <a:lnTo>
                    <a:pt x="36634" y="320552"/>
                  </a:lnTo>
                  <a:close/>
                </a:path>
              </a:pathLst>
            </a:custGeom>
            <a:solidFill>
              <a:srgbClr val="007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80376" y="3491832"/>
            <a:ext cx="12560300" cy="246443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The</a:t>
            </a:r>
            <a:r>
              <a:rPr dirty="0" sz="2000" spc="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Pain</a:t>
            </a:r>
            <a:r>
              <a:rPr dirty="0" sz="2000" spc="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 spc="-20">
                <a:solidFill>
                  <a:srgbClr val="0E1729"/>
                </a:solidFill>
                <a:latin typeface="Helvetica"/>
                <a:cs typeface="Helvetica"/>
              </a:rPr>
              <a:t>Point</a:t>
            </a:r>
            <a:endParaRPr sz="20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14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Manual</a:t>
            </a:r>
            <a:r>
              <a:rPr dirty="0" sz="1700" spc="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Conﬁg</a:t>
            </a:r>
            <a:r>
              <a:rPr dirty="0" sz="1700" spc="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Hell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Editing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JSON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Claude,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VS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Code,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Gemini...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65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Inconsistency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Conﬁg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drift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between</a:t>
            </a:r>
            <a:r>
              <a:rPr dirty="0" sz="1700" spc="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tools.</a:t>
            </a:r>
            <a:endParaRPr sz="17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70"/>
              </a:spcBef>
            </a:pP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Syntax</a:t>
            </a:r>
            <a:r>
              <a:rPr dirty="0" sz="1700" spc="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Errors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One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missed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comma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breaks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whole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agent.</a:t>
            </a:r>
            <a:endParaRPr sz="17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700">
              <a:latin typeface="Helvetica"/>
              <a:cs typeface="Helvetica"/>
            </a:endParaRPr>
          </a:p>
          <a:p>
            <a:pPr marL="2251710">
              <a:lnSpc>
                <a:spcPct val="100000"/>
              </a:lnSpc>
            </a:pP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"I</a:t>
            </a:r>
            <a:r>
              <a:rPr dirty="0" sz="1400" spc="20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needed</a:t>
            </a:r>
            <a:r>
              <a:rPr dirty="0" sz="1400" spc="25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a</a:t>
            </a:r>
            <a:r>
              <a:rPr dirty="0" sz="1400" spc="25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uniﬁed</a:t>
            </a:r>
            <a:r>
              <a:rPr dirty="0" sz="1400" spc="25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graphical</a:t>
            </a:r>
            <a:r>
              <a:rPr dirty="0" sz="1400" spc="25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interface</a:t>
            </a:r>
            <a:r>
              <a:rPr dirty="0" sz="1400" spc="25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1400" spc="20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stop</a:t>
            </a:r>
            <a:r>
              <a:rPr dirty="0" sz="1400" spc="25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wrestling</a:t>
            </a:r>
            <a:r>
              <a:rPr dirty="0" sz="1400" spc="25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with</a:t>
            </a:r>
            <a:r>
              <a:rPr dirty="0" sz="1400" spc="25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i="1">
                <a:solidFill>
                  <a:srgbClr val="1D293B"/>
                </a:solidFill>
                <a:latin typeface="Helvetica"/>
                <a:cs typeface="Helvetica"/>
              </a:rPr>
              <a:t>JSON</a:t>
            </a:r>
            <a:r>
              <a:rPr dirty="0" sz="1400" spc="25" i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400" spc="-10" i="1">
                <a:solidFill>
                  <a:srgbClr val="1D293B"/>
                </a:solidFill>
                <a:latin typeface="Helvetica"/>
                <a:cs typeface="Helvetica"/>
              </a:rPr>
              <a:t>ﬁles."</a:t>
            </a:r>
            <a:endParaRPr sz="14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</a:t>
            </a:r>
            <a:r>
              <a:rPr dirty="0" spc="-440"/>
              <a:t> </a:t>
            </a:r>
            <a:r>
              <a:rPr dirty="0" spc="-590"/>
              <a:t>T</a:t>
            </a:r>
            <a:r>
              <a:rPr dirty="0" spc="85"/>
              <a:t>ale</a:t>
            </a:r>
            <a:r>
              <a:rPr dirty="0" spc="-229"/>
              <a:t> </a:t>
            </a:r>
            <a:r>
              <a:rPr dirty="0"/>
              <a:t>of</a:t>
            </a:r>
            <a:r>
              <a:rPr dirty="0" spc="-190"/>
              <a:t> </a:t>
            </a:r>
            <a:r>
              <a:rPr dirty="0" spc="-114"/>
              <a:t>Two</a:t>
            </a:r>
            <a:r>
              <a:rPr dirty="0" spc="-325"/>
              <a:t> </a:t>
            </a:r>
            <a:r>
              <a:rPr dirty="0" spc="-1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2899752"/>
            <a:ext cx="888936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used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different</a:t>
            </a:r>
            <a:r>
              <a:rPr dirty="0" sz="2450" spc="-1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agents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different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phases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of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development.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558925"/>
            <a:ext cx="7176134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</a:t>
            </a:r>
            <a:r>
              <a:rPr dirty="0" spc="-440"/>
              <a:t> </a:t>
            </a:r>
            <a:r>
              <a:rPr dirty="0" spc="-590"/>
              <a:t>T</a:t>
            </a:r>
            <a:r>
              <a:rPr dirty="0" spc="85"/>
              <a:t>ale</a:t>
            </a:r>
            <a:r>
              <a:rPr dirty="0" spc="-229"/>
              <a:t> </a:t>
            </a:r>
            <a:r>
              <a:rPr dirty="0"/>
              <a:t>of</a:t>
            </a:r>
            <a:r>
              <a:rPr dirty="0" spc="-190"/>
              <a:t> </a:t>
            </a:r>
            <a:r>
              <a:rPr dirty="0" spc="-114"/>
              <a:t>Two</a:t>
            </a:r>
            <a:r>
              <a:rPr dirty="0" spc="-325"/>
              <a:t> </a:t>
            </a:r>
            <a:r>
              <a:rPr dirty="0" spc="-10"/>
              <a:t>Agents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3076" y="3516934"/>
            <a:ext cx="7143750" cy="3444240"/>
            <a:chOff x="293076" y="3516934"/>
            <a:chExt cx="7143750" cy="3444240"/>
          </a:xfrm>
        </p:grpSpPr>
        <p:sp>
          <p:nvSpPr>
            <p:cNvPr id="4" name="object 4"/>
            <p:cNvSpPr/>
            <p:nvPr/>
          </p:nvSpPr>
          <p:spPr>
            <a:xfrm>
              <a:off x="293076" y="3516934"/>
              <a:ext cx="7143750" cy="3444240"/>
            </a:xfrm>
            <a:custGeom>
              <a:avLst/>
              <a:gdLst/>
              <a:ahLst/>
              <a:cxnLst/>
              <a:rect l="l" t="t" r="r" b="b"/>
              <a:pathLst>
                <a:path w="7143750" h="3444240">
                  <a:moveTo>
                    <a:pt x="7075291" y="3443635"/>
                  </a:moveTo>
                  <a:lnTo>
                    <a:pt x="68458" y="3443635"/>
                  </a:lnTo>
                  <a:lnTo>
                    <a:pt x="63693" y="3443168"/>
                  </a:lnTo>
                  <a:lnTo>
                    <a:pt x="24861" y="3425528"/>
                  </a:lnTo>
                  <a:lnTo>
                    <a:pt x="2346" y="3389361"/>
                  </a:lnTo>
                  <a:lnTo>
                    <a:pt x="0" y="3375174"/>
                  </a:lnTo>
                  <a:lnTo>
                    <a:pt x="0" y="3370366"/>
                  </a:lnTo>
                  <a:lnTo>
                    <a:pt x="0" y="68442"/>
                  </a:lnTo>
                  <a:lnTo>
                    <a:pt x="15020" y="28547"/>
                  </a:lnTo>
                  <a:lnTo>
                    <a:pt x="49675" y="3700"/>
                  </a:lnTo>
                  <a:lnTo>
                    <a:pt x="68458" y="0"/>
                  </a:lnTo>
                  <a:lnTo>
                    <a:pt x="7075291" y="0"/>
                  </a:lnTo>
                  <a:lnTo>
                    <a:pt x="7115185" y="14974"/>
                  </a:lnTo>
                  <a:lnTo>
                    <a:pt x="7140012" y="49639"/>
                  </a:lnTo>
                  <a:lnTo>
                    <a:pt x="7143748" y="68442"/>
                  </a:lnTo>
                  <a:lnTo>
                    <a:pt x="7143748" y="3375174"/>
                  </a:lnTo>
                  <a:lnTo>
                    <a:pt x="7128727" y="3415051"/>
                  </a:lnTo>
                  <a:lnTo>
                    <a:pt x="7094073" y="3439861"/>
                  </a:lnTo>
                  <a:lnTo>
                    <a:pt x="7080055" y="3443149"/>
                  </a:lnTo>
                  <a:lnTo>
                    <a:pt x="7075291" y="3443635"/>
                  </a:lnTo>
                  <a:close/>
                </a:path>
              </a:pathLst>
            </a:custGeom>
            <a:solidFill>
              <a:srgbClr val="E3F1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567" y="5028094"/>
              <a:ext cx="91586" cy="915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567" y="5678358"/>
              <a:ext cx="91586" cy="915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567" y="6337781"/>
              <a:ext cx="91586" cy="9156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80376" y="2684638"/>
            <a:ext cx="8889365" cy="3865879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used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different</a:t>
            </a:r>
            <a:r>
              <a:rPr dirty="0" sz="2450" spc="-1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agents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different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phases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of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development.</a:t>
            </a:r>
            <a:endParaRPr sz="2450">
              <a:latin typeface="Helvetica"/>
              <a:cs typeface="Helvetica"/>
            </a:endParaRPr>
          </a:p>
          <a:p>
            <a:pPr marL="149860">
              <a:lnSpc>
                <a:spcPct val="100000"/>
              </a:lnSpc>
              <a:spcBef>
                <a:spcPts val="2340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Phase</a:t>
            </a:r>
            <a:r>
              <a:rPr dirty="0" sz="2850" spc="7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1:</a:t>
            </a:r>
            <a:r>
              <a:rPr dirty="0" sz="2850" spc="8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Planning</a:t>
            </a:r>
            <a:r>
              <a:rPr dirty="0" sz="2850" spc="7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3300" spc="-480">
                <a:solidFill>
                  <a:srgbClr val="0E1729"/>
                </a:solidFill>
                <a:latin typeface="Apple Color Emoji"/>
                <a:cs typeface="Apple Color Emoji"/>
              </a:rPr>
              <a:t>🧠</a:t>
            </a:r>
            <a:endParaRPr sz="3300">
              <a:latin typeface="Apple Color Emoji"/>
              <a:cs typeface="Apple Color Emoji"/>
            </a:endParaRPr>
          </a:p>
          <a:p>
            <a:pPr marL="149860">
              <a:lnSpc>
                <a:spcPct val="100000"/>
              </a:lnSpc>
              <a:spcBef>
                <a:spcPts val="1430"/>
              </a:spcBef>
            </a:pPr>
            <a:r>
              <a:rPr dirty="0" sz="2450" b="1">
                <a:solidFill>
                  <a:srgbClr val="64738B"/>
                </a:solidFill>
                <a:latin typeface="Helvetica"/>
                <a:cs typeface="Helvetica"/>
              </a:rPr>
              <a:t>Claude</a:t>
            </a:r>
            <a:r>
              <a:rPr dirty="0" sz="2450" spc="-90" b="1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10" b="1">
                <a:solidFill>
                  <a:srgbClr val="64738B"/>
                </a:solidFill>
                <a:latin typeface="Helvetica"/>
                <a:cs typeface="Helvetica"/>
              </a:rPr>
              <a:t>Desktop</a:t>
            </a:r>
            <a:endParaRPr sz="2450">
              <a:latin typeface="Helvetica"/>
              <a:cs typeface="Helvetica"/>
            </a:endParaRPr>
          </a:p>
          <a:p>
            <a:pPr marL="461009" marR="6221730">
              <a:lnSpc>
                <a:spcPts val="5120"/>
              </a:lnSpc>
              <a:spcBef>
                <a:spcPts val="3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Strategy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&amp;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25">
                <a:solidFill>
                  <a:srgbClr val="64738B"/>
                </a:solidFill>
                <a:latin typeface="Helvetica"/>
                <a:cs typeface="Helvetica"/>
              </a:rPr>
              <a:t>PRD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Market</a:t>
            </a:r>
            <a:r>
              <a:rPr dirty="0" sz="2450" spc="-14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Analysis</a:t>
            </a:r>
            <a:endParaRPr sz="2450">
              <a:latin typeface="Helvetica"/>
              <a:cs typeface="Helvetica"/>
            </a:endParaRPr>
          </a:p>
          <a:p>
            <a:pPr marL="461009">
              <a:lnSpc>
                <a:spcPct val="100000"/>
              </a:lnSpc>
              <a:spcBef>
                <a:spcPts val="172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Architecture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Design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558925"/>
            <a:ext cx="7176134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</a:t>
            </a:r>
            <a:r>
              <a:rPr dirty="0" spc="-440"/>
              <a:t> </a:t>
            </a:r>
            <a:r>
              <a:rPr dirty="0" spc="-590"/>
              <a:t>T</a:t>
            </a:r>
            <a:r>
              <a:rPr dirty="0" spc="85"/>
              <a:t>ale</a:t>
            </a:r>
            <a:r>
              <a:rPr dirty="0" spc="-229"/>
              <a:t> </a:t>
            </a:r>
            <a:r>
              <a:rPr dirty="0"/>
              <a:t>of</a:t>
            </a:r>
            <a:r>
              <a:rPr dirty="0" spc="-190"/>
              <a:t> </a:t>
            </a:r>
            <a:r>
              <a:rPr dirty="0" spc="-114"/>
              <a:t>Two</a:t>
            </a:r>
            <a:r>
              <a:rPr dirty="0" spc="-325"/>
              <a:t> </a:t>
            </a:r>
            <a:r>
              <a:rPr dirty="0" spc="-1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2899752"/>
            <a:ext cx="888936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used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different</a:t>
            </a:r>
            <a:r>
              <a:rPr dirty="0" sz="2450" spc="-13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agents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for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different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phases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of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development.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3076" y="3516934"/>
            <a:ext cx="7143750" cy="3444240"/>
          </a:xfrm>
          <a:custGeom>
            <a:avLst/>
            <a:gdLst/>
            <a:ahLst/>
            <a:cxnLst/>
            <a:rect l="l" t="t" r="r" b="b"/>
            <a:pathLst>
              <a:path w="7143750" h="3444240">
                <a:moveTo>
                  <a:pt x="7075291" y="3443635"/>
                </a:moveTo>
                <a:lnTo>
                  <a:pt x="68458" y="3443635"/>
                </a:lnTo>
                <a:lnTo>
                  <a:pt x="63693" y="3443168"/>
                </a:lnTo>
                <a:lnTo>
                  <a:pt x="24861" y="3425546"/>
                </a:lnTo>
                <a:lnTo>
                  <a:pt x="2346" y="3389361"/>
                </a:lnTo>
                <a:lnTo>
                  <a:pt x="0" y="3375174"/>
                </a:lnTo>
                <a:lnTo>
                  <a:pt x="0" y="3370366"/>
                </a:lnTo>
                <a:lnTo>
                  <a:pt x="0" y="68442"/>
                </a:lnTo>
                <a:lnTo>
                  <a:pt x="15020" y="28529"/>
                </a:lnTo>
                <a:lnTo>
                  <a:pt x="49675" y="3681"/>
                </a:lnTo>
                <a:lnTo>
                  <a:pt x="68458" y="0"/>
                </a:lnTo>
                <a:lnTo>
                  <a:pt x="7075291" y="0"/>
                </a:lnTo>
                <a:lnTo>
                  <a:pt x="7115185" y="14974"/>
                </a:lnTo>
                <a:lnTo>
                  <a:pt x="7140012" y="49639"/>
                </a:lnTo>
                <a:lnTo>
                  <a:pt x="7143748" y="68442"/>
                </a:lnTo>
                <a:lnTo>
                  <a:pt x="7143748" y="3375174"/>
                </a:lnTo>
                <a:lnTo>
                  <a:pt x="7128727" y="3415051"/>
                </a:lnTo>
                <a:lnTo>
                  <a:pt x="7094073" y="3439880"/>
                </a:lnTo>
                <a:lnTo>
                  <a:pt x="7080055" y="3443149"/>
                </a:lnTo>
                <a:lnTo>
                  <a:pt x="7075291" y="3443635"/>
                </a:lnTo>
                <a:close/>
              </a:path>
            </a:pathLst>
          </a:custGeom>
          <a:solidFill>
            <a:srgbClr val="E3F1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7756" y="3319989"/>
            <a:ext cx="3467735" cy="1334770"/>
          </a:xfrm>
          <a:prstGeom prst="rect">
            <a:avLst/>
          </a:prstGeom>
        </p:spPr>
        <p:txBody>
          <a:bodyPr wrap="square" lIns="0" tIns="262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70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Phase</a:t>
            </a:r>
            <a:r>
              <a:rPr dirty="0" sz="2850" spc="7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1:</a:t>
            </a:r>
            <a:r>
              <a:rPr dirty="0" sz="2850" spc="8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Planning</a:t>
            </a:r>
            <a:r>
              <a:rPr dirty="0" sz="2850" spc="7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3300" spc="-480">
                <a:solidFill>
                  <a:srgbClr val="0E1729"/>
                </a:solidFill>
                <a:latin typeface="Apple Color Emoji"/>
                <a:cs typeface="Apple Color Emoji"/>
              </a:rPr>
              <a:t>🧠</a:t>
            </a:r>
            <a:endParaRPr sz="3300">
              <a:latin typeface="Apple Color Emoji"/>
              <a:cs typeface="Apple Color Emoji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2450" b="1">
                <a:solidFill>
                  <a:srgbClr val="64738B"/>
                </a:solidFill>
                <a:latin typeface="Helvetica"/>
                <a:cs typeface="Helvetica"/>
              </a:rPr>
              <a:t>Claude</a:t>
            </a:r>
            <a:r>
              <a:rPr dirty="0" sz="2450" spc="-90" b="1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10" b="1">
                <a:solidFill>
                  <a:srgbClr val="64738B"/>
                </a:solidFill>
                <a:latin typeface="Helvetica"/>
                <a:cs typeface="Helvetica"/>
              </a:rPr>
              <a:t>Desktop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4567" y="5028094"/>
            <a:ext cx="92075" cy="1401445"/>
            <a:chOff x="494567" y="5028094"/>
            <a:chExt cx="92075" cy="14014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567" y="5028094"/>
              <a:ext cx="91586" cy="915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567" y="5678358"/>
              <a:ext cx="91586" cy="915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567" y="6337781"/>
              <a:ext cx="91586" cy="9156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29150" y="4841387"/>
            <a:ext cx="222377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Strategy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&amp;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25">
                <a:solidFill>
                  <a:srgbClr val="64738B"/>
                </a:solidFill>
                <a:latin typeface="Helvetica"/>
                <a:cs typeface="Helvetica"/>
              </a:rPr>
              <a:t>PRD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150" y="5491651"/>
            <a:ext cx="220662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Market</a:t>
            </a:r>
            <a:r>
              <a:rPr dirty="0" sz="2450" spc="-14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Analysis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9150" y="6151074"/>
            <a:ext cx="27432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Architecture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Design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03171" y="3516934"/>
            <a:ext cx="7143750" cy="3444240"/>
          </a:xfrm>
          <a:custGeom>
            <a:avLst/>
            <a:gdLst/>
            <a:ahLst/>
            <a:cxnLst/>
            <a:rect l="l" t="t" r="r" b="b"/>
            <a:pathLst>
              <a:path w="7143750" h="3444240">
                <a:moveTo>
                  <a:pt x="7075291" y="3443635"/>
                </a:moveTo>
                <a:lnTo>
                  <a:pt x="68458" y="3443635"/>
                </a:lnTo>
                <a:lnTo>
                  <a:pt x="63693" y="3443168"/>
                </a:lnTo>
                <a:lnTo>
                  <a:pt x="24861" y="3425546"/>
                </a:lnTo>
                <a:lnTo>
                  <a:pt x="2346" y="3389361"/>
                </a:lnTo>
                <a:lnTo>
                  <a:pt x="0" y="3375174"/>
                </a:lnTo>
                <a:lnTo>
                  <a:pt x="0" y="3370366"/>
                </a:lnTo>
                <a:lnTo>
                  <a:pt x="0" y="68442"/>
                </a:lnTo>
                <a:lnTo>
                  <a:pt x="15020" y="28529"/>
                </a:lnTo>
                <a:lnTo>
                  <a:pt x="49674" y="3681"/>
                </a:lnTo>
                <a:lnTo>
                  <a:pt x="68458" y="0"/>
                </a:lnTo>
                <a:lnTo>
                  <a:pt x="7075291" y="0"/>
                </a:lnTo>
                <a:lnTo>
                  <a:pt x="7115186" y="14974"/>
                </a:lnTo>
                <a:lnTo>
                  <a:pt x="7140011" y="49639"/>
                </a:lnTo>
                <a:lnTo>
                  <a:pt x="7143750" y="68442"/>
                </a:lnTo>
                <a:lnTo>
                  <a:pt x="7143750" y="3375174"/>
                </a:lnTo>
                <a:lnTo>
                  <a:pt x="7128727" y="3415051"/>
                </a:lnTo>
                <a:lnTo>
                  <a:pt x="7094072" y="3439880"/>
                </a:lnTo>
                <a:lnTo>
                  <a:pt x="7080055" y="3443149"/>
                </a:lnTo>
                <a:lnTo>
                  <a:pt x="7075291" y="3443635"/>
                </a:lnTo>
                <a:close/>
              </a:path>
            </a:pathLst>
          </a:custGeom>
          <a:solidFill>
            <a:srgbClr val="F2E4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927852" y="3319989"/>
            <a:ext cx="3469004" cy="1334770"/>
          </a:xfrm>
          <a:prstGeom prst="rect">
            <a:avLst/>
          </a:prstGeom>
        </p:spPr>
        <p:txBody>
          <a:bodyPr wrap="square" lIns="0" tIns="262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70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Phase</a:t>
            </a:r>
            <a:r>
              <a:rPr dirty="0" sz="2850" spc="3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2:</a:t>
            </a:r>
            <a:r>
              <a:rPr dirty="0" sz="2850" spc="4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Building</a:t>
            </a:r>
            <a:r>
              <a:rPr dirty="0" sz="2850" spc="4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3300" spc="-480">
                <a:solidFill>
                  <a:srgbClr val="0E1729"/>
                </a:solidFill>
                <a:latin typeface="Apple Color Emoji"/>
                <a:cs typeface="Apple Color Emoji"/>
              </a:rPr>
              <a:t>🛠</a:t>
            </a:r>
            <a:endParaRPr sz="3300">
              <a:latin typeface="Apple Color Emoji"/>
              <a:cs typeface="Apple Color Emoji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2450" b="1">
                <a:solidFill>
                  <a:srgbClr val="64738B"/>
                </a:solidFill>
                <a:latin typeface="Helvetica"/>
                <a:cs typeface="Helvetica"/>
              </a:rPr>
              <a:t>Claude</a:t>
            </a:r>
            <a:r>
              <a:rPr dirty="0" sz="2450" spc="-55" b="1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64738B"/>
                </a:solidFill>
                <a:latin typeface="Helvetica"/>
                <a:cs typeface="Helvetica"/>
              </a:rPr>
              <a:t>Code</a:t>
            </a:r>
            <a:r>
              <a:rPr dirty="0" sz="2450" spc="-45" b="1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64738B"/>
                </a:solidFill>
                <a:latin typeface="Helvetica"/>
                <a:cs typeface="Helvetica"/>
              </a:rPr>
              <a:t>/</a:t>
            </a:r>
            <a:r>
              <a:rPr dirty="0" sz="2450" spc="-40" b="1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64738B"/>
                </a:solidFill>
                <a:latin typeface="Helvetica"/>
                <a:cs typeface="Helvetica"/>
              </a:rPr>
              <a:t>VS</a:t>
            </a:r>
            <a:r>
              <a:rPr dirty="0" sz="2450" spc="-45" b="1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20" b="1">
                <a:solidFill>
                  <a:srgbClr val="64738B"/>
                </a:solidFill>
                <a:latin typeface="Helvetica"/>
                <a:cs typeface="Helvetica"/>
              </a:rPr>
              <a:t>Code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04662" y="5028094"/>
            <a:ext cx="92075" cy="1401445"/>
            <a:chOff x="8004662" y="5028094"/>
            <a:chExt cx="92075" cy="140144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4662" y="5028094"/>
              <a:ext cx="91587" cy="9156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4662" y="5678358"/>
              <a:ext cx="91587" cy="915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4662" y="6337781"/>
              <a:ext cx="91587" cy="9156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239246" y="4841387"/>
            <a:ext cx="254127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Writing</a:t>
            </a:r>
            <a:r>
              <a:rPr dirty="0" sz="2450" spc="-9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64738B"/>
                </a:solidFill>
                <a:latin typeface="Helvetica"/>
                <a:cs typeface="Helvetica"/>
              </a:rPr>
              <a:t>TypeScript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39246" y="5491651"/>
            <a:ext cx="17907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File</a:t>
            </a:r>
            <a:r>
              <a:rPr dirty="0" sz="2450" spc="-2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Sys</a:t>
            </a:r>
            <a:r>
              <a:rPr dirty="0" sz="2450" spc="-2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25">
                <a:solidFill>
                  <a:srgbClr val="64738B"/>
                </a:solidFill>
                <a:latin typeface="Helvetica"/>
                <a:cs typeface="Helvetica"/>
              </a:rPr>
              <a:t>Ops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39246" y="6151074"/>
            <a:ext cx="220091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64738B"/>
                </a:solidFill>
                <a:latin typeface="Helvetica"/>
                <a:cs typeface="Helvetica"/>
              </a:rPr>
              <a:t>Iterative</a:t>
            </a:r>
            <a:r>
              <a:rPr dirty="0" sz="2450" spc="-4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2450" spc="-35">
                <a:solidFill>
                  <a:srgbClr val="64738B"/>
                </a:solidFill>
                <a:latin typeface="Helvetica"/>
                <a:cs typeface="Helvetica"/>
              </a:rPr>
              <a:t>Testing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30175"/>
            <a:ext cx="988060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Beyond</a:t>
            </a:r>
            <a:r>
              <a:rPr dirty="0" spc="10"/>
              <a:t> </a:t>
            </a:r>
            <a:r>
              <a:rPr dirty="0"/>
              <a:t>Conﬁg:</a:t>
            </a:r>
            <a:r>
              <a:rPr dirty="0" spc="-100"/>
              <a:t> </a:t>
            </a:r>
            <a:r>
              <a:rPr dirty="0" spc="-605"/>
              <a:t>T</a:t>
            </a:r>
            <a:r>
              <a:rPr dirty="0" spc="70"/>
              <a:t>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1471002"/>
            <a:ext cx="951801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use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Playwright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give</a:t>
            </a:r>
            <a:r>
              <a:rPr dirty="0" sz="2450" spc="-1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agents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"eyes"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on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our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test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results.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376" y="4154487"/>
            <a:ext cx="2320925" cy="333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Intelligent</a:t>
            </a:r>
            <a:r>
              <a:rPr dirty="0" sz="2000" spc="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 spc="-10">
                <a:solidFill>
                  <a:srgbClr val="0E1729"/>
                </a:solidFill>
                <a:latin typeface="Helvetica"/>
                <a:cs typeface="Helvetica"/>
              </a:rPr>
              <a:t>Diagnosis</a:t>
            </a:r>
            <a:endParaRPr sz="2000">
              <a:latin typeface="Helvetica"/>
              <a:cs typeface="Helvetic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3173" y="2262187"/>
            <a:ext cx="6786562" cy="57149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30175"/>
            <a:ext cx="988060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Beyond</a:t>
            </a:r>
            <a:r>
              <a:rPr dirty="0" spc="10"/>
              <a:t> </a:t>
            </a:r>
            <a:r>
              <a:rPr dirty="0"/>
              <a:t>Conﬁg:</a:t>
            </a:r>
            <a:r>
              <a:rPr dirty="0" spc="-100"/>
              <a:t> </a:t>
            </a:r>
            <a:r>
              <a:rPr dirty="0" spc="-605"/>
              <a:t>T</a:t>
            </a:r>
            <a:r>
              <a:rPr dirty="0" spc="70"/>
              <a:t>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1471002"/>
            <a:ext cx="951801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use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Playwright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give</a:t>
            </a:r>
            <a:r>
              <a:rPr dirty="0" sz="2450" spc="-1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agents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"eyes"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on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our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test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results.</a:t>
            </a:r>
            <a:endParaRPr sz="2450">
              <a:latin typeface="Helvetica"/>
              <a:cs typeface="Helvetic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3173" y="2262187"/>
            <a:ext cx="6786562" cy="5714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789968"/>
            <a:ext cx="64110" cy="640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0376" y="4154487"/>
            <a:ext cx="3105785" cy="793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Intelligent</a:t>
            </a:r>
            <a:r>
              <a:rPr dirty="0" sz="2000" spc="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 spc="-10">
                <a:solidFill>
                  <a:srgbClr val="0E1729"/>
                </a:solidFill>
                <a:latin typeface="Helvetica"/>
                <a:cs typeface="Helvetica"/>
              </a:rPr>
              <a:t>Diagnosis</a:t>
            </a:r>
            <a:endParaRPr sz="2000">
              <a:latin typeface="Helvetica"/>
              <a:cs typeface="Helvetica"/>
            </a:endParaRPr>
          </a:p>
          <a:p>
            <a:pPr marL="230504">
              <a:lnSpc>
                <a:spcPct val="100000"/>
              </a:lnSpc>
              <a:spcBef>
                <a:spcPts val="1575"/>
              </a:spcBef>
              <a:tabLst>
                <a:tab pos="1129030" algn="l"/>
              </a:tabLst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run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25">
                <a:solidFill>
                  <a:srgbClr val="D53383"/>
                </a:solidFill>
                <a:latin typeface="Times New Roman"/>
                <a:cs typeface="Times New Roman"/>
              </a:rPr>
              <a:t>npm</a:t>
            </a:r>
            <a:r>
              <a:rPr dirty="0" sz="1700">
                <a:solidFill>
                  <a:srgbClr val="D53383"/>
                </a:solidFill>
                <a:latin typeface="Times New Roman"/>
                <a:cs typeface="Times New Roman"/>
              </a:rPr>
              <a:t>	</a:t>
            </a:r>
            <a:r>
              <a:rPr dirty="0" sz="1700" spc="375">
                <a:solidFill>
                  <a:srgbClr val="D53383"/>
                </a:solidFill>
                <a:latin typeface="Times New Roman"/>
                <a:cs typeface="Times New Roman"/>
              </a:rPr>
              <a:t>test:e2e</a:t>
            </a:r>
            <a:r>
              <a:rPr dirty="0" sz="1700" spc="60">
                <a:solidFill>
                  <a:srgbClr val="D53383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via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25">
                <a:solidFill>
                  <a:srgbClr val="1D293B"/>
                </a:solidFill>
                <a:latin typeface="Helvetica"/>
                <a:cs typeface="Helvetica"/>
              </a:rPr>
              <a:t>MCP.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30175"/>
            <a:ext cx="988060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Beyond</a:t>
            </a:r>
            <a:r>
              <a:rPr dirty="0" spc="10"/>
              <a:t> </a:t>
            </a:r>
            <a:r>
              <a:rPr dirty="0"/>
              <a:t>Conﬁg:</a:t>
            </a:r>
            <a:r>
              <a:rPr dirty="0" spc="-100"/>
              <a:t> </a:t>
            </a:r>
            <a:r>
              <a:rPr dirty="0" spc="-605"/>
              <a:t>T</a:t>
            </a:r>
            <a:r>
              <a:rPr dirty="0" spc="70"/>
              <a:t>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1471002"/>
            <a:ext cx="951801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use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Playwright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give</a:t>
            </a:r>
            <a:r>
              <a:rPr dirty="0" sz="2450" spc="-1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agents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"eyes"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on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our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test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results.</a:t>
            </a:r>
            <a:endParaRPr sz="2450">
              <a:latin typeface="Helvetica"/>
              <a:cs typeface="Helvetic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3173" y="2262187"/>
            <a:ext cx="6786562" cy="5714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789968"/>
            <a:ext cx="64110" cy="64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552" y="5247901"/>
            <a:ext cx="64110" cy="64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0376" y="4154487"/>
            <a:ext cx="3727450" cy="1250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Intelligent</a:t>
            </a:r>
            <a:r>
              <a:rPr dirty="0" sz="2000" spc="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 spc="-10">
                <a:solidFill>
                  <a:srgbClr val="0E1729"/>
                </a:solidFill>
                <a:latin typeface="Helvetica"/>
                <a:cs typeface="Helvetica"/>
              </a:rPr>
              <a:t>Diagnosis</a:t>
            </a:r>
            <a:endParaRPr sz="2000">
              <a:latin typeface="Helvetica"/>
              <a:cs typeface="Helvetica"/>
            </a:endParaRPr>
          </a:p>
          <a:p>
            <a:pPr marL="230504" marR="5080">
              <a:lnSpc>
                <a:spcPct val="176800"/>
              </a:lnSpc>
              <a:spcBef>
                <a:spcPts val="10"/>
              </a:spcBef>
              <a:tabLst>
                <a:tab pos="1129030" algn="l"/>
              </a:tabLst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run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25">
                <a:solidFill>
                  <a:srgbClr val="D53383"/>
                </a:solidFill>
                <a:latin typeface="Times New Roman"/>
                <a:cs typeface="Times New Roman"/>
              </a:rPr>
              <a:t>npm</a:t>
            </a:r>
            <a:r>
              <a:rPr dirty="0" sz="1700">
                <a:solidFill>
                  <a:srgbClr val="D53383"/>
                </a:solidFill>
                <a:latin typeface="Times New Roman"/>
                <a:cs typeface="Times New Roman"/>
              </a:rPr>
              <a:t>	</a:t>
            </a:r>
            <a:r>
              <a:rPr dirty="0" sz="1700" spc="375">
                <a:solidFill>
                  <a:srgbClr val="D53383"/>
                </a:solidFill>
                <a:latin typeface="Times New Roman"/>
                <a:cs typeface="Times New Roman"/>
              </a:rPr>
              <a:t>test:e2e</a:t>
            </a:r>
            <a:r>
              <a:rPr dirty="0" sz="1700" spc="60">
                <a:solidFill>
                  <a:srgbClr val="D53383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via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20">
                <a:solidFill>
                  <a:srgbClr val="1D293B"/>
                </a:solidFill>
                <a:latin typeface="Helvetica"/>
                <a:cs typeface="Helvetica"/>
              </a:rPr>
              <a:t>MCP.</a:t>
            </a:r>
            <a:r>
              <a:rPr dirty="0" sz="1700" spc="50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Agent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sees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failure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+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screenshot.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130175"/>
            <a:ext cx="9880600" cy="953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MCP</a:t>
            </a:r>
            <a:r>
              <a:rPr dirty="0" spc="-100"/>
              <a:t> </a:t>
            </a:r>
            <a:r>
              <a:rPr dirty="0"/>
              <a:t>Beyond</a:t>
            </a:r>
            <a:r>
              <a:rPr dirty="0" spc="10"/>
              <a:t> </a:t>
            </a:r>
            <a:r>
              <a:rPr dirty="0"/>
              <a:t>Conﬁg:</a:t>
            </a:r>
            <a:r>
              <a:rPr dirty="0" spc="-100"/>
              <a:t> </a:t>
            </a:r>
            <a:r>
              <a:rPr dirty="0" spc="-605"/>
              <a:t>T</a:t>
            </a:r>
            <a:r>
              <a:rPr dirty="0" spc="70"/>
              <a:t>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1471002"/>
            <a:ext cx="951801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use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Playwright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give</a:t>
            </a:r>
            <a:r>
              <a:rPr dirty="0" sz="2450" spc="-15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AI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agents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"eyes"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on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our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test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results.</a:t>
            </a:r>
            <a:endParaRPr sz="2450">
              <a:latin typeface="Helvetica"/>
              <a:cs typeface="Helvetic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3173" y="2262187"/>
            <a:ext cx="6786562" cy="5714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552" y="4789968"/>
            <a:ext cx="64110" cy="64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552" y="5247900"/>
            <a:ext cx="64110" cy="640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552" y="5705833"/>
            <a:ext cx="64110" cy="6409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80376" y="4154487"/>
            <a:ext cx="3727450" cy="17087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>
                <a:solidFill>
                  <a:srgbClr val="0E1729"/>
                </a:solidFill>
                <a:latin typeface="Helvetica"/>
                <a:cs typeface="Helvetica"/>
              </a:rPr>
              <a:t>Intelligent</a:t>
            </a:r>
            <a:r>
              <a:rPr dirty="0" sz="2000" spc="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000" spc="-10">
                <a:solidFill>
                  <a:srgbClr val="0E1729"/>
                </a:solidFill>
                <a:latin typeface="Helvetica"/>
                <a:cs typeface="Helvetica"/>
              </a:rPr>
              <a:t>Diagnosis</a:t>
            </a:r>
            <a:endParaRPr sz="2000">
              <a:latin typeface="Helvetica"/>
              <a:cs typeface="Helvetica"/>
            </a:endParaRPr>
          </a:p>
          <a:p>
            <a:pPr marL="230504" marR="5080">
              <a:lnSpc>
                <a:spcPct val="176800"/>
              </a:lnSpc>
              <a:spcBef>
                <a:spcPts val="10"/>
              </a:spcBef>
              <a:tabLst>
                <a:tab pos="1129030" algn="l"/>
              </a:tabLst>
            </a:pP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run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25">
                <a:solidFill>
                  <a:srgbClr val="D53383"/>
                </a:solidFill>
                <a:latin typeface="Times New Roman"/>
                <a:cs typeface="Times New Roman"/>
              </a:rPr>
              <a:t>npm</a:t>
            </a:r>
            <a:r>
              <a:rPr dirty="0" sz="1700">
                <a:solidFill>
                  <a:srgbClr val="D53383"/>
                </a:solidFill>
                <a:latin typeface="Times New Roman"/>
                <a:cs typeface="Times New Roman"/>
              </a:rPr>
              <a:t>	</a:t>
            </a:r>
            <a:r>
              <a:rPr dirty="0" sz="1700" spc="375">
                <a:solidFill>
                  <a:srgbClr val="D53383"/>
                </a:solidFill>
                <a:latin typeface="Times New Roman"/>
                <a:cs typeface="Times New Roman"/>
              </a:rPr>
              <a:t>test:e2e</a:t>
            </a:r>
            <a:r>
              <a:rPr dirty="0" sz="1700" spc="60">
                <a:solidFill>
                  <a:srgbClr val="D53383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via</a:t>
            </a:r>
            <a:r>
              <a:rPr dirty="0" sz="1700" spc="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20">
                <a:solidFill>
                  <a:srgbClr val="1D293B"/>
                </a:solidFill>
                <a:latin typeface="Helvetica"/>
                <a:cs typeface="Helvetica"/>
              </a:rPr>
              <a:t>MCP.</a:t>
            </a:r>
            <a:r>
              <a:rPr dirty="0" sz="1700" spc="50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Agent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sees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the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failure</a:t>
            </a:r>
            <a:r>
              <a:rPr dirty="0" sz="1700" spc="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+</a:t>
            </a:r>
            <a:r>
              <a:rPr dirty="0" sz="1700" spc="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screenshot. </a:t>
            </a:r>
            <a:r>
              <a:rPr dirty="0" sz="1700" b="1">
                <a:solidFill>
                  <a:srgbClr val="1D293B"/>
                </a:solidFill>
                <a:latin typeface="Helvetica"/>
                <a:cs typeface="Helvetica"/>
              </a:rPr>
              <a:t>Result:</a:t>
            </a:r>
            <a:r>
              <a:rPr dirty="0" sz="1700" spc="3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1D293B"/>
                </a:solidFill>
                <a:latin typeface="Helvetica"/>
                <a:cs typeface="Helvetica"/>
              </a:rPr>
              <a:t>Self-healing</a:t>
            </a:r>
            <a:r>
              <a:rPr dirty="0" sz="1700" spc="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1D293B"/>
                </a:solidFill>
                <a:latin typeface="Helvetica"/>
                <a:cs typeface="Helvetica"/>
              </a:rPr>
              <a:t>tests.</a:t>
            </a:r>
            <a:endParaRPr sz="17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MCP</a:t>
            </a:r>
            <a:r>
              <a:rPr dirty="0" spc="-15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Work</a:t>
            </a:r>
            <a:r>
              <a:rPr dirty="0" spc="-135"/>
              <a:t> </a:t>
            </a:r>
            <a:r>
              <a:rPr dirty="0" spc="-10"/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330209"/>
            <a:ext cx="48895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Connecting Requirements to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Code.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0472" y="3916362"/>
            <a:ext cx="352107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Work</a:t>
            </a:r>
            <a:r>
              <a:rPr dirty="0" sz="2850" spc="4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Item</a:t>
            </a:r>
            <a:r>
              <a:rPr dirty="0" sz="2850" spc="3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Integration</a:t>
            </a:r>
            <a:endParaRPr sz="2850">
              <a:latin typeface="Helvetica"/>
              <a:cs typeface="Helvetic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3983989"/>
            <a:ext cx="6815455" cy="1831339"/>
            <a:chOff x="457200" y="3983989"/>
            <a:chExt cx="6815455" cy="1831339"/>
          </a:xfrm>
        </p:grpSpPr>
        <p:sp>
          <p:nvSpPr>
            <p:cNvPr id="6" name="object 6"/>
            <p:cNvSpPr/>
            <p:nvPr/>
          </p:nvSpPr>
          <p:spPr>
            <a:xfrm>
              <a:off x="457187" y="3983989"/>
              <a:ext cx="6815455" cy="1831339"/>
            </a:xfrm>
            <a:custGeom>
              <a:avLst/>
              <a:gdLst/>
              <a:ahLst/>
              <a:cxnLst/>
              <a:rect l="l" t="t" r="r" b="b"/>
              <a:pathLst>
                <a:path w="6815455" h="1831339">
                  <a:moveTo>
                    <a:pt x="6815328" y="146583"/>
                  </a:moveTo>
                  <a:lnTo>
                    <a:pt x="6622440" y="146583"/>
                  </a:lnTo>
                  <a:lnTo>
                    <a:pt x="6622440" y="1593646"/>
                  </a:lnTo>
                  <a:lnTo>
                    <a:pt x="6815328" y="1593646"/>
                  </a:lnTo>
                  <a:lnTo>
                    <a:pt x="6815328" y="146583"/>
                  </a:lnTo>
                  <a:close/>
                </a:path>
                <a:path w="6815455" h="1831339">
                  <a:moveTo>
                    <a:pt x="6815328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0" y="1593850"/>
                  </a:lnTo>
                  <a:lnTo>
                    <a:pt x="0" y="1831340"/>
                  </a:lnTo>
                  <a:lnTo>
                    <a:pt x="6815328" y="1831340"/>
                  </a:lnTo>
                  <a:lnTo>
                    <a:pt x="6815328" y="1593850"/>
                  </a:lnTo>
                  <a:lnTo>
                    <a:pt x="193065" y="1593850"/>
                  </a:lnTo>
                  <a:lnTo>
                    <a:pt x="193065" y="146050"/>
                  </a:lnTo>
                  <a:lnTo>
                    <a:pt x="6815328" y="14605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0264" y="4130544"/>
              <a:ext cx="6429375" cy="1447165"/>
            </a:xfrm>
            <a:custGeom>
              <a:avLst/>
              <a:gdLst/>
              <a:ahLst/>
              <a:cxnLst/>
              <a:rect l="l" t="t" r="r" b="b"/>
              <a:pathLst>
                <a:path w="6429375" h="1447164">
                  <a:moveTo>
                    <a:pt x="6429374" y="1447067"/>
                  </a:moveTo>
                  <a:lnTo>
                    <a:pt x="0" y="1447067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447067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50264" y="4150824"/>
            <a:ext cx="6429375" cy="13766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5720">
              <a:lnSpc>
                <a:spcPts val="1310"/>
              </a:lnSpc>
              <a:spcBef>
                <a:spcPts val="110"/>
              </a:spcBef>
            </a:pPr>
            <a:r>
              <a:rPr dirty="0" sz="1100" spc="36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100" spc="39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.mcp.json</a:t>
            </a:r>
            <a:r>
              <a:rPr dirty="0" sz="1100" spc="39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40">
                <a:solidFill>
                  <a:srgbClr val="74705D"/>
                </a:solidFill>
                <a:latin typeface="Times New Roman"/>
                <a:cs typeface="Times New Roman"/>
              </a:rPr>
              <a:t>(Expanded)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  <a:spcBef>
                <a:spcPts val="50"/>
              </a:spcBef>
            </a:pPr>
            <a:r>
              <a:rPr dirty="0" sz="1100" spc="285">
                <a:solidFill>
                  <a:srgbClr val="DDDDDD"/>
                </a:solidFill>
                <a:latin typeface="Times New Roman"/>
                <a:cs typeface="Times New Roman"/>
              </a:rPr>
              <a:t>"jira-</a:t>
            </a:r>
            <a:r>
              <a:rPr dirty="0" sz="1100" spc="235">
                <a:solidFill>
                  <a:srgbClr val="DDDDDD"/>
                </a:solidFill>
                <a:latin typeface="Times New Roman"/>
                <a:cs typeface="Times New Roman"/>
              </a:rPr>
              <a:t>server":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</a:pPr>
            <a:r>
              <a:rPr dirty="0" sz="1100" spc="110">
                <a:solidFill>
                  <a:srgbClr val="DDDDDD"/>
                </a:solidFill>
                <a:latin typeface="Times New Roman"/>
                <a:cs typeface="Times New Roman"/>
              </a:rPr>
              <a:t>"command":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A6E22E"/>
                </a:solidFill>
                <a:latin typeface="Times New Roman"/>
                <a:cs typeface="Times New Roman"/>
              </a:rPr>
              <a:t>"npx"</a:t>
            </a: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  <a:spcBef>
                <a:spcPts val="50"/>
              </a:spcBef>
            </a:pPr>
            <a:r>
              <a:rPr dirty="0" sz="1100" spc="229">
                <a:solidFill>
                  <a:srgbClr val="DDDDDD"/>
                </a:solidFill>
                <a:latin typeface="Times New Roman"/>
                <a:cs typeface="Times New Roman"/>
              </a:rPr>
              <a:t>"args":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70">
                <a:solidFill>
                  <a:srgbClr val="DDDDDD"/>
                </a:solidFill>
                <a:latin typeface="Times New Roman"/>
                <a:cs typeface="Times New Roman"/>
              </a:rPr>
              <a:t>[</a:t>
            </a:r>
            <a:r>
              <a:rPr dirty="0" sz="1100" spc="270">
                <a:solidFill>
                  <a:srgbClr val="A6E22E"/>
                </a:solidFill>
                <a:latin typeface="Times New Roman"/>
                <a:cs typeface="Times New Roman"/>
              </a:rPr>
              <a:t>"-</a:t>
            </a:r>
            <a:r>
              <a:rPr dirty="0" sz="1100" spc="240">
                <a:solidFill>
                  <a:srgbClr val="A6E22E"/>
                </a:solidFill>
                <a:latin typeface="Times New Roman"/>
                <a:cs typeface="Times New Roman"/>
              </a:rPr>
              <a:t>y"</a:t>
            </a:r>
            <a:r>
              <a:rPr dirty="0" sz="1100" spc="24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20">
                <a:solidFill>
                  <a:srgbClr val="A6E22E"/>
                </a:solidFill>
                <a:latin typeface="Times New Roman"/>
                <a:cs typeface="Times New Roman"/>
              </a:rPr>
              <a:t>"mcp-</a:t>
            </a:r>
            <a:r>
              <a:rPr dirty="0" sz="1100" spc="290">
                <a:solidFill>
                  <a:srgbClr val="A6E22E"/>
                </a:solidFill>
                <a:latin typeface="Times New Roman"/>
                <a:cs typeface="Times New Roman"/>
              </a:rPr>
              <a:t>jira"</a:t>
            </a:r>
            <a:r>
              <a:rPr dirty="0" sz="1100" spc="290">
                <a:solidFill>
                  <a:srgbClr val="DDDDDD"/>
                </a:solidFill>
                <a:latin typeface="Times New Roman"/>
                <a:cs typeface="Times New Roman"/>
              </a:rPr>
              <a:t>],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</a:pPr>
            <a:r>
              <a:rPr dirty="0" sz="1100" spc="200">
                <a:solidFill>
                  <a:srgbClr val="DDDDDD"/>
                </a:solidFill>
                <a:latin typeface="Times New Roman"/>
                <a:cs typeface="Times New Roman"/>
              </a:rPr>
              <a:t>"env":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3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65">
                <a:solidFill>
                  <a:srgbClr val="DDDDDD"/>
                </a:solidFill>
                <a:latin typeface="Times New Roman"/>
                <a:cs typeface="Times New Roman"/>
              </a:rPr>
              <a:t>"JIRA_API_TOKEN":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320">
                <a:solidFill>
                  <a:srgbClr val="A6E22E"/>
                </a:solidFill>
                <a:latin typeface="Times New Roman"/>
                <a:cs typeface="Times New Roman"/>
              </a:rPr>
              <a:t>"..."</a:t>
            </a:r>
            <a:r>
              <a:rPr dirty="0" sz="1100" spc="400">
                <a:solidFill>
                  <a:srgbClr val="A6E22E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MCP</a:t>
            </a:r>
            <a:r>
              <a:rPr dirty="0" spc="-15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Work</a:t>
            </a:r>
            <a:r>
              <a:rPr dirty="0" spc="-135"/>
              <a:t> </a:t>
            </a:r>
            <a:r>
              <a:rPr dirty="0" spc="-10"/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330209"/>
            <a:ext cx="48895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Connecting Requirements to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Code.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983989"/>
            <a:ext cx="6815455" cy="1831339"/>
            <a:chOff x="457200" y="3983989"/>
            <a:chExt cx="6815455" cy="1831339"/>
          </a:xfrm>
        </p:grpSpPr>
        <p:sp>
          <p:nvSpPr>
            <p:cNvPr id="5" name="object 5"/>
            <p:cNvSpPr/>
            <p:nvPr/>
          </p:nvSpPr>
          <p:spPr>
            <a:xfrm>
              <a:off x="457187" y="3983989"/>
              <a:ext cx="6815455" cy="1831339"/>
            </a:xfrm>
            <a:custGeom>
              <a:avLst/>
              <a:gdLst/>
              <a:ahLst/>
              <a:cxnLst/>
              <a:rect l="l" t="t" r="r" b="b"/>
              <a:pathLst>
                <a:path w="6815455" h="1831339">
                  <a:moveTo>
                    <a:pt x="6815328" y="146583"/>
                  </a:moveTo>
                  <a:lnTo>
                    <a:pt x="6622440" y="146583"/>
                  </a:lnTo>
                  <a:lnTo>
                    <a:pt x="6622440" y="1593646"/>
                  </a:lnTo>
                  <a:lnTo>
                    <a:pt x="6815328" y="1593646"/>
                  </a:lnTo>
                  <a:lnTo>
                    <a:pt x="6815328" y="146583"/>
                  </a:lnTo>
                  <a:close/>
                </a:path>
                <a:path w="6815455" h="1831339">
                  <a:moveTo>
                    <a:pt x="6815328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0" y="1593850"/>
                  </a:lnTo>
                  <a:lnTo>
                    <a:pt x="0" y="1831340"/>
                  </a:lnTo>
                  <a:lnTo>
                    <a:pt x="6815328" y="1831340"/>
                  </a:lnTo>
                  <a:lnTo>
                    <a:pt x="6815328" y="1593850"/>
                  </a:lnTo>
                  <a:lnTo>
                    <a:pt x="193065" y="1593850"/>
                  </a:lnTo>
                  <a:lnTo>
                    <a:pt x="193065" y="146050"/>
                  </a:lnTo>
                  <a:lnTo>
                    <a:pt x="6815328" y="14605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50264" y="4130544"/>
              <a:ext cx="6429375" cy="1447165"/>
            </a:xfrm>
            <a:custGeom>
              <a:avLst/>
              <a:gdLst/>
              <a:ahLst/>
              <a:cxnLst/>
              <a:rect l="l" t="t" r="r" b="b"/>
              <a:pathLst>
                <a:path w="6429375" h="1447164">
                  <a:moveTo>
                    <a:pt x="6429374" y="1447067"/>
                  </a:moveTo>
                  <a:lnTo>
                    <a:pt x="0" y="1447067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447067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50264" y="4150824"/>
            <a:ext cx="6429375" cy="13766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5720">
              <a:lnSpc>
                <a:spcPts val="1310"/>
              </a:lnSpc>
              <a:spcBef>
                <a:spcPts val="110"/>
              </a:spcBef>
            </a:pPr>
            <a:r>
              <a:rPr dirty="0" sz="1100" spc="36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100" spc="39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.mcp.json</a:t>
            </a:r>
            <a:r>
              <a:rPr dirty="0" sz="1100" spc="39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40">
                <a:solidFill>
                  <a:srgbClr val="74705D"/>
                </a:solidFill>
                <a:latin typeface="Times New Roman"/>
                <a:cs typeface="Times New Roman"/>
              </a:rPr>
              <a:t>(Expanded)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  <a:spcBef>
                <a:spcPts val="50"/>
              </a:spcBef>
            </a:pPr>
            <a:r>
              <a:rPr dirty="0" sz="1100" spc="285">
                <a:solidFill>
                  <a:srgbClr val="DDDDDD"/>
                </a:solidFill>
                <a:latin typeface="Times New Roman"/>
                <a:cs typeface="Times New Roman"/>
              </a:rPr>
              <a:t>"jira-</a:t>
            </a:r>
            <a:r>
              <a:rPr dirty="0" sz="1100" spc="235">
                <a:solidFill>
                  <a:srgbClr val="DDDDDD"/>
                </a:solidFill>
                <a:latin typeface="Times New Roman"/>
                <a:cs typeface="Times New Roman"/>
              </a:rPr>
              <a:t>server":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</a:pPr>
            <a:r>
              <a:rPr dirty="0" sz="1100" spc="110">
                <a:solidFill>
                  <a:srgbClr val="DDDDDD"/>
                </a:solidFill>
                <a:latin typeface="Times New Roman"/>
                <a:cs typeface="Times New Roman"/>
              </a:rPr>
              <a:t>"command":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A6E22E"/>
                </a:solidFill>
                <a:latin typeface="Times New Roman"/>
                <a:cs typeface="Times New Roman"/>
              </a:rPr>
              <a:t>"npx"</a:t>
            </a: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  <a:spcBef>
                <a:spcPts val="50"/>
              </a:spcBef>
            </a:pPr>
            <a:r>
              <a:rPr dirty="0" sz="1100" spc="229">
                <a:solidFill>
                  <a:srgbClr val="DDDDDD"/>
                </a:solidFill>
                <a:latin typeface="Times New Roman"/>
                <a:cs typeface="Times New Roman"/>
              </a:rPr>
              <a:t>"args":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70">
                <a:solidFill>
                  <a:srgbClr val="DDDDDD"/>
                </a:solidFill>
                <a:latin typeface="Times New Roman"/>
                <a:cs typeface="Times New Roman"/>
              </a:rPr>
              <a:t>[</a:t>
            </a:r>
            <a:r>
              <a:rPr dirty="0" sz="1100" spc="270">
                <a:solidFill>
                  <a:srgbClr val="A6E22E"/>
                </a:solidFill>
                <a:latin typeface="Times New Roman"/>
                <a:cs typeface="Times New Roman"/>
              </a:rPr>
              <a:t>"-</a:t>
            </a:r>
            <a:r>
              <a:rPr dirty="0" sz="1100" spc="240">
                <a:solidFill>
                  <a:srgbClr val="A6E22E"/>
                </a:solidFill>
                <a:latin typeface="Times New Roman"/>
                <a:cs typeface="Times New Roman"/>
              </a:rPr>
              <a:t>y"</a:t>
            </a:r>
            <a:r>
              <a:rPr dirty="0" sz="1100" spc="24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20">
                <a:solidFill>
                  <a:srgbClr val="A6E22E"/>
                </a:solidFill>
                <a:latin typeface="Times New Roman"/>
                <a:cs typeface="Times New Roman"/>
              </a:rPr>
              <a:t>"mcp-</a:t>
            </a:r>
            <a:r>
              <a:rPr dirty="0" sz="1100" spc="290">
                <a:solidFill>
                  <a:srgbClr val="A6E22E"/>
                </a:solidFill>
                <a:latin typeface="Times New Roman"/>
                <a:cs typeface="Times New Roman"/>
              </a:rPr>
              <a:t>jira"</a:t>
            </a:r>
            <a:r>
              <a:rPr dirty="0" sz="1100" spc="290">
                <a:solidFill>
                  <a:srgbClr val="DDDDDD"/>
                </a:solidFill>
                <a:latin typeface="Times New Roman"/>
                <a:cs typeface="Times New Roman"/>
              </a:rPr>
              <a:t>],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</a:pPr>
            <a:r>
              <a:rPr dirty="0" sz="1100" spc="200">
                <a:solidFill>
                  <a:srgbClr val="DDDDDD"/>
                </a:solidFill>
                <a:latin typeface="Times New Roman"/>
                <a:cs typeface="Times New Roman"/>
              </a:rPr>
              <a:t>"env":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3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65">
                <a:solidFill>
                  <a:srgbClr val="DDDDDD"/>
                </a:solidFill>
                <a:latin typeface="Times New Roman"/>
                <a:cs typeface="Times New Roman"/>
              </a:rPr>
              <a:t>"JIRA_API_TOKEN":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320">
                <a:solidFill>
                  <a:srgbClr val="A6E22E"/>
                </a:solidFill>
                <a:latin typeface="Times New Roman"/>
                <a:cs typeface="Times New Roman"/>
              </a:rPr>
              <a:t>"..."</a:t>
            </a:r>
            <a:r>
              <a:rPr dirty="0" sz="1100" spc="400">
                <a:solidFill>
                  <a:srgbClr val="A6E22E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7282" y="4735016"/>
            <a:ext cx="91587" cy="915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790472" y="3690090"/>
            <a:ext cx="6459855" cy="1257300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Work</a:t>
            </a:r>
            <a:r>
              <a:rPr dirty="0" sz="2850" spc="4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Item</a:t>
            </a:r>
            <a:r>
              <a:rPr dirty="0" sz="2850" spc="3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Integration</a:t>
            </a:r>
            <a:endParaRPr sz="2850">
              <a:latin typeface="Helvetica"/>
              <a:cs typeface="Helvetica"/>
            </a:endParaRPr>
          </a:p>
          <a:p>
            <a:pPr marL="323850">
              <a:lnSpc>
                <a:spcPct val="100000"/>
              </a:lnSpc>
              <a:spcBef>
                <a:spcPts val="1525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Fetch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"Acceptance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Criteria"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from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Jira/Linear.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MCP</a:t>
            </a:r>
            <a:r>
              <a:rPr dirty="0" spc="-15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Work</a:t>
            </a:r>
            <a:r>
              <a:rPr dirty="0" spc="-135"/>
              <a:t> </a:t>
            </a:r>
            <a:r>
              <a:rPr dirty="0" spc="-10"/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330209"/>
            <a:ext cx="48895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Connecting Requirements to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Code.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983989"/>
            <a:ext cx="6815455" cy="1831339"/>
            <a:chOff x="457200" y="3983989"/>
            <a:chExt cx="6815455" cy="1831339"/>
          </a:xfrm>
        </p:grpSpPr>
        <p:sp>
          <p:nvSpPr>
            <p:cNvPr id="5" name="object 5"/>
            <p:cNvSpPr/>
            <p:nvPr/>
          </p:nvSpPr>
          <p:spPr>
            <a:xfrm>
              <a:off x="457187" y="3983989"/>
              <a:ext cx="6815455" cy="1831339"/>
            </a:xfrm>
            <a:custGeom>
              <a:avLst/>
              <a:gdLst/>
              <a:ahLst/>
              <a:cxnLst/>
              <a:rect l="l" t="t" r="r" b="b"/>
              <a:pathLst>
                <a:path w="6815455" h="1831339">
                  <a:moveTo>
                    <a:pt x="6815328" y="146583"/>
                  </a:moveTo>
                  <a:lnTo>
                    <a:pt x="6622440" y="146583"/>
                  </a:lnTo>
                  <a:lnTo>
                    <a:pt x="6622440" y="1593646"/>
                  </a:lnTo>
                  <a:lnTo>
                    <a:pt x="6815328" y="1593646"/>
                  </a:lnTo>
                  <a:lnTo>
                    <a:pt x="6815328" y="146583"/>
                  </a:lnTo>
                  <a:close/>
                </a:path>
                <a:path w="6815455" h="1831339">
                  <a:moveTo>
                    <a:pt x="6815328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0" y="1593850"/>
                  </a:lnTo>
                  <a:lnTo>
                    <a:pt x="0" y="1831340"/>
                  </a:lnTo>
                  <a:lnTo>
                    <a:pt x="6815328" y="1831340"/>
                  </a:lnTo>
                  <a:lnTo>
                    <a:pt x="6815328" y="1593850"/>
                  </a:lnTo>
                  <a:lnTo>
                    <a:pt x="193065" y="1593850"/>
                  </a:lnTo>
                  <a:lnTo>
                    <a:pt x="193065" y="146050"/>
                  </a:lnTo>
                  <a:lnTo>
                    <a:pt x="6815328" y="14605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50264" y="4130544"/>
              <a:ext cx="6429375" cy="1447165"/>
            </a:xfrm>
            <a:custGeom>
              <a:avLst/>
              <a:gdLst/>
              <a:ahLst/>
              <a:cxnLst/>
              <a:rect l="l" t="t" r="r" b="b"/>
              <a:pathLst>
                <a:path w="6429375" h="1447164">
                  <a:moveTo>
                    <a:pt x="6429374" y="1447067"/>
                  </a:moveTo>
                  <a:lnTo>
                    <a:pt x="0" y="1447067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447067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50264" y="4150824"/>
            <a:ext cx="6429375" cy="13766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5720">
              <a:lnSpc>
                <a:spcPts val="1310"/>
              </a:lnSpc>
              <a:spcBef>
                <a:spcPts val="110"/>
              </a:spcBef>
            </a:pPr>
            <a:r>
              <a:rPr dirty="0" sz="1100" spc="36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100" spc="39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.mcp.json</a:t>
            </a:r>
            <a:r>
              <a:rPr dirty="0" sz="1100" spc="39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40">
                <a:solidFill>
                  <a:srgbClr val="74705D"/>
                </a:solidFill>
                <a:latin typeface="Times New Roman"/>
                <a:cs typeface="Times New Roman"/>
              </a:rPr>
              <a:t>(Expanded)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  <a:spcBef>
                <a:spcPts val="50"/>
              </a:spcBef>
            </a:pPr>
            <a:r>
              <a:rPr dirty="0" sz="1100" spc="285">
                <a:solidFill>
                  <a:srgbClr val="DDDDDD"/>
                </a:solidFill>
                <a:latin typeface="Times New Roman"/>
                <a:cs typeface="Times New Roman"/>
              </a:rPr>
              <a:t>"jira-</a:t>
            </a:r>
            <a:r>
              <a:rPr dirty="0" sz="1100" spc="235">
                <a:solidFill>
                  <a:srgbClr val="DDDDDD"/>
                </a:solidFill>
                <a:latin typeface="Times New Roman"/>
                <a:cs typeface="Times New Roman"/>
              </a:rPr>
              <a:t>server":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</a:pPr>
            <a:r>
              <a:rPr dirty="0" sz="1100" spc="110">
                <a:solidFill>
                  <a:srgbClr val="DDDDDD"/>
                </a:solidFill>
                <a:latin typeface="Times New Roman"/>
                <a:cs typeface="Times New Roman"/>
              </a:rPr>
              <a:t>"command":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A6E22E"/>
                </a:solidFill>
                <a:latin typeface="Times New Roman"/>
                <a:cs typeface="Times New Roman"/>
              </a:rPr>
              <a:t>"npx"</a:t>
            </a: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  <a:spcBef>
                <a:spcPts val="50"/>
              </a:spcBef>
            </a:pPr>
            <a:r>
              <a:rPr dirty="0" sz="1100" spc="229">
                <a:solidFill>
                  <a:srgbClr val="DDDDDD"/>
                </a:solidFill>
                <a:latin typeface="Times New Roman"/>
                <a:cs typeface="Times New Roman"/>
              </a:rPr>
              <a:t>"args":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70">
                <a:solidFill>
                  <a:srgbClr val="DDDDDD"/>
                </a:solidFill>
                <a:latin typeface="Times New Roman"/>
                <a:cs typeface="Times New Roman"/>
              </a:rPr>
              <a:t>[</a:t>
            </a:r>
            <a:r>
              <a:rPr dirty="0" sz="1100" spc="270">
                <a:solidFill>
                  <a:srgbClr val="A6E22E"/>
                </a:solidFill>
                <a:latin typeface="Times New Roman"/>
                <a:cs typeface="Times New Roman"/>
              </a:rPr>
              <a:t>"-</a:t>
            </a:r>
            <a:r>
              <a:rPr dirty="0" sz="1100" spc="240">
                <a:solidFill>
                  <a:srgbClr val="A6E22E"/>
                </a:solidFill>
                <a:latin typeface="Times New Roman"/>
                <a:cs typeface="Times New Roman"/>
              </a:rPr>
              <a:t>y"</a:t>
            </a:r>
            <a:r>
              <a:rPr dirty="0" sz="1100" spc="24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20">
                <a:solidFill>
                  <a:srgbClr val="A6E22E"/>
                </a:solidFill>
                <a:latin typeface="Times New Roman"/>
                <a:cs typeface="Times New Roman"/>
              </a:rPr>
              <a:t>"mcp-</a:t>
            </a:r>
            <a:r>
              <a:rPr dirty="0" sz="1100" spc="290">
                <a:solidFill>
                  <a:srgbClr val="A6E22E"/>
                </a:solidFill>
                <a:latin typeface="Times New Roman"/>
                <a:cs typeface="Times New Roman"/>
              </a:rPr>
              <a:t>jira"</a:t>
            </a:r>
            <a:r>
              <a:rPr dirty="0" sz="1100" spc="290">
                <a:solidFill>
                  <a:srgbClr val="DDDDDD"/>
                </a:solidFill>
                <a:latin typeface="Times New Roman"/>
                <a:cs typeface="Times New Roman"/>
              </a:rPr>
              <a:t>],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</a:pPr>
            <a:r>
              <a:rPr dirty="0" sz="1100" spc="200">
                <a:solidFill>
                  <a:srgbClr val="DDDDDD"/>
                </a:solidFill>
                <a:latin typeface="Times New Roman"/>
                <a:cs typeface="Times New Roman"/>
              </a:rPr>
              <a:t>"env":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3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65">
                <a:solidFill>
                  <a:srgbClr val="DDDDDD"/>
                </a:solidFill>
                <a:latin typeface="Times New Roman"/>
                <a:cs typeface="Times New Roman"/>
              </a:rPr>
              <a:t>"JIRA_API_TOKEN":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320">
                <a:solidFill>
                  <a:srgbClr val="A6E22E"/>
                </a:solidFill>
                <a:latin typeface="Times New Roman"/>
                <a:cs typeface="Times New Roman"/>
              </a:rPr>
              <a:t>"..."</a:t>
            </a:r>
            <a:r>
              <a:rPr dirty="0" sz="1100" spc="400">
                <a:solidFill>
                  <a:srgbClr val="A6E22E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7282" y="4735015"/>
            <a:ext cx="91587" cy="9156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7282" y="5385280"/>
            <a:ext cx="91587" cy="915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790472" y="3690090"/>
            <a:ext cx="6459855" cy="2310765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Work</a:t>
            </a:r>
            <a:r>
              <a:rPr dirty="0" sz="2850" spc="4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Item</a:t>
            </a:r>
            <a:r>
              <a:rPr dirty="0" sz="2850" spc="3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Integration</a:t>
            </a:r>
            <a:endParaRPr sz="2850">
              <a:latin typeface="Helvetica"/>
              <a:cs typeface="Helvetica"/>
            </a:endParaRPr>
          </a:p>
          <a:p>
            <a:pPr marL="323850">
              <a:lnSpc>
                <a:spcPct val="100000"/>
              </a:lnSpc>
              <a:spcBef>
                <a:spcPts val="1525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Fetch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"Acceptance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Criteria"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from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Jira/Linear.</a:t>
            </a:r>
            <a:endParaRPr sz="2450">
              <a:latin typeface="Helvetica"/>
              <a:cs typeface="Helvetica"/>
            </a:endParaRPr>
          </a:p>
          <a:p>
            <a:pPr marL="323850" marR="68580">
              <a:lnSpc>
                <a:spcPct val="107900"/>
              </a:lnSpc>
              <a:spcBef>
                <a:spcPts val="1945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Generate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implementation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plan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based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on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the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ticket.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MCP</a:t>
            </a:r>
            <a:r>
              <a:rPr dirty="0" spc="-15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Work</a:t>
            </a:r>
            <a:r>
              <a:rPr dirty="0" spc="-135"/>
              <a:t> </a:t>
            </a:r>
            <a:r>
              <a:rPr dirty="0" spc="-10"/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330209"/>
            <a:ext cx="488950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Connecting Requirements to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Code.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983989"/>
            <a:ext cx="6815455" cy="1831339"/>
            <a:chOff x="457200" y="3983989"/>
            <a:chExt cx="6815455" cy="1831339"/>
          </a:xfrm>
        </p:grpSpPr>
        <p:sp>
          <p:nvSpPr>
            <p:cNvPr id="5" name="object 5"/>
            <p:cNvSpPr/>
            <p:nvPr/>
          </p:nvSpPr>
          <p:spPr>
            <a:xfrm>
              <a:off x="457187" y="3983989"/>
              <a:ext cx="6815455" cy="1831339"/>
            </a:xfrm>
            <a:custGeom>
              <a:avLst/>
              <a:gdLst/>
              <a:ahLst/>
              <a:cxnLst/>
              <a:rect l="l" t="t" r="r" b="b"/>
              <a:pathLst>
                <a:path w="6815455" h="1831339">
                  <a:moveTo>
                    <a:pt x="6815328" y="146583"/>
                  </a:moveTo>
                  <a:lnTo>
                    <a:pt x="6622440" y="146583"/>
                  </a:lnTo>
                  <a:lnTo>
                    <a:pt x="6622440" y="1593646"/>
                  </a:lnTo>
                  <a:lnTo>
                    <a:pt x="6815328" y="1593646"/>
                  </a:lnTo>
                  <a:lnTo>
                    <a:pt x="6815328" y="146583"/>
                  </a:lnTo>
                  <a:close/>
                </a:path>
                <a:path w="6815455" h="1831339">
                  <a:moveTo>
                    <a:pt x="6815328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0" y="1593850"/>
                  </a:lnTo>
                  <a:lnTo>
                    <a:pt x="0" y="1831340"/>
                  </a:lnTo>
                  <a:lnTo>
                    <a:pt x="6815328" y="1831340"/>
                  </a:lnTo>
                  <a:lnTo>
                    <a:pt x="6815328" y="1593850"/>
                  </a:lnTo>
                  <a:lnTo>
                    <a:pt x="193065" y="1593850"/>
                  </a:lnTo>
                  <a:lnTo>
                    <a:pt x="193065" y="146050"/>
                  </a:lnTo>
                  <a:lnTo>
                    <a:pt x="6815328" y="14605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50264" y="4130544"/>
              <a:ext cx="6429375" cy="1447165"/>
            </a:xfrm>
            <a:custGeom>
              <a:avLst/>
              <a:gdLst/>
              <a:ahLst/>
              <a:cxnLst/>
              <a:rect l="l" t="t" r="r" b="b"/>
              <a:pathLst>
                <a:path w="6429375" h="1447164">
                  <a:moveTo>
                    <a:pt x="6429374" y="1447067"/>
                  </a:moveTo>
                  <a:lnTo>
                    <a:pt x="0" y="1447067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447067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50264" y="4150824"/>
            <a:ext cx="6429375" cy="13766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5720">
              <a:lnSpc>
                <a:spcPts val="1310"/>
              </a:lnSpc>
              <a:spcBef>
                <a:spcPts val="110"/>
              </a:spcBef>
            </a:pPr>
            <a:r>
              <a:rPr dirty="0" sz="1100" spc="36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100" spc="39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.mcp.json</a:t>
            </a:r>
            <a:r>
              <a:rPr dirty="0" sz="1100" spc="39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40">
                <a:solidFill>
                  <a:srgbClr val="74705D"/>
                </a:solidFill>
                <a:latin typeface="Times New Roman"/>
                <a:cs typeface="Times New Roman"/>
              </a:rPr>
              <a:t>(Expanded)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  <a:spcBef>
                <a:spcPts val="50"/>
              </a:spcBef>
            </a:pPr>
            <a:r>
              <a:rPr dirty="0" sz="1100" spc="285">
                <a:solidFill>
                  <a:srgbClr val="DDDDDD"/>
                </a:solidFill>
                <a:latin typeface="Times New Roman"/>
                <a:cs typeface="Times New Roman"/>
              </a:rPr>
              <a:t>"jira-</a:t>
            </a:r>
            <a:r>
              <a:rPr dirty="0" sz="1100" spc="235">
                <a:solidFill>
                  <a:srgbClr val="DDDDDD"/>
                </a:solidFill>
                <a:latin typeface="Times New Roman"/>
                <a:cs typeface="Times New Roman"/>
              </a:rPr>
              <a:t>server":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</a:pPr>
            <a:r>
              <a:rPr dirty="0" sz="1100" spc="110">
                <a:solidFill>
                  <a:srgbClr val="DDDDDD"/>
                </a:solidFill>
                <a:latin typeface="Times New Roman"/>
                <a:cs typeface="Times New Roman"/>
              </a:rPr>
              <a:t>"command":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A6E22E"/>
                </a:solidFill>
                <a:latin typeface="Times New Roman"/>
                <a:cs typeface="Times New Roman"/>
              </a:rPr>
              <a:t>"npx"</a:t>
            </a: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  <a:spcBef>
                <a:spcPts val="50"/>
              </a:spcBef>
            </a:pPr>
            <a:r>
              <a:rPr dirty="0" sz="1100" spc="229">
                <a:solidFill>
                  <a:srgbClr val="DDDDDD"/>
                </a:solidFill>
                <a:latin typeface="Times New Roman"/>
                <a:cs typeface="Times New Roman"/>
              </a:rPr>
              <a:t>"args":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70">
                <a:solidFill>
                  <a:srgbClr val="DDDDDD"/>
                </a:solidFill>
                <a:latin typeface="Times New Roman"/>
                <a:cs typeface="Times New Roman"/>
              </a:rPr>
              <a:t>[</a:t>
            </a:r>
            <a:r>
              <a:rPr dirty="0" sz="1100" spc="270">
                <a:solidFill>
                  <a:srgbClr val="A6E22E"/>
                </a:solidFill>
                <a:latin typeface="Times New Roman"/>
                <a:cs typeface="Times New Roman"/>
              </a:rPr>
              <a:t>"-</a:t>
            </a:r>
            <a:r>
              <a:rPr dirty="0" sz="1100" spc="240">
                <a:solidFill>
                  <a:srgbClr val="A6E22E"/>
                </a:solidFill>
                <a:latin typeface="Times New Roman"/>
                <a:cs typeface="Times New Roman"/>
              </a:rPr>
              <a:t>y"</a:t>
            </a:r>
            <a:r>
              <a:rPr dirty="0" sz="1100" spc="24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20">
                <a:solidFill>
                  <a:srgbClr val="A6E22E"/>
                </a:solidFill>
                <a:latin typeface="Times New Roman"/>
                <a:cs typeface="Times New Roman"/>
              </a:rPr>
              <a:t>"mcp-</a:t>
            </a:r>
            <a:r>
              <a:rPr dirty="0" sz="1100" spc="290">
                <a:solidFill>
                  <a:srgbClr val="A6E22E"/>
                </a:solidFill>
                <a:latin typeface="Times New Roman"/>
                <a:cs typeface="Times New Roman"/>
              </a:rPr>
              <a:t>jira"</a:t>
            </a:r>
            <a:r>
              <a:rPr dirty="0" sz="1100" spc="290">
                <a:solidFill>
                  <a:srgbClr val="DDDDDD"/>
                </a:solidFill>
                <a:latin typeface="Times New Roman"/>
                <a:cs typeface="Times New Roman"/>
              </a:rPr>
              <a:t>],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</a:pPr>
            <a:r>
              <a:rPr dirty="0" sz="1100" spc="200">
                <a:solidFill>
                  <a:srgbClr val="DDDDDD"/>
                </a:solidFill>
                <a:latin typeface="Times New Roman"/>
                <a:cs typeface="Times New Roman"/>
              </a:rPr>
              <a:t>"env":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3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65">
                <a:solidFill>
                  <a:srgbClr val="DDDDDD"/>
                </a:solidFill>
                <a:latin typeface="Times New Roman"/>
                <a:cs typeface="Times New Roman"/>
              </a:rPr>
              <a:t>"JIRA_API_TOKEN":</a:t>
            </a:r>
            <a:r>
              <a:rPr dirty="0" sz="1100" spc="40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320">
                <a:solidFill>
                  <a:srgbClr val="A6E22E"/>
                </a:solidFill>
                <a:latin typeface="Times New Roman"/>
                <a:cs typeface="Times New Roman"/>
              </a:rPr>
              <a:t>"..."</a:t>
            </a:r>
            <a:r>
              <a:rPr dirty="0" sz="1100" spc="400">
                <a:solidFill>
                  <a:srgbClr val="A6E22E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7282" y="4735015"/>
            <a:ext cx="91587" cy="915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7282" y="5385279"/>
            <a:ext cx="91587" cy="915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67282" y="6447683"/>
            <a:ext cx="91587" cy="9156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790472" y="3690090"/>
            <a:ext cx="6459855" cy="2970530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Work</a:t>
            </a:r>
            <a:r>
              <a:rPr dirty="0" sz="2850" spc="4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>
                <a:solidFill>
                  <a:srgbClr val="0E1729"/>
                </a:solidFill>
                <a:latin typeface="Helvetica"/>
                <a:cs typeface="Helvetica"/>
              </a:rPr>
              <a:t>Item</a:t>
            </a:r>
            <a:r>
              <a:rPr dirty="0" sz="2850" spc="35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Integration</a:t>
            </a:r>
            <a:endParaRPr sz="2850">
              <a:latin typeface="Helvetica"/>
              <a:cs typeface="Helvetica"/>
            </a:endParaRPr>
          </a:p>
          <a:p>
            <a:pPr marL="323850">
              <a:lnSpc>
                <a:spcPct val="100000"/>
              </a:lnSpc>
              <a:spcBef>
                <a:spcPts val="1525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Fetch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"Acceptance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Criteria"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from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Jira/Linear.</a:t>
            </a:r>
            <a:endParaRPr sz="2450">
              <a:latin typeface="Helvetica"/>
              <a:cs typeface="Helvetica"/>
            </a:endParaRPr>
          </a:p>
          <a:p>
            <a:pPr marL="323850" marR="68580">
              <a:lnSpc>
                <a:spcPct val="107900"/>
              </a:lnSpc>
              <a:spcBef>
                <a:spcPts val="1945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Generate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implementation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plan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based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on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the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ticket.</a:t>
            </a:r>
            <a:endParaRPr sz="2450">
              <a:latin typeface="Helvetica"/>
              <a:cs typeface="Helvetica"/>
            </a:endParaRPr>
          </a:p>
          <a:p>
            <a:pPr marL="323850">
              <a:lnSpc>
                <a:spcPct val="100000"/>
              </a:lnSpc>
              <a:spcBef>
                <a:spcPts val="2255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Update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ticket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status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upon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creation.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8"/>
            <a:ext cx="15240000" cy="8563610"/>
          </a:xfrm>
          <a:custGeom>
            <a:avLst/>
            <a:gdLst/>
            <a:ahLst/>
            <a:cxnLst/>
            <a:rect l="l" t="t" r="r" b="b"/>
            <a:pathLst>
              <a:path w="15240000" h="8563610">
                <a:moveTo>
                  <a:pt x="15239998" y="8563340"/>
                </a:moveTo>
                <a:lnTo>
                  <a:pt x="0" y="8563340"/>
                </a:lnTo>
                <a:lnTo>
                  <a:pt x="0" y="0"/>
                </a:lnTo>
                <a:lnTo>
                  <a:pt x="15239998" y="0"/>
                </a:lnTo>
                <a:lnTo>
                  <a:pt x="15239998" y="856334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/>
          <p:nvPr/>
        </p:nvSpPr>
        <p:spPr>
          <a:xfrm>
            <a:off x="1332763" y="2727569"/>
            <a:ext cx="12574270" cy="1682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850">
                <a:solidFill>
                  <a:srgbClr val="FFFFFF"/>
                </a:solidFill>
                <a:latin typeface="Helvetica"/>
                <a:cs typeface="Helvetica"/>
              </a:rPr>
              <a:t>Let's</a:t>
            </a:r>
            <a:r>
              <a:rPr dirty="0" sz="10850" spc="5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dirty="0" sz="10850">
                <a:solidFill>
                  <a:srgbClr val="FFFFFF"/>
                </a:solidFill>
                <a:latin typeface="Helvetica"/>
                <a:cs typeface="Helvetica"/>
              </a:rPr>
              <a:t>See</a:t>
            </a:r>
            <a:r>
              <a:rPr dirty="0" sz="10850" spc="5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dirty="0" sz="10850">
                <a:solidFill>
                  <a:srgbClr val="FFFFFF"/>
                </a:solidFill>
                <a:latin typeface="Helvetica"/>
                <a:cs typeface="Helvetica"/>
              </a:rPr>
              <a:t>It</a:t>
            </a:r>
            <a:r>
              <a:rPr dirty="0" sz="10850" spc="5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dirty="0" sz="10850">
                <a:solidFill>
                  <a:srgbClr val="FFFFFF"/>
                </a:solidFill>
                <a:latin typeface="Helvetica"/>
                <a:cs typeface="Helvetica"/>
              </a:rPr>
              <a:t>In</a:t>
            </a:r>
            <a:r>
              <a:rPr dirty="0" sz="10850" spc="-59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dirty="0" sz="10850" spc="-10">
                <a:solidFill>
                  <a:srgbClr val="FFFFFF"/>
                </a:solidFill>
                <a:latin typeface="Helvetica"/>
                <a:cs typeface="Helvetica"/>
              </a:rPr>
              <a:t>Action</a:t>
            </a:r>
            <a:endParaRPr sz="108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3015" y="5143622"/>
            <a:ext cx="151384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CCCCCC"/>
                </a:solidFill>
                <a:latin typeface="Helvetica"/>
                <a:cs typeface="Helvetica"/>
              </a:rPr>
              <a:t>Live</a:t>
            </a:r>
            <a:r>
              <a:rPr dirty="0" sz="2450" spc="-45">
                <a:solidFill>
                  <a:srgbClr val="CCCCCC"/>
                </a:solidFill>
                <a:latin typeface="Helvetica"/>
                <a:cs typeface="Helvetica"/>
              </a:rPr>
              <a:t> </a:t>
            </a:r>
            <a:r>
              <a:rPr dirty="0" sz="2450" spc="-20">
                <a:solidFill>
                  <a:srgbClr val="CCCCCC"/>
                </a:solidFill>
                <a:latin typeface="Helvetica"/>
                <a:cs typeface="Helvetica"/>
              </a:rPr>
              <a:t>Demo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Built</a:t>
            </a:r>
            <a:r>
              <a:rPr dirty="0" spc="10"/>
              <a:t> </a:t>
            </a:r>
            <a:r>
              <a:rPr dirty="0"/>
              <a:t>WITH</a:t>
            </a:r>
            <a:r>
              <a:rPr dirty="0" spc="10"/>
              <a:t> </a:t>
            </a:r>
            <a:r>
              <a:rPr dirty="0" spc="-25"/>
              <a:t>MCP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321050"/>
            <a:ext cx="997775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practiced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what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preach.</a:t>
            </a:r>
            <a:r>
              <a:rPr dirty="0" sz="2450" spc="-7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This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project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was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built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using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7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servers.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376" y="3898045"/>
            <a:ext cx="193992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20">
                <a:solidFill>
                  <a:srgbClr val="0E1729"/>
                </a:solidFill>
                <a:latin typeface="Helvetica"/>
                <a:cs typeface="Helvetica"/>
              </a:rPr>
              <a:t>Tools</a:t>
            </a:r>
            <a:r>
              <a:rPr dirty="0" sz="2850" spc="-15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Used:</a:t>
            </a:r>
            <a:endParaRPr sz="285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90472" y="6061319"/>
            <a:ext cx="7107555" cy="287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This</a:t>
            </a:r>
            <a:r>
              <a:rPr dirty="0" sz="1700" spc="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allowed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the</a:t>
            </a:r>
            <a:r>
              <a:rPr dirty="0" sz="1700" spc="-8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AI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coding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agent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to</a:t>
            </a:r>
            <a:r>
              <a:rPr dirty="0" sz="1700" spc="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"see"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the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design</a:t>
            </a:r>
            <a:r>
              <a:rPr dirty="0" sz="1700" spc="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requirements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64738B"/>
                </a:solidFill>
                <a:latin typeface="Helvetica"/>
                <a:cs typeface="Helvetica"/>
              </a:rPr>
              <a:t>clearly.</a:t>
            </a:r>
            <a:endParaRPr sz="1700">
              <a:latin typeface="Helvetica"/>
              <a:cs typeface="Helvetic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967471" y="3964939"/>
            <a:ext cx="6815455" cy="2170430"/>
            <a:chOff x="7967471" y="3964939"/>
            <a:chExt cx="6815455" cy="2170430"/>
          </a:xfrm>
        </p:grpSpPr>
        <p:sp>
          <p:nvSpPr>
            <p:cNvPr id="7" name="object 7"/>
            <p:cNvSpPr/>
            <p:nvPr/>
          </p:nvSpPr>
          <p:spPr>
            <a:xfrm>
              <a:off x="7967459" y="3964939"/>
              <a:ext cx="6815455" cy="2170430"/>
            </a:xfrm>
            <a:custGeom>
              <a:avLst/>
              <a:gdLst/>
              <a:ahLst/>
              <a:cxnLst/>
              <a:rect l="l" t="t" r="r" b="b"/>
              <a:pathLst>
                <a:path w="6815455" h="2170429">
                  <a:moveTo>
                    <a:pt x="6815328" y="0"/>
                  </a:moveTo>
                  <a:lnTo>
                    <a:pt x="6622275" y="0"/>
                  </a:lnTo>
                  <a:lnTo>
                    <a:pt x="6622275" y="147320"/>
                  </a:lnTo>
                  <a:lnTo>
                    <a:pt x="6622275" y="1932940"/>
                  </a:lnTo>
                  <a:lnTo>
                    <a:pt x="192900" y="1932940"/>
                  </a:lnTo>
                  <a:lnTo>
                    <a:pt x="192900" y="147320"/>
                  </a:lnTo>
                  <a:lnTo>
                    <a:pt x="6622275" y="147320"/>
                  </a:lnTo>
                  <a:lnTo>
                    <a:pt x="6622275" y="0"/>
                  </a:lnTo>
                  <a:lnTo>
                    <a:pt x="0" y="0"/>
                  </a:lnTo>
                  <a:lnTo>
                    <a:pt x="0" y="147320"/>
                  </a:lnTo>
                  <a:lnTo>
                    <a:pt x="0" y="1932940"/>
                  </a:lnTo>
                  <a:lnTo>
                    <a:pt x="0" y="2170430"/>
                  </a:lnTo>
                  <a:lnTo>
                    <a:pt x="6815328" y="2170430"/>
                  </a:lnTo>
                  <a:lnTo>
                    <a:pt x="6815328" y="1933232"/>
                  </a:lnTo>
                  <a:lnTo>
                    <a:pt x="6815328" y="1932940"/>
                  </a:lnTo>
                  <a:lnTo>
                    <a:pt x="6815328" y="14732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60360" y="4112226"/>
              <a:ext cx="6429375" cy="1786255"/>
            </a:xfrm>
            <a:custGeom>
              <a:avLst/>
              <a:gdLst/>
              <a:ahLst/>
              <a:cxnLst/>
              <a:rect l="l" t="t" r="r" b="b"/>
              <a:pathLst>
                <a:path w="6429375" h="1786254">
                  <a:moveTo>
                    <a:pt x="6429374" y="1785937"/>
                  </a:moveTo>
                  <a:lnTo>
                    <a:pt x="0" y="1785937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785937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160360" y="4132507"/>
            <a:ext cx="6429375" cy="17246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10"/>
              </a:spcBef>
            </a:pPr>
            <a:r>
              <a:rPr dirty="0" sz="1100" spc="36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100" spc="400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.mcp.json</a:t>
            </a:r>
            <a:r>
              <a:rPr dirty="0" sz="1100" spc="40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(Actual</a:t>
            </a:r>
            <a:r>
              <a:rPr dirty="0" sz="1100" spc="40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220">
                <a:solidFill>
                  <a:srgbClr val="74705D"/>
                </a:solidFill>
                <a:latin typeface="Times New Roman"/>
                <a:cs typeface="Times New Roman"/>
              </a:rPr>
              <a:t>Project</a:t>
            </a:r>
            <a:r>
              <a:rPr dirty="0" sz="1100" spc="400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65">
                <a:solidFill>
                  <a:srgbClr val="74705D"/>
                </a:solidFill>
                <a:latin typeface="Times New Roman"/>
                <a:cs typeface="Times New Roman"/>
              </a:rPr>
              <a:t>Config)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</a:pPr>
            <a:r>
              <a:rPr dirty="0" sz="1100" spc="170">
                <a:solidFill>
                  <a:srgbClr val="DDDDDD"/>
                </a:solidFill>
                <a:latin typeface="Times New Roman"/>
                <a:cs typeface="Times New Roman"/>
              </a:rPr>
              <a:t>"mcpServers":</a:t>
            </a:r>
            <a:r>
              <a:rPr dirty="0" sz="1100" spc="434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algn="r" marR="4428490">
              <a:lnSpc>
                <a:spcPts val="1310"/>
              </a:lnSpc>
              <a:spcBef>
                <a:spcPts val="50"/>
              </a:spcBef>
            </a:pP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"figma-</a:t>
            </a:r>
            <a:r>
              <a:rPr dirty="0" sz="1100" spc="175">
                <a:solidFill>
                  <a:srgbClr val="DDDDDD"/>
                </a:solidFill>
                <a:latin typeface="Times New Roman"/>
                <a:cs typeface="Times New Roman"/>
              </a:rPr>
              <a:t>dev-</a:t>
            </a:r>
            <a:r>
              <a:rPr dirty="0" sz="1100" spc="130">
                <a:solidFill>
                  <a:srgbClr val="DDDDDD"/>
                </a:solidFill>
                <a:latin typeface="Times New Roman"/>
                <a:cs typeface="Times New Roman"/>
              </a:rPr>
              <a:t>mode":</a:t>
            </a:r>
            <a:r>
              <a:rPr dirty="0" sz="1100" spc="44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algn="r" marR="4428490">
              <a:lnSpc>
                <a:spcPts val="1310"/>
              </a:lnSpc>
            </a:pPr>
            <a:r>
              <a:rPr dirty="0" sz="1100" spc="110">
                <a:solidFill>
                  <a:srgbClr val="DDDDDD"/>
                </a:solidFill>
                <a:latin typeface="Times New Roman"/>
                <a:cs typeface="Times New Roman"/>
              </a:rPr>
              <a:t>"command":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A6E22E"/>
                </a:solidFill>
                <a:latin typeface="Times New Roman"/>
                <a:cs typeface="Times New Roman"/>
              </a:rPr>
              <a:t>"npx"</a:t>
            </a: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553085" marR="2820035">
              <a:lnSpc>
                <a:spcPts val="1300"/>
              </a:lnSpc>
              <a:spcBef>
                <a:spcPts val="110"/>
              </a:spcBef>
            </a:pPr>
            <a:r>
              <a:rPr dirty="0" sz="1100" spc="229">
                <a:solidFill>
                  <a:srgbClr val="DDDDDD"/>
                </a:solidFill>
                <a:latin typeface="Times New Roman"/>
                <a:cs typeface="Times New Roman"/>
              </a:rPr>
              <a:t>"args":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70">
                <a:solidFill>
                  <a:srgbClr val="DDDDDD"/>
                </a:solidFill>
                <a:latin typeface="Times New Roman"/>
                <a:cs typeface="Times New Roman"/>
              </a:rPr>
              <a:t>[</a:t>
            </a:r>
            <a:r>
              <a:rPr dirty="0" sz="1100" spc="270">
                <a:solidFill>
                  <a:srgbClr val="A6E22E"/>
                </a:solidFill>
                <a:latin typeface="Times New Roman"/>
                <a:cs typeface="Times New Roman"/>
              </a:rPr>
              <a:t>"-</a:t>
            </a:r>
            <a:r>
              <a:rPr dirty="0" sz="1100" spc="240">
                <a:solidFill>
                  <a:srgbClr val="A6E22E"/>
                </a:solidFill>
                <a:latin typeface="Times New Roman"/>
                <a:cs typeface="Times New Roman"/>
              </a:rPr>
              <a:t>y"</a:t>
            </a:r>
            <a:r>
              <a:rPr dirty="0" sz="1100" spc="24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20">
                <a:solidFill>
                  <a:srgbClr val="A6E22E"/>
                </a:solidFill>
                <a:latin typeface="Times New Roman"/>
                <a:cs typeface="Times New Roman"/>
              </a:rPr>
              <a:t>"mcp-</a:t>
            </a:r>
            <a:r>
              <a:rPr dirty="0" sz="1100" spc="190">
                <a:solidFill>
                  <a:srgbClr val="A6E22E"/>
                </a:solidFill>
                <a:latin typeface="Times New Roman"/>
                <a:cs typeface="Times New Roman"/>
              </a:rPr>
              <a:t>remote"</a:t>
            </a:r>
            <a:r>
              <a:rPr dirty="0" sz="1100" spc="19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2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315">
                <a:solidFill>
                  <a:srgbClr val="A6E22E"/>
                </a:solidFill>
                <a:latin typeface="Times New Roman"/>
                <a:cs typeface="Times New Roman"/>
              </a:rPr>
              <a:t>"..."</a:t>
            </a:r>
            <a:r>
              <a:rPr dirty="0" sz="1100" spc="315">
                <a:solidFill>
                  <a:srgbClr val="DDDDDD"/>
                </a:solidFill>
                <a:latin typeface="Times New Roman"/>
                <a:cs typeface="Times New Roman"/>
              </a:rPr>
              <a:t>], </a:t>
            </a:r>
            <a:r>
              <a:rPr dirty="0" sz="1100" spc="220">
                <a:solidFill>
                  <a:srgbClr val="DDDDDD"/>
                </a:solidFill>
                <a:latin typeface="Times New Roman"/>
                <a:cs typeface="Times New Roman"/>
              </a:rPr>
              <a:t>"type":</a:t>
            </a:r>
            <a:r>
              <a:rPr dirty="0" sz="1100" spc="42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20">
                <a:solidFill>
                  <a:srgbClr val="A6E22E"/>
                </a:solidFill>
                <a:latin typeface="Times New Roman"/>
                <a:cs typeface="Times New Roman"/>
              </a:rPr>
              <a:t>"local"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  <a:spcBef>
                <a:spcPts val="1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Built</a:t>
            </a:r>
            <a:r>
              <a:rPr dirty="0" spc="10"/>
              <a:t> </a:t>
            </a:r>
            <a:r>
              <a:rPr dirty="0"/>
              <a:t>WITH</a:t>
            </a:r>
            <a:r>
              <a:rPr dirty="0" spc="10"/>
              <a:t> </a:t>
            </a:r>
            <a:r>
              <a:rPr dirty="0" spc="-25"/>
              <a:t>MCP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321050"/>
            <a:ext cx="997775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practiced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what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preach.</a:t>
            </a:r>
            <a:r>
              <a:rPr dirty="0" sz="2450" spc="-7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This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project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was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built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using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7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servers.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0472" y="6061319"/>
            <a:ext cx="7107555" cy="287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This</a:t>
            </a:r>
            <a:r>
              <a:rPr dirty="0" sz="1700" spc="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allowed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the</a:t>
            </a:r>
            <a:r>
              <a:rPr dirty="0" sz="1700" spc="-8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AI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coding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agent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to</a:t>
            </a:r>
            <a:r>
              <a:rPr dirty="0" sz="1700" spc="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"see"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the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design</a:t>
            </a:r>
            <a:r>
              <a:rPr dirty="0" sz="1700" spc="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requirements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64738B"/>
                </a:solidFill>
                <a:latin typeface="Helvetica"/>
                <a:cs typeface="Helvetica"/>
              </a:rPr>
              <a:t>clearly.</a:t>
            </a:r>
            <a:endParaRPr sz="1700">
              <a:latin typeface="Helvetica"/>
              <a:cs typeface="Helvetic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187" y="4716697"/>
            <a:ext cx="91586" cy="915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0376" y="3671773"/>
            <a:ext cx="6942455" cy="1660525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850" spc="-20">
                <a:solidFill>
                  <a:srgbClr val="0E1729"/>
                </a:solidFill>
                <a:latin typeface="Helvetica"/>
                <a:cs typeface="Helvetica"/>
              </a:rPr>
              <a:t>Tools</a:t>
            </a:r>
            <a:r>
              <a:rPr dirty="0" sz="2850" spc="-15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Used:</a:t>
            </a:r>
            <a:endParaRPr sz="2850">
              <a:latin typeface="Helvetica"/>
              <a:cs typeface="Helvetica"/>
            </a:endParaRPr>
          </a:p>
          <a:p>
            <a:pPr marL="323850" marR="5080">
              <a:lnSpc>
                <a:spcPct val="107900"/>
              </a:lnSpc>
              <a:spcBef>
                <a:spcPts val="1290"/>
              </a:spcBef>
            </a:pP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Figma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Dev</a:t>
            </a:r>
            <a:r>
              <a:rPr dirty="0" sz="2450" spc="-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Mode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24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25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inspect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designs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directly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in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the 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IDE.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67471" y="3964939"/>
            <a:ext cx="6815455" cy="2170430"/>
            <a:chOff x="7967471" y="3964939"/>
            <a:chExt cx="6815455" cy="2170430"/>
          </a:xfrm>
        </p:grpSpPr>
        <p:sp>
          <p:nvSpPr>
            <p:cNvPr id="8" name="object 8"/>
            <p:cNvSpPr/>
            <p:nvPr/>
          </p:nvSpPr>
          <p:spPr>
            <a:xfrm>
              <a:off x="7967459" y="3964939"/>
              <a:ext cx="6815455" cy="2170430"/>
            </a:xfrm>
            <a:custGeom>
              <a:avLst/>
              <a:gdLst/>
              <a:ahLst/>
              <a:cxnLst/>
              <a:rect l="l" t="t" r="r" b="b"/>
              <a:pathLst>
                <a:path w="6815455" h="2170429">
                  <a:moveTo>
                    <a:pt x="6815328" y="0"/>
                  </a:moveTo>
                  <a:lnTo>
                    <a:pt x="6622275" y="0"/>
                  </a:lnTo>
                  <a:lnTo>
                    <a:pt x="6622275" y="147320"/>
                  </a:lnTo>
                  <a:lnTo>
                    <a:pt x="6622275" y="1932940"/>
                  </a:lnTo>
                  <a:lnTo>
                    <a:pt x="192900" y="1932940"/>
                  </a:lnTo>
                  <a:lnTo>
                    <a:pt x="192900" y="147320"/>
                  </a:lnTo>
                  <a:lnTo>
                    <a:pt x="6622275" y="147320"/>
                  </a:lnTo>
                  <a:lnTo>
                    <a:pt x="6622275" y="0"/>
                  </a:lnTo>
                  <a:lnTo>
                    <a:pt x="0" y="0"/>
                  </a:lnTo>
                  <a:lnTo>
                    <a:pt x="0" y="147320"/>
                  </a:lnTo>
                  <a:lnTo>
                    <a:pt x="0" y="1932940"/>
                  </a:lnTo>
                  <a:lnTo>
                    <a:pt x="0" y="2170430"/>
                  </a:lnTo>
                  <a:lnTo>
                    <a:pt x="6815328" y="2170430"/>
                  </a:lnTo>
                  <a:lnTo>
                    <a:pt x="6815328" y="1933232"/>
                  </a:lnTo>
                  <a:lnTo>
                    <a:pt x="6815328" y="1932940"/>
                  </a:lnTo>
                  <a:lnTo>
                    <a:pt x="6815328" y="14732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160360" y="4112226"/>
              <a:ext cx="6429375" cy="1786255"/>
            </a:xfrm>
            <a:custGeom>
              <a:avLst/>
              <a:gdLst/>
              <a:ahLst/>
              <a:cxnLst/>
              <a:rect l="l" t="t" r="r" b="b"/>
              <a:pathLst>
                <a:path w="6429375" h="1786254">
                  <a:moveTo>
                    <a:pt x="6429374" y="1785937"/>
                  </a:moveTo>
                  <a:lnTo>
                    <a:pt x="0" y="1785937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785937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160360" y="4132507"/>
            <a:ext cx="6429375" cy="17246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10"/>
              </a:spcBef>
            </a:pPr>
            <a:r>
              <a:rPr dirty="0" sz="1100" spc="36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100" spc="400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.mcp.json</a:t>
            </a:r>
            <a:r>
              <a:rPr dirty="0" sz="1100" spc="40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(Actual</a:t>
            </a:r>
            <a:r>
              <a:rPr dirty="0" sz="1100" spc="40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220">
                <a:solidFill>
                  <a:srgbClr val="74705D"/>
                </a:solidFill>
                <a:latin typeface="Times New Roman"/>
                <a:cs typeface="Times New Roman"/>
              </a:rPr>
              <a:t>Project</a:t>
            </a:r>
            <a:r>
              <a:rPr dirty="0" sz="1100" spc="400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65">
                <a:solidFill>
                  <a:srgbClr val="74705D"/>
                </a:solidFill>
                <a:latin typeface="Times New Roman"/>
                <a:cs typeface="Times New Roman"/>
              </a:rPr>
              <a:t>Config)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</a:pPr>
            <a:r>
              <a:rPr dirty="0" sz="1100" spc="170">
                <a:solidFill>
                  <a:srgbClr val="DDDDDD"/>
                </a:solidFill>
                <a:latin typeface="Times New Roman"/>
                <a:cs typeface="Times New Roman"/>
              </a:rPr>
              <a:t>"mcpServers":</a:t>
            </a:r>
            <a:r>
              <a:rPr dirty="0" sz="1100" spc="434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algn="r" marR="4428490">
              <a:lnSpc>
                <a:spcPts val="1310"/>
              </a:lnSpc>
              <a:spcBef>
                <a:spcPts val="50"/>
              </a:spcBef>
            </a:pP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"figma-</a:t>
            </a:r>
            <a:r>
              <a:rPr dirty="0" sz="1100" spc="175">
                <a:solidFill>
                  <a:srgbClr val="DDDDDD"/>
                </a:solidFill>
                <a:latin typeface="Times New Roman"/>
                <a:cs typeface="Times New Roman"/>
              </a:rPr>
              <a:t>dev-</a:t>
            </a:r>
            <a:r>
              <a:rPr dirty="0" sz="1100" spc="130">
                <a:solidFill>
                  <a:srgbClr val="DDDDDD"/>
                </a:solidFill>
                <a:latin typeface="Times New Roman"/>
                <a:cs typeface="Times New Roman"/>
              </a:rPr>
              <a:t>mode":</a:t>
            </a:r>
            <a:r>
              <a:rPr dirty="0" sz="1100" spc="44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algn="r" marR="4428490">
              <a:lnSpc>
                <a:spcPts val="1310"/>
              </a:lnSpc>
            </a:pPr>
            <a:r>
              <a:rPr dirty="0" sz="1100" spc="110">
                <a:solidFill>
                  <a:srgbClr val="DDDDDD"/>
                </a:solidFill>
                <a:latin typeface="Times New Roman"/>
                <a:cs typeface="Times New Roman"/>
              </a:rPr>
              <a:t>"command":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A6E22E"/>
                </a:solidFill>
                <a:latin typeface="Times New Roman"/>
                <a:cs typeface="Times New Roman"/>
              </a:rPr>
              <a:t>"npx"</a:t>
            </a: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553085" marR="2820035">
              <a:lnSpc>
                <a:spcPts val="1300"/>
              </a:lnSpc>
              <a:spcBef>
                <a:spcPts val="110"/>
              </a:spcBef>
            </a:pPr>
            <a:r>
              <a:rPr dirty="0" sz="1100" spc="229">
                <a:solidFill>
                  <a:srgbClr val="DDDDDD"/>
                </a:solidFill>
                <a:latin typeface="Times New Roman"/>
                <a:cs typeface="Times New Roman"/>
              </a:rPr>
              <a:t>"args":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70">
                <a:solidFill>
                  <a:srgbClr val="DDDDDD"/>
                </a:solidFill>
                <a:latin typeface="Times New Roman"/>
                <a:cs typeface="Times New Roman"/>
              </a:rPr>
              <a:t>[</a:t>
            </a:r>
            <a:r>
              <a:rPr dirty="0" sz="1100" spc="270">
                <a:solidFill>
                  <a:srgbClr val="A6E22E"/>
                </a:solidFill>
                <a:latin typeface="Times New Roman"/>
                <a:cs typeface="Times New Roman"/>
              </a:rPr>
              <a:t>"-</a:t>
            </a:r>
            <a:r>
              <a:rPr dirty="0" sz="1100" spc="240">
                <a:solidFill>
                  <a:srgbClr val="A6E22E"/>
                </a:solidFill>
                <a:latin typeface="Times New Roman"/>
                <a:cs typeface="Times New Roman"/>
              </a:rPr>
              <a:t>y"</a:t>
            </a:r>
            <a:r>
              <a:rPr dirty="0" sz="1100" spc="24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20">
                <a:solidFill>
                  <a:srgbClr val="A6E22E"/>
                </a:solidFill>
                <a:latin typeface="Times New Roman"/>
                <a:cs typeface="Times New Roman"/>
              </a:rPr>
              <a:t>"mcp-</a:t>
            </a:r>
            <a:r>
              <a:rPr dirty="0" sz="1100" spc="190">
                <a:solidFill>
                  <a:srgbClr val="A6E22E"/>
                </a:solidFill>
                <a:latin typeface="Times New Roman"/>
                <a:cs typeface="Times New Roman"/>
              </a:rPr>
              <a:t>remote"</a:t>
            </a:r>
            <a:r>
              <a:rPr dirty="0" sz="1100" spc="19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2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315">
                <a:solidFill>
                  <a:srgbClr val="A6E22E"/>
                </a:solidFill>
                <a:latin typeface="Times New Roman"/>
                <a:cs typeface="Times New Roman"/>
              </a:rPr>
              <a:t>"..."</a:t>
            </a:r>
            <a:r>
              <a:rPr dirty="0" sz="1100" spc="315">
                <a:solidFill>
                  <a:srgbClr val="DDDDDD"/>
                </a:solidFill>
                <a:latin typeface="Times New Roman"/>
                <a:cs typeface="Times New Roman"/>
              </a:rPr>
              <a:t>], </a:t>
            </a:r>
            <a:r>
              <a:rPr dirty="0" sz="1100" spc="220">
                <a:solidFill>
                  <a:srgbClr val="DDDDDD"/>
                </a:solidFill>
                <a:latin typeface="Times New Roman"/>
                <a:cs typeface="Times New Roman"/>
              </a:rPr>
              <a:t>"type":</a:t>
            </a:r>
            <a:r>
              <a:rPr dirty="0" sz="1100" spc="42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20">
                <a:solidFill>
                  <a:srgbClr val="A6E22E"/>
                </a:solidFill>
                <a:latin typeface="Times New Roman"/>
                <a:cs typeface="Times New Roman"/>
              </a:rPr>
              <a:t>"local"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  <a:spcBef>
                <a:spcPts val="1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Built</a:t>
            </a:r>
            <a:r>
              <a:rPr dirty="0" spc="10"/>
              <a:t> </a:t>
            </a:r>
            <a:r>
              <a:rPr dirty="0"/>
              <a:t>WITH</a:t>
            </a:r>
            <a:r>
              <a:rPr dirty="0" spc="10"/>
              <a:t> </a:t>
            </a:r>
            <a:r>
              <a:rPr dirty="0" spc="-25"/>
              <a:t>MCP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376" y="3321050"/>
            <a:ext cx="997775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practiced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what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we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preach.</a:t>
            </a:r>
            <a:r>
              <a:rPr dirty="0" sz="2450" spc="-7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This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project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was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built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using</a:t>
            </a:r>
            <a:r>
              <a:rPr dirty="0" sz="2450" spc="-3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MCP</a:t>
            </a:r>
            <a:r>
              <a:rPr dirty="0" sz="2450" spc="-7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servers.</a:t>
            </a:r>
            <a:endParaRPr sz="24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0472" y="6061319"/>
            <a:ext cx="7107555" cy="287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This</a:t>
            </a:r>
            <a:r>
              <a:rPr dirty="0" sz="1700" spc="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allowed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the</a:t>
            </a:r>
            <a:r>
              <a:rPr dirty="0" sz="1700" spc="-8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AI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coding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agent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to</a:t>
            </a:r>
            <a:r>
              <a:rPr dirty="0" sz="1700" spc="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"see"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the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design</a:t>
            </a:r>
            <a:r>
              <a:rPr dirty="0" sz="1700" spc="5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>
                <a:solidFill>
                  <a:srgbClr val="64738B"/>
                </a:solidFill>
                <a:latin typeface="Helvetica"/>
                <a:cs typeface="Helvetica"/>
              </a:rPr>
              <a:t>requirements</a:t>
            </a:r>
            <a:r>
              <a:rPr dirty="0" sz="1700" spc="10">
                <a:solidFill>
                  <a:srgbClr val="64738B"/>
                </a:solidFill>
                <a:latin typeface="Helvetica"/>
                <a:cs typeface="Helvetica"/>
              </a:rPr>
              <a:t> </a:t>
            </a:r>
            <a:r>
              <a:rPr dirty="0" sz="1700" spc="-10">
                <a:solidFill>
                  <a:srgbClr val="64738B"/>
                </a:solidFill>
                <a:latin typeface="Helvetica"/>
                <a:cs typeface="Helvetica"/>
              </a:rPr>
              <a:t>clearly.</a:t>
            </a:r>
            <a:endParaRPr sz="1700">
              <a:latin typeface="Helvetica"/>
              <a:cs typeface="Helvetic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187" y="4716696"/>
            <a:ext cx="91586" cy="915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0376" y="3671773"/>
            <a:ext cx="6942455" cy="1660525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850" spc="-20">
                <a:solidFill>
                  <a:srgbClr val="0E1729"/>
                </a:solidFill>
                <a:latin typeface="Helvetica"/>
                <a:cs typeface="Helvetica"/>
              </a:rPr>
              <a:t>Tools</a:t>
            </a:r>
            <a:r>
              <a:rPr dirty="0" sz="2850" spc="-150">
                <a:solidFill>
                  <a:srgbClr val="0E1729"/>
                </a:solidFill>
                <a:latin typeface="Helvetica"/>
                <a:cs typeface="Helvetica"/>
              </a:rPr>
              <a:t> </a:t>
            </a:r>
            <a:r>
              <a:rPr dirty="0" sz="2850" spc="-10">
                <a:solidFill>
                  <a:srgbClr val="0E1729"/>
                </a:solidFill>
                <a:latin typeface="Helvetica"/>
                <a:cs typeface="Helvetica"/>
              </a:rPr>
              <a:t>Used:</a:t>
            </a:r>
            <a:endParaRPr sz="2850">
              <a:latin typeface="Helvetica"/>
              <a:cs typeface="Helvetica"/>
            </a:endParaRPr>
          </a:p>
          <a:p>
            <a:pPr marL="323850" marR="5080">
              <a:lnSpc>
                <a:spcPct val="107900"/>
              </a:lnSpc>
              <a:spcBef>
                <a:spcPts val="1290"/>
              </a:spcBef>
            </a:pP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Figma</a:t>
            </a:r>
            <a:r>
              <a:rPr dirty="0" sz="2450" spc="-1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Dev</a:t>
            </a:r>
            <a:r>
              <a:rPr dirty="0" sz="2450" spc="-10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Mode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2450" spc="-6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25">
                <a:solidFill>
                  <a:srgbClr val="1D293B"/>
                </a:solidFill>
                <a:latin typeface="Helvetica"/>
                <a:cs typeface="Helvetica"/>
              </a:rPr>
              <a:t>To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inspect</a:t>
            </a:r>
            <a:r>
              <a:rPr dirty="0" sz="2450" spc="-1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designs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directly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25">
                <a:solidFill>
                  <a:srgbClr val="1D293B"/>
                </a:solidFill>
                <a:latin typeface="Helvetica"/>
                <a:cs typeface="Helvetica"/>
              </a:rPr>
              <a:t>in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the 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IDE.</a:t>
            </a:r>
            <a:endParaRPr sz="2450">
              <a:latin typeface="Helvetica"/>
              <a:cs typeface="Helvetic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187" y="5779100"/>
            <a:ext cx="91586" cy="915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1771" y="5592396"/>
            <a:ext cx="6186805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Filesystem</a:t>
            </a:r>
            <a:r>
              <a:rPr dirty="0" sz="245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&amp;</a:t>
            </a:r>
            <a:r>
              <a:rPr dirty="0" sz="2450" spc="-5" b="1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b="1">
                <a:solidFill>
                  <a:srgbClr val="1D293B"/>
                </a:solidFill>
                <a:latin typeface="Helvetica"/>
                <a:cs typeface="Helvetica"/>
              </a:rPr>
              <a:t>Git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: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Standard context</a:t>
            </a:r>
            <a:r>
              <a:rPr dirty="0" sz="2450" spc="-5">
                <a:solidFill>
                  <a:srgbClr val="1D293B"/>
                </a:solidFill>
                <a:latin typeface="Helvetica"/>
                <a:cs typeface="Helvetica"/>
              </a:rPr>
              <a:t> </a:t>
            </a:r>
            <a:r>
              <a:rPr dirty="0" sz="2450" spc="-10">
                <a:solidFill>
                  <a:srgbClr val="1D293B"/>
                </a:solidFill>
                <a:latin typeface="Helvetica"/>
                <a:cs typeface="Helvetica"/>
              </a:rPr>
              <a:t>servers.</a:t>
            </a:r>
            <a:endParaRPr sz="2450">
              <a:latin typeface="Helvetica"/>
              <a:cs typeface="Helvetic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67471" y="3964939"/>
            <a:ext cx="6815455" cy="2170430"/>
            <a:chOff x="7967471" y="3964939"/>
            <a:chExt cx="6815455" cy="2170430"/>
          </a:xfrm>
        </p:grpSpPr>
        <p:sp>
          <p:nvSpPr>
            <p:cNvPr id="10" name="object 10"/>
            <p:cNvSpPr/>
            <p:nvPr/>
          </p:nvSpPr>
          <p:spPr>
            <a:xfrm>
              <a:off x="7967459" y="3964939"/>
              <a:ext cx="6815455" cy="2170430"/>
            </a:xfrm>
            <a:custGeom>
              <a:avLst/>
              <a:gdLst/>
              <a:ahLst/>
              <a:cxnLst/>
              <a:rect l="l" t="t" r="r" b="b"/>
              <a:pathLst>
                <a:path w="6815455" h="2170429">
                  <a:moveTo>
                    <a:pt x="6815328" y="0"/>
                  </a:moveTo>
                  <a:lnTo>
                    <a:pt x="6622275" y="0"/>
                  </a:lnTo>
                  <a:lnTo>
                    <a:pt x="6622275" y="147320"/>
                  </a:lnTo>
                  <a:lnTo>
                    <a:pt x="6622275" y="1932940"/>
                  </a:lnTo>
                  <a:lnTo>
                    <a:pt x="192900" y="1932940"/>
                  </a:lnTo>
                  <a:lnTo>
                    <a:pt x="192900" y="147320"/>
                  </a:lnTo>
                  <a:lnTo>
                    <a:pt x="6622275" y="147320"/>
                  </a:lnTo>
                  <a:lnTo>
                    <a:pt x="6622275" y="0"/>
                  </a:lnTo>
                  <a:lnTo>
                    <a:pt x="0" y="0"/>
                  </a:lnTo>
                  <a:lnTo>
                    <a:pt x="0" y="147320"/>
                  </a:lnTo>
                  <a:lnTo>
                    <a:pt x="0" y="1932940"/>
                  </a:lnTo>
                  <a:lnTo>
                    <a:pt x="0" y="2170430"/>
                  </a:lnTo>
                  <a:lnTo>
                    <a:pt x="6815328" y="2170430"/>
                  </a:lnTo>
                  <a:lnTo>
                    <a:pt x="6815328" y="1933232"/>
                  </a:lnTo>
                  <a:lnTo>
                    <a:pt x="6815328" y="1932940"/>
                  </a:lnTo>
                  <a:lnTo>
                    <a:pt x="6815328" y="147320"/>
                  </a:lnTo>
                  <a:lnTo>
                    <a:pt x="6815328" y="0"/>
                  </a:lnTo>
                  <a:close/>
                </a:path>
              </a:pathLst>
            </a:custGeom>
            <a:solidFill>
              <a:srgbClr val="00000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60360" y="4112225"/>
              <a:ext cx="6429375" cy="1786255"/>
            </a:xfrm>
            <a:custGeom>
              <a:avLst/>
              <a:gdLst/>
              <a:ahLst/>
              <a:cxnLst/>
              <a:rect l="l" t="t" r="r" b="b"/>
              <a:pathLst>
                <a:path w="6429375" h="1786254">
                  <a:moveTo>
                    <a:pt x="6429374" y="1785937"/>
                  </a:moveTo>
                  <a:lnTo>
                    <a:pt x="0" y="1785937"/>
                  </a:lnTo>
                  <a:lnTo>
                    <a:pt x="0" y="0"/>
                  </a:lnTo>
                  <a:lnTo>
                    <a:pt x="6429374" y="0"/>
                  </a:lnTo>
                  <a:lnTo>
                    <a:pt x="6429374" y="1785937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160360" y="4132507"/>
            <a:ext cx="6429375" cy="17246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10"/>
              </a:spcBef>
            </a:pPr>
            <a:r>
              <a:rPr dirty="0" sz="1100" spc="365">
                <a:solidFill>
                  <a:srgbClr val="74705D"/>
                </a:solidFill>
                <a:latin typeface="Times New Roman"/>
                <a:cs typeface="Times New Roman"/>
              </a:rPr>
              <a:t>//</a:t>
            </a:r>
            <a:r>
              <a:rPr dirty="0" sz="1100" spc="400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.mcp.json</a:t>
            </a:r>
            <a:r>
              <a:rPr dirty="0" sz="1100" spc="40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74705D"/>
                </a:solidFill>
                <a:latin typeface="Times New Roman"/>
                <a:cs typeface="Times New Roman"/>
              </a:rPr>
              <a:t>(Actual</a:t>
            </a:r>
            <a:r>
              <a:rPr dirty="0" sz="1100" spc="405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220">
                <a:solidFill>
                  <a:srgbClr val="74705D"/>
                </a:solidFill>
                <a:latin typeface="Times New Roman"/>
                <a:cs typeface="Times New Roman"/>
              </a:rPr>
              <a:t>Project</a:t>
            </a:r>
            <a:r>
              <a:rPr dirty="0" sz="1100" spc="400">
                <a:solidFill>
                  <a:srgbClr val="74705D"/>
                </a:solidFill>
                <a:latin typeface="Times New Roman"/>
                <a:cs typeface="Times New Roman"/>
              </a:rPr>
              <a:t> </a:t>
            </a:r>
            <a:r>
              <a:rPr dirty="0" sz="1100" spc="165">
                <a:solidFill>
                  <a:srgbClr val="74705D"/>
                </a:solidFill>
                <a:latin typeface="Times New Roman"/>
                <a:cs typeface="Times New Roman"/>
              </a:rPr>
              <a:t>Config)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ts val="131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</a:pPr>
            <a:r>
              <a:rPr dirty="0" sz="1100" spc="170">
                <a:solidFill>
                  <a:srgbClr val="DDDDDD"/>
                </a:solidFill>
                <a:latin typeface="Times New Roman"/>
                <a:cs typeface="Times New Roman"/>
              </a:rPr>
              <a:t>"mcpServers":</a:t>
            </a:r>
            <a:r>
              <a:rPr dirty="0" sz="1100" spc="434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algn="r" marR="4428490">
              <a:lnSpc>
                <a:spcPts val="1310"/>
              </a:lnSpc>
              <a:spcBef>
                <a:spcPts val="50"/>
              </a:spcBef>
            </a:pP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"figma-</a:t>
            </a:r>
            <a:r>
              <a:rPr dirty="0" sz="1100" spc="175">
                <a:solidFill>
                  <a:srgbClr val="DDDDDD"/>
                </a:solidFill>
                <a:latin typeface="Times New Roman"/>
                <a:cs typeface="Times New Roman"/>
              </a:rPr>
              <a:t>dev-</a:t>
            </a:r>
            <a:r>
              <a:rPr dirty="0" sz="1100" spc="130">
                <a:solidFill>
                  <a:srgbClr val="DDDDDD"/>
                </a:solidFill>
                <a:latin typeface="Times New Roman"/>
                <a:cs typeface="Times New Roman"/>
              </a:rPr>
              <a:t>mode":</a:t>
            </a:r>
            <a:r>
              <a:rPr dirty="0" sz="1100" spc="44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algn="r" marR="4428490">
              <a:lnSpc>
                <a:spcPts val="1310"/>
              </a:lnSpc>
            </a:pPr>
            <a:r>
              <a:rPr dirty="0" sz="1100" spc="110">
                <a:solidFill>
                  <a:srgbClr val="DDDDDD"/>
                </a:solidFill>
                <a:latin typeface="Times New Roman"/>
                <a:cs typeface="Times New Roman"/>
              </a:rPr>
              <a:t>"command":</a:t>
            </a:r>
            <a:r>
              <a:rPr dirty="0" sz="1100" spc="409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A6E22E"/>
                </a:solidFill>
                <a:latin typeface="Times New Roman"/>
                <a:cs typeface="Times New Roman"/>
              </a:rPr>
              <a:t>"npx"</a:t>
            </a:r>
            <a:r>
              <a:rPr dirty="0" sz="1100" spc="18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553085" marR="2820035">
              <a:lnSpc>
                <a:spcPts val="1300"/>
              </a:lnSpc>
              <a:spcBef>
                <a:spcPts val="110"/>
              </a:spcBef>
            </a:pPr>
            <a:r>
              <a:rPr dirty="0" sz="1100" spc="229">
                <a:solidFill>
                  <a:srgbClr val="DDDDDD"/>
                </a:solidFill>
                <a:latin typeface="Times New Roman"/>
                <a:cs typeface="Times New Roman"/>
              </a:rPr>
              <a:t>"args":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70">
                <a:solidFill>
                  <a:srgbClr val="DDDDDD"/>
                </a:solidFill>
                <a:latin typeface="Times New Roman"/>
                <a:cs typeface="Times New Roman"/>
              </a:rPr>
              <a:t>[</a:t>
            </a:r>
            <a:r>
              <a:rPr dirty="0" sz="1100" spc="270">
                <a:solidFill>
                  <a:srgbClr val="A6E22E"/>
                </a:solidFill>
                <a:latin typeface="Times New Roman"/>
                <a:cs typeface="Times New Roman"/>
              </a:rPr>
              <a:t>"-</a:t>
            </a:r>
            <a:r>
              <a:rPr dirty="0" sz="1100" spc="240">
                <a:solidFill>
                  <a:srgbClr val="A6E22E"/>
                </a:solidFill>
                <a:latin typeface="Times New Roman"/>
                <a:cs typeface="Times New Roman"/>
              </a:rPr>
              <a:t>y"</a:t>
            </a:r>
            <a:r>
              <a:rPr dirty="0" sz="1100" spc="24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15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120">
                <a:solidFill>
                  <a:srgbClr val="A6E22E"/>
                </a:solidFill>
                <a:latin typeface="Times New Roman"/>
                <a:cs typeface="Times New Roman"/>
              </a:rPr>
              <a:t>"mcp-</a:t>
            </a:r>
            <a:r>
              <a:rPr dirty="0" sz="1100" spc="190">
                <a:solidFill>
                  <a:srgbClr val="A6E22E"/>
                </a:solidFill>
                <a:latin typeface="Times New Roman"/>
                <a:cs typeface="Times New Roman"/>
              </a:rPr>
              <a:t>remote"</a:t>
            </a:r>
            <a:r>
              <a:rPr dirty="0" sz="1100" spc="190">
                <a:solidFill>
                  <a:srgbClr val="DDDDDD"/>
                </a:solidFill>
                <a:latin typeface="Times New Roman"/>
                <a:cs typeface="Times New Roman"/>
              </a:rPr>
              <a:t>,</a:t>
            </a:r>
            <a:r>
              <a:rPr dirty="0" sz="1100" spc="42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315">
                <a:solidFill>
                  <a:srgbClr val="A6E22E"/>
                </a:solidFill>
                <a:latin typeface="Times New Roman"/>
                <a:cs typeface="Times New Roman"/>
              </a:rPr>
              <a:t>"..."</a:t>
            </a:r>
            <a:r>
              <a:rPr dirty="0" sz="1100" spc="315">
                <a:solidFill>
                  <a:srgbClr val="DDDDDD"/>
                </a:solidFill>
                <a:latin typeface="Times New Roman"/>
                <a:cs typeface="Times New Roman"/>
              </a:rPr>
              <a:t>], </a:t>
            </a:r>
            <a:r>
              <a:rPr dirty="0" sz="1100" spc="220">
                <a:solidFill>
                  <a:srgbClr val="DDDDDD"/>
                </a:solidFill>
                <a:latin typeface="Times New Roman"/>
                <a:cs typeface="Times New Roman"/>
              </a:rPr>
              <a:t>"type":</a:t>
            </a:r>
            <a:r>
              <a:rPr dirty="0" sz="1100" spc="420">
                <a:solidFill>
                  <a:srgbClr val="DDDDDD"/>
                </a:solidFill>
                <a:latin typeface="Times New Roman"/>
                <a:cs typeface="Times New Roman"/>
              </a:rPr>
              <a:t> </a:t>
            </a:r>
            <a:r>
              <a:rPr dirty="0" sz="1100" spc="220">
                <a:solidFill>
                  <a:srgbClr val="A6E22E"/>
                </a:solidFill>
                <a:latin typeface="Times New Roman"/>
                <a:cs typeface="Times New Roman"/>
              </a:rPr>
              <a:t>"local"</a:t>
            </a:r>
            <a:endParaRPr sz="1100">
              <a:latin typeface="Times New Roman"/>
              <a:cs typeface="Times New Roman"/>
            </a:endParaRPr>
          </a:p>
          <a:p>
            <a:pPr marL="384175">
              <a:lnSpc>
                <a:spcPts val="1310"/>
              </a:lnSpc>
              <a:spcBef>
                <a:spcPts val="1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214629">
              <a:lnSpc>
                <a:spcPts val="1310"/>
              </a:lnSpc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50"/>
              </a:spcBef>
            </a:pPr>
            <a:r>
              <a:rPr dirty="0" sz="1100" spc="85">
                <a:solidFill>
                  <a:srgbClr val="DDDDDD"/>
                </a:solidFill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376" y="2434492"/>
            <a:ext cx="3634104" cy="1682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850">
                <a:solidFill>
                  <a:srgbClr val="2562EB"/>
                </a:solidFill>
              </a:rPr>
              <a:t>Q</a:t>
            </a:r>
            <a:r>
              <a:rPr dirty="0" sz="10850" spc="5">
                <a:solidFill>
                  <a:srgbClr val="2562EB"/>
                </a:solidFill>
              </a:rPr>
              <a:t> </a:t>
            </a:r>
            <a:r>
              <a:rPr dirty="0" sz="10850">
                <a:solidFill>
                  <a:srgbClr val="2562EB"/>
                </a:solidFill>
              </a:rPr>
              <a:t>&amp;</a:t>
            </a:r>
            <a:r>
              <a:rPr dirty="0" sz="10850" spc="-590">
                <a:solidFill>
                  <a:srgbClr val="2562EB"/>
                </a:solidFill>
              </a:rPr>
              <a:t> </a:t>
            </a:r>
            <a:r>
              <a:rPr dirty="0" sz="10850" spc="-50">
                <a:solidFill>
                  <a:srgbClr val="2562EB"/>
                </a:solidFill>
              </a:rPr>
              <a:t>A</a:t>
            </a:r>
            <a:endParaRPr sz="10850"/>
          </a:p>
        </p:txBody>
      </p:sp>
      <p:sp>
        <p:nvSpPr>
          <p:cNvPr id="3" name="object 3"/>
          <p:cNvSpPr txBox="1"/>
          <p:nvPr/>
        </p:nvSpPr>
        <p:spPr>
          <a:xfrm>
            <a:off x="280376" y="4638064"/>
            <a:ext cx="5840730" cy="119824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dirty="0" sz="2450">
                <a:solidFill>
                  <a:srgbClr val="1D293B"/>
                </a:solidFill>
                <a:latin typeface="Helvetica"/>
                <a:cs typeface="Helvetica"/>
              </a:rPr>
              <a:t>Thank </a:t>
            </a:r>
            <a:r>
              <a:rPr dirty="0" sz="2450" spc="-20">
                <a:solidFill>
                  <a:srgbClr val="1D293B"/>
                </a:solidFill>
                <a:latin typeface="Helvetica"/>
                <a:cs typeface="Helvetica"/>
              </a:rPr>
              <a:t>you!</a:t>
            </a:r>
            <a:endParaRPr sz="245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dirty="0" sz="2450">
                <a:solidFill>
                  <a:srgbClr val="2562EB"/>
                </a:solidFill>
                <a:latin typeface="Helvetica"/>
                <a:cs typeface="Helvetica"/>
                <a:hlinkClick r:id="rId2"/>
              </a:rPr>
              <a:t>github.com/itsocialist/mcp-conﬁg-</a:t>
            </a:r>
            <a:r>
              <a:rPr dirty="0" sz="2450" spc="-10">
                <a:solidFill>
                  <a:srgbClr val="2562EB"/>
                </a:solidFill>
                <a:latin typeface="Helvetica"/>
                <a:cs typeface="Helvetica"/>
                <a:hlinkClick r:id="rId2"/>
              </a:rPr>
              <a:t>manager</a:t>
            </a:r>
            <a:endParaRPr sz="24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2700" y="-40175"/>
            <a:ext cx="1720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latin typeface="Times New Roman"/>
                <a:cs typeface="Times New Roman"/>
              </a:rPr>
              <a:t>```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562E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Config Manager Demo</dc:title>
  <dcterms:created xsi:type="dcterms:W3CDTF">2025-12-17T07:42:35Z</dcterms:created>
  <dcterms:modified xsi:type="dcterms:W3CDTF">2025-12-17T07:42:35Z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2025-12-17T00:00:00Z</vt:filetime>
  </property>
  <property fmtid="{D5CDD505-2E9C-101B-9397-08002B2CF9AE}" pid="5" name="Producer">
    <vt:lpwstr>Skia/PDF m140</vt:lpwstr>
  </property>
</Properties>
</file>