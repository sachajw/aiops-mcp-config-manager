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85" d="100"/>
          <a:sy n="85" d="100"/>
        </p:scale>
        <p:origin x="72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00" b="1" i="0">
                <a:solidFill>
                  <a:srgbClr val="773BC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00" b="1" i="0">
                <a:solidFill>
                  <a:srgbClr val="773BC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00" b="1" i="0">
                <a:solidFill>
                  <a:srgbClr val="773BC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047" cy="451948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570544"/>
            <a:ext cx="17475047" cy="51064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00" b="1" i="0">
                <a:solidFill>
                  <a:srgbClr val="773BC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2078" y="510977"/>
            <a:ext cx="6356350" cy="975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00" b="1" i="0">
                <a:solidFill>
                  <a:srgbClr val="773BC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6012" y="1762059"/>
            <a:ext cx="12945744" cy="4820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12/16/25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41332" y="2824922"/>
            <a:ext cx="10164445" cy="1275080"/>
          </a:xfrm>
          <a:prstGeom prst="rect">
            <a:avLst/>
          </a:prstGeom>
          <a:solidFill>
            <a:srgbClr val="16161A"/>
          </a:solidFill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2517775" algn="l"/>
              </a:tabLst>
            </a:pPr>
            <a:r>
              <a:rPr sz="7200" spc="-25" dirty="0">
                <a:solidFill>
                  <a:srgbClr val="F6F6F6"/>
                </a:solidFill>
              </a:rPr>
              <a:t>MCP</a:t>
            </a:r>
            <a:r>
              <a:rPr sz="7200" dirty="0">
                <a:solidFill>
                  <a:srgbClr val="F6F6F6"/>
                </a:solidFill>
              </a:rPr>
              <a:t>	</a:t>
            </a:r>
            <a:r>
              <a:rPr sz="7200" spc="330" dirty="0">
                <a:solidFill>
                  <a:srgbClr val="F6F6F6"/>
                </a:solidFill>
              </a:rPr>
              <a:t>Config</a:t>
            </a:r>
            <a:r>
              <a:rPr sz="7200" spc="240" dirty="0">
                <a:solidFill>
                  <a:srgbClr val="F6F6F6"/>
                </a:solidFill>
              </a:rPr>
              <a:t> </a:t>
            </a:r>
            <a:r>
              <a:rPr sz="7200" spc="450" dirty="0">
                <a:solidFill>
                  <a:srgbClr val="F6F6F6"/>
                </a:solidFill>
              </a:rPr>
              <a:t>Manager</a:t>
            </a:r>
            <a:endParaRPr sz="7200"/>
          </a:p>
        </p:txBody>
      </p:sp>
      <p:sp>
        <p:nvSpPr>
          <p:cNvPr id="3" name="object 3"/>
          <p:cNvSpPr txBox="1"/>
          <p:nvPr/>
        </p:nvSpPr>
        <p:spPr>
          <a:xfrm>
            <a:off x="3936580" y="4152614"/>
            <a:ext cx="9705975" cy="688340"/>
          </a:xfrm>
          <a:prstGeom prst="rect">
            <a:avLst/>
          </a:prstGeom>
          <a:solidFill>
            <a:srgbClr val="16161A"/>
          </a:solidFill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r>
              <a:rPr sz="4050" dirty="0">
                <a:solidFill>
                  <a:srgbClr val="F6F6F6"/>
                </a:solidFill>
                <a:latin typeface="Arial"/>
                <a:cs typeface="Arial"/>
              </a:rPr>
              <a:t>The</a:t>
            </a:r>
            <a:r>
              <a:rPr sz="4050" spc="160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4050" dirty="0">
                <a:solidFill>
                  <a:srgbClr val="F6F6F6"/>
                </a:solidFill>
                <a:latin typeface="Arial"/>
                <a:cs typeface="Arial"/>
              </a:rPr>
              <a:t>Visual</a:t>
            </a:r>
            <a:r>
              <a:rPr sz="4050" spc="95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4050" spc="75" dirty="0">
                <a:solidFill>
                  <a:srgbClr val="F6F6F6"/>
                </a:solidFill>
                <a:latin typeface="Arial"/>
                <a:cs typeface="Arial"/>
              </a:rPr>
              <a:t>Command</a:t>
            </a:r>
            <a:r>
              <a:rPr sz="4050" spc="175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4050" spc="60" dirty="0">
                <a:solidFill>
                  <a:srgbClr val="F6F6F6"/>
                </a:solidFill>
                <a:latin typeface="Arial"/>
                <a:cs typeface="Arial"/>
              </a:rPr>
              <a:t>Center</a:t>
            </a:r>
            <a:r>
              <a:rPr sz="4050" spc="260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4050" spc="125" dirty="0">
                <a:solidFill>
                  <a:srgbClr val="F6F6F6"/>
                </a:solidFill>
                <a:latin typeface="Arial"/>
                <a:cs typeface="Arial"/>
              </a:rPr>
              <a:t>for</a:t>
            </a:r>
            <a:r>
              <a:rPr sz="4050" spc="150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4050" dirty="0">
                <a:solidFill>
                  <a:srgbClr val="F6F6F6"/>
                </a:solidFill>
                <a:latin typeface="Arial"/>
                <a:cs typeface="Arial"/>
              </a:rPr>
              <a:t>Al</a:t>
            </a:r>
            <a:r>
              <a:rPr sz="4050" spc="114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4050" spc="-10" dirty="0">
                <a:solidFill>
                  <a:srgbClr val="F6F6F6"/>
                </a:solidFill>
                <a:latin typeface="Arial"/>
                <a:cs typeface="Arial"/>
              </a:rPr>
              <a:t>Tools</a:t>
            </a:r>
            <a:endParaRPr sz="40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83775" y="7530044"/>
            <a:ext cx="2915285" cy="509905"/>
          </a:xfrm>
          <a:prstGeom prst="rect">
            <a:avLst/>
          </a:prstGeom>
          <a:solidFill>
            <a:srgbClr val="16161A"/>
          </a:solidFill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3000" spc="65" dirty="0">
                <a:solidFill>
                  <a:srgbClr val="F6F6F6"/>
                </a:solidFill>
                <a:latin typeface="Arial"/>
                <a:cs typeface="Arial"/>
              </a:rPr>
              <a:t>Manage</a:t>
            </a:r>
            <a:r>
              <a:rPr sz="3000" spc="-105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3000" spc="45" dirty="0">
                <a:solidFill>
                  <a:srgbClr val="F6F6F6"/>
                </a:solidFill>
                <a:latin typeface="Arial"/>
                <a:cs typeface="Arial"/>
              </a:rPr>
              <a:t>Servers</a:t>
            </a:r>
            <a:endParaRPr sz="3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36781" y="7530044"/>
            <a:ext cx="3616325" cy="509905"/>
          </a:xfrm>
          <a:custGeom>
            <a:avLst/>
            <a:gdLst/>
            <a:ahLst/>
            <a:cxnLst/>
            <a:rect l="l" t="t" r="r" b="b"/>
            <a:pathLst>
              <a:path w="3616325" h="509904">
                <a:moveTo>
                  <a:pt x="3615756" y="509585"/>
                </a:moveTo>
                <a:lnTo>
                  <a:pt x="0" y="509585"/>
                </a:lnTo>
                <a:lnTo>
                  <a:pt x="0" y="0"/>
                </a:lnTo>
                <a:lnTo>
                  <a:pt x="3615756" y="0"/>
                </a:lnTo>
                <a:lnTo>
                  <a:pt x="3615756" y="509585"/>
                </a:lnTo>
                <a:close/>
              </a:path>
            </a:pathLst>
          </a:custGeom>
          <a:solidFill>
            <a:srgbClr val="1616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924080" y="7519590"/>
            <a:ext cx="3703320" cy="4851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0" spc="65" dirty="0">
                <a:solidFill>
                  <a:srgbClr val="F6F6F6"/>
                </a:solidFill>
                <a:latin typeface="Arial"/>
                <a:cs typeface="Arial"/>
              </a:rPr>
              <a:t>Sync</a:t>
            </a:r>
            <a:r>
              <a:rPr sz="3000" spc="25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3000" spc="110" dirty="0">
                <a:solidFill>
                  <a:srgbClr val="F6F6F6"/>
                </a:solidFill>
                <a:latin typeface="Arial"/>
                <a:cs typeface="Arial"/>
              </a:rPr>
              <a:t>Configurations</a:t>
            </a:r>
            <a:endParaRPr sz="3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76104" y="7530044"/>
            <a:ext cx="2012314" cy="509905"/>
          </a:xfrm>
          <a:prstGeom prst="rect">
            <a:avLst/>
          </a:prstGeom>
          <a:solidFill>
            <a:srgbClr val="16161A"/>
          </a:solidFill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3000" dirty="0">
                <a:solidFill>
                  <a:srgbClr val="F6F6F6"/>
                </a:solidFill>
                <a:latin typeface="Arial"/>
                <a:cs typeface="Arial"/>
              </a:rPr>
              <a:t>Easy</a:t>
            </a:r>
            <a:r>
              <a:rPr sz="3000" spc="-5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3000" spc="60" dirty="0">
                <a:solidFill>
                  <a:srgbClr val="F6F6F6"/>
                </a:solidFill>
                <a:latin typeface="Arial"/>
                <a:cs typeface="Arial"/>
              </a:rPr>
              <a:t>Setup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52041" y="788919"/>
            <a:ext cx="14996794" cy="1248410"/>
          </a:xfrm>
          <a:custGeom>
            <a:avLst/>
            <a:gdLst/>
            <a:ahLst/>
            <a:cxnLst/>
            <a:rect l="l" t="t" r="r" b="b"/>
            <a:pathLst>
              <a:path w="14996794" h="1248410">
                <a:moveTo>
                  <a:pt x="14996512" y="1248065"/>
                </a:moveTo>
                <a:lnTo>
                  <a:pt x="0" y="1248065"/>
                </a:lnTo>
                <a:lnTo>
                  <a:pt x="0" y="0"/>
                </a:lnTo>
                <a:lnTo>
                  <a:pt x="14996512" y="0"/>
                </a:lnTo>
                <a:lnTo>
                  <a:pt x="14996512" y="1248065"/>
                </a:lnTo>
                <a:close/>
              </a:path>
            </a:pathLst>
          </a:custGeom>
          <a:solidFill>
            <a:srgbClr val="0F0F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39341" y="785450"/>
            <a:ext cx="15085060" cy="1105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50" spc="285" dirty="0">
                <a:solidFill>
                  <a:srgbClr val="F9F9F9"/>
                </a:solidFill>
              </a:rPr>
              <a:t>The</a:t>
            </a:r>
            <a:r>
              <a:rPr sz="7050" spc="-295" dirty="0">
                <a:solidFill>
                  <a:srgbClr val="F9F9F9"/>
                </a:solidFill>
              </a:rPr>
              <a:t> </a:t>
            </a:r>
            <a:r>
              <a:rPr sz="7050" spc="355" dirty="0">
                <a:solidFill>
                  <a:srgbClr val="F9F9F9"/>
                </a:solidFill>
              </a:rPr>
              <a:t>MCP</a:t>
            </a:r>
            <a:r>
              <a:rPr sz="7050" spc="-405" dirty="0">
                <a:solidFill>
                  <a:srgbClr val="F9F9F9"/>
                </a:solidFill>
              </a:rPr>
              <a:t> </a:t>
            </a:r>
            <a:r>
              <a:rPr sz="7050" spc="114" dirty="0">
                <a:solidFill>
                  <a:srgbClr val="F9F9F9"/>
                </a:solidFill>
              </a:rPr>
              <a:t>Ecosystem</a:t>
            </a:r>
            <a:r>
              <a:rPr sz="7050" spc="240" dirty="0">
                <a:solidFill>
                  <a:srgbClr val="F9F9F9"/>
                </a:solidFill>
              </a:rPr>
              <a:t> </a:t>
            </a:r>
            <a:r>
              <a:rPr sz="7050" spc="260" dirty="0">
                <a:solidFill>
                  <a:srgbClr val="F9F9F9"/>
                </a:solidFill>
              </a:rPr>
              <a:t>is</a:t>
            </a:r>
            <a:r>
              <a:rPr sz="7050" spc="-655" dirty="0">
                <a:solidFill>
                  <a:srgbClr val="F9F9F9"/>
                </a:solidFill>
              </a:rPr>
              <a:t> </a:t>
            </a:r>
            <a:r>
              <a:rPr sz="7050" spc="50" dirty="0">
                <a:solidFill>
                  <a:srgbClr val="F9F9F9"/>
                </a:solidFill>
              </a:rPr>
              <a:t>Exploding.</a:t>
            </a:r>
            <a:endParaRPr sz="7050"/>
          </a:p>
        </p:txBody>
      </p:sp>
      <p:sp>
        <p:nvSpPr>
          <p:cNvPr id="4" name="object 4"/>
          <p:cNvSpPr txBox="1"/>
          <p:nvPr/>
        </p:nvSpPr>
        <p:spPr>
          <a:xfrm>
            <a:off x="1824882" y="2071958"/>
            <a:ext cx="13831569" cy="654685"/>
          </a:xfrm>
          <a:prstGeom prst="rect">
            <a:avLst/>
          </a:prstGeom>
          <a:solidFill>
            <a:srgbClr val="0F0F13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r>
              <a:rPr sz="3750" dirty="0">
                <a:solidFill>
                  <a:srgbClr val="F9F9F9"/>
                </a:solidFill>
                <a:latin typeface="Arial"/>
                <a:cs typeface="Arial"/>
              </a:rPr>
              <a:t>Since</a:t>
            </a:r>
            <a:r>
              <a:rPr sz="3750" spc="7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750" dirty="0">
                <a:solidFill>
                  <a:srgbClr val="F9F9F9"/>
                </a:solidFill>
                <a:latin typeface="Arial"/>
                <a:cs typeface="Arial"/>
              </a:rPr>
              <a:t>its</a:t>
            </a:r>
            <a:r>
              <a:rPr sz="3750" spc="48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750" spc="50" dirty="0">
                <a:solidFill>
                  <a:srgbClr val="F9F9F9"/>
                </a:solidFill>
                <a:latin typeface="Arial"/>
                <a:cs typeface="Arial"/>
              </a:rPr>
              <a:t>launch</a:t>
            </a:r>
            <a:r>
              <a:rPr sz="3750" spc="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750" spc="140" dirty="0">
                <a:solidFill>
                  <a:srgbClr val="F9F9F9"/>
                </a:solidFill>
                <a:latin typeface="Arial"/>
                <a:cs typeface="Arial"/>
              </a:rPr>
              <a:t>in</a:t>
            </a:r>
            <a:r>
              <a:rPr sz="3750" spc="-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750" dirty="0">
                <a:solidFill>
                  <a:srgbClr val="F9F9F9"/>
                </a:solidFill>
                <a:latin typeface="Arial"/>
                <a:cs typeface="Arial"/>
              </a:rPr>
              <a:t>November</a:t>
            </a:r>
            <a:r>
              <a:rPr sz="3750" spc="50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750" spc="85" dirty="0">
                <a:solidFill>
                  <a:srgbClr val="F9F9F9"/>
                </a:solidFill>
                <a:latin typeface="Arial"/>
                <a:cs typeface="Arial"/>
              </a:rPr>
              <a:t>2024,</a:t>
            </a:r>
            <a:r>
              <a:rPr sz="3750" spc="6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600" b="1" spc="50" dirty="0">
                <a:solidFill>
                  <a:srgbClr val="F9F9F9"/>
                </a:solidFill>
                <a:latin typeface="Arial"/>
                <a:cs typeface="Arial"/>
              </a:rPr>
              <a:t>adoption</a:t>
            </a:r>
            <a:r>
              <a:rPr sz="3600" b="1" spc="1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750" dirty="0">
                <a:solidFill>
                  <a:srgbClr val="F9F9F9"/>
                </a:solidFill>
                <a:latin typeface="Arial"/>
                <a:cs typeface="Arial"/>
              </a:rPr>
              <a:t>has</a:t>
            </a:r>
            <a:r>
              <a:rPr sz="3750" spc="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F9F9F9"/>
                </a:solidFill>
                <a:latin typeface="Arial"/>
                <a:cs typeface="Arial"/>
              </a:rPr>
              <a:t>skyrocketed.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9076" y="3408891"/>
            <a:ext cx="12637135" cy="638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054340" algn="l"/>
              </a:tabLst>
            </a:pPr>
            <a:r>
              <a:rPr sz="4000" spc="350" dirty="0">
                <a:solidFill>
                  <a:srgbClr val="853FDF"/>
                </a:solidFill>
                <a:latin typeface="Arial"/>
                <a:cs typeface="Arial"/>
              </a:rPr>
              <a:t>2025</a:t>
            </a:r>
            <a:r>
              <a:rPr sz="4000" spc="-114" dirty="0">
                <a:solidFill>
                  <a:srgbClr val="853FDF"/>
                </a:solidFill>
                <a:latin typeface="Arial"/>
                <a:cs typeface="Arial"/>
              </a:rPr>
              <a:t> </a:t>
            </a:r>
            <a:r>
              <a:rPr sz="4000" spc="220" dirty="0">
                <a:solidFill>
                  <a:srgbClr val="853FDF"/>
                </a:solidFill>
                <a:latin typeface="Arial"/>
                <a:cs typeface="Arial"/>
              </a:rPr>
              <a:t>Mi;estones</a:t>
            </a:r>
            <a:r>
              <a:rPr sz="4000" dirty="0">
                <a:solidFill>
                  <a:srgbClr val="853FDF"/>
                </a:solidFill>
                <a:latin typeface="Arial"/>
                <a:cs typeface="Arial"/>
              </a:rPr>
              <a:t>	</a:t>
            </a:r>
            <a:r>
              <a:rPr sz="4000" spc="300" dirty="0">
                <a:solidFill>
                  <a:srgbClr val="853FDF"/>
                </a:solidFill>
                <a:latin typeface="Arial"/>
                <a:cs typeface="Arial"/>
              </a:rPr>
              <a:t>Industry</a:t>
            </a:r>
            <a:r>
              <a:rPr sz="4000" spc="140" dirty="0">
                <a:solidFill>
                  <a:srgbClr val="853FDF"/>
                </a:solidFill>
                <a:latin typeface="Arial"/>
                <a:cs typeface="Arial"/>
              </a:rPr>
              <a:t> </a:t>
            </a:r>
            <a:r>
              <a:rPr sz="4000" spc="260" dirty="0">
                <a:solidFill>
                  <a:srgbClr val="853FDF"/>
                </a:solidFill>
                <a:latin typeface="Arial"/>
                <a:cs typeface="Arial"/>
              </a:rPr>
              <a:t>Adoption</a:t>
            </a:r>
            <a:endParaRPr sz="4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14554" y="4351200"/>
            <a:ext cx="6854190" cy="527050"/>
          </a:xfrm>
          <a:custGeom>
            <a:avLst/>
            <a:gdLst/>
            <a:ahLst/>
            <a:cxnLst/>
            <a:rect l="l" t="t" r="r" b="b"/>
            <a:pathLst>
              <a:path w="6854190" h="527050">
                <a:moveTo>
                  <a:pt x="6853749" y="526572"/>
                </a:moveTo>
                <a:lnTo>
                  <a:pt x="0" y="526572"/>
                </a:lnTo>
                <a:lnTo>
                  <a:pt x="0" y="0"/>
                </a:lnTo>
                <a:lnTo>
                  <a:pt x="6853749" y="0"/>
                </a:lnTo>
                <a:lnTo>
                  <a:pt x="6853749" y="526572"/>
                </a:lnTo>
                <a:close/>
              </a:path>
            </a:pathLst>
          </a:custGeom>
          <a:solidFill>
            <a:srgbClr val="0F0F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14554" y="4340820"/>
            <a:ext cx="6862445" cy="5003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3540" indent="-383540">
              <a:lnSpc>
                <a:spcPct val="100000"/>
              </a:lnSpc>
              <a:spcBef>
                <a:spcPts val="114"/>
              </a:spcBef>
              <a:buChar char="•"/>
              <a:tabLst>
                <a:tab pos="383540" algn="l"/>
              </a:tabLst>
            </a:pPr>
            <a:r>
              <a:rPr sz="3100" dirty="0">
                <a:solidFill>
                  <a:srgbClr val="F9F9F9"/>
                </a:solidFill>
                <a:latin typeface="Arial"/>
                <a:cs typeface="Arial"/>
              </a:rPr>
              <a:t>OAuth</a:t>
            </a:r>
            <a:r>
              <a:rPr sz="3100" spc="13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100" spc="-95" dirty="0">
                <a:solidFill>
                  <a:srgbClr val="F9F9F9"/>
                </a:solidFill>
                <a:latin typeface="Arial"/>
                <a:cs typeface="Arial"/>
              </a:rPr>
              <a:t>2.1</a:t>
            </a:r>
            <a:r>
              <a:rPr sz="3100" spc="-5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100" spc="65" dirty="0">
                <a:solidFill>
                  <a:srgbClr val="F9F9F9"/>
                </a:solidFill>
                <a:latin typeface="Arial"/>
                <a:cs typeface="Arial"/>
              </a:rPr>
              <a:t>Authorization</a:t>
            </a:r>
            <a:r>
              <a:rPr sz="3100" spc="39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100" spc="40" dirty="0">
                <a:solidFill>
                  <a:srgbClr val="F9F9F9"/>
                </a:solidFill>
                <a:latin typeface="Arial"/>
                <a:cs typeface="Arial"/>
              </a:rPr>
              <a:t>Framework</a:t>
            </a:r>
            <a:endParaRPr sz="3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6240" y="4877772"/>
            <a:ext cx="1643380" cy="523875"/>
          </a:xfrm>
          <a:prstGeom prst="rect">
            <a:avLst/>
          </a:prstGeom>
          <a:solidFill>
            <a:srgbClr val="0F0F13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3100" spc="55" dirty="0">
                <a:solidFill>
                  <a:srgbClr val="F9F9F9"/>
                </a:solidFill>
                <a:latin typeface="Arial"/>
                <a:cs typeface="Arial"/>
              </a:rPr>
              <a:t>(Security</a:t>
            </a:r>
            <a:endParaRPr sz="31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72064" y="4840496"/>
            <a:ext cx="102235" cy="561975"/>
          </a:xfrm>
          <a:custGeom>
            <a:avLst/>
            <a:gdLst/>
            <a:ahLst/>
            <a:cxnLst/>
            <a:rect l="l" t="t" r="r" b="b"/>
            <a:pathLst>
              <a:path w="102235" h="561975">
                <a:moveTo>
                  <a:pt x="101895" y="561367"/>
                </a:moveTo>
                <a:lnTo>
                  <a:pt x="0" y="561367"/>
                </a:lnTo>
                <a:lnTo>
                  <a:pt x="0" y="0"/>
                </a:lnTo>
                <a:lnTo>
                  <a:pt x="101895" y="0"/>
                </a:lnTo>
                <a:lnTo>
                  <a:pt x="101895" y="561367"/>
                </a:lnTo>
                <a:close/>
              </a:path>
            </a:pathLst>
          </a:custGeom>
          <a:solidFill>
            <a:srgbClr val="0F0F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371651" y="4838700"/>
            <a:ext cx="535305" cy="531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00" b="1" spc="-180" dirty="0">
                <a:solidFill>
                  <a:srgbClr val="B5AE80"/>
                </a:solidFill>
                <a:latin typeface="Times New Roman"/>
                <a:cs typeface="Times New Roman"/>
              </a:rPr>
              <a:t>Qi</a:t>
            </a:r>
            <a:r>
              <a:rPr sz="3300" b="1" spc="-180" dirty="0">
                <a:solidFill>
                  <a:srgbClr val="F9F9F9"/>
                </a:solidFill>
                <a:latin typeface="Times New Roman"/>
                <a:cs typeface="Times New Roman"/>
              </a:rPr>
              <a:t>)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14554" y="5595861"/>
            <a:ext cx="6398895" cy="535305"/>
          </a:xfrm>
          <a:custGeom>
            <a:avLst/>
            <a:gdLst/>
            <a:ahLst/>
            <a:cxnLst/>
            <a:rect l="l" t="t" r="r" b="b"/>
            <a:pathLst>
              <a:path w="6398895" h="535304">
                <a:moveTo>
                  <a:pt x="6398773" y="535065"/>
                </a:moveTo>
                <a:lnTo>
                  <a:pt x="0" y="535065"/>
                </a:lnTo>
                <a:lnTo>
                  <a:pt x="0" y="0"/>
                </a:lnTo>
                <a:lnTo>
                  <a:pt x="6398773" y="0"/>
                </a:lnTo>
                <a:lnTo>
                  <a:pt x="6398773" y="535065"/>
                </a:lnTo>
                <a:close/>
              </a:path>
            </a:pathLst>
          </a:custGeom>
          <a:solidFill>
            <a:srgbClr val="0F0F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01854" y="5585520"/>
            <a:ext cx="6446520" cy="5080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97510" indent="-384810">
              <a:lnSpc>
                <a:spcPct val="100000"/>
              </a:lnSpc>
              <a:spcBef>
                <a:spcPts val="114"/>
              </a:spcBef>
              <a:buChar char="•"/>
              <a:tabLst>
                <a:tab pos="397510" algn="l"/>
              </a:tabLst>
            </a:pPr>
            <a:r>
              <a:rPr sz="3100" dirty="0">
                <a:solidFill>
                  <a:srgbClr val="F9F9F9"/>
                </a:solidFill>
                <a:latin typeface="Arial"/>
                <a:cs typeface="Arial"/>
              </a:rPr>
              <a:t>Streamable</a:t>
            </a:r>
            <a:r>
              <a:rPr sz="3100" spc="27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F9F9F9"/>
                </a:solidFill>
                <a:latin typeface="Arial"/>
                <a:cs typeface="Arial"/>
              </a:rPr>
              <a:t>HTTP</a:t>
            </a:r>
            <a:r>
              <a:rPr sz="3100" spc="1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150" dirty="0">
                <a:solidFill>
                  <a:srgbClr val="F9F9F9"/>
                </a:solidFill>
                <a:latin typeface="Arial"/>
                <a:cs typeface="Arial"/>
              </a:rPr>
              <a:t>&amp;</a:t>
            </a:r>
            <a:r>
              <a:rPr sz="3150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100" spc="40" dirty="0">
                <a:solidFill>
                  <a:srgbClr val="F9F9F9"/>
                </a:solidFill>
                <a:latin typeface="Arial"/>
                <a:cs typeface="Arial"/>
              </a:rPr>
              <a:t>Binary/Audio</a:t>
            </a:r>
            <a:endParaRPr sz="3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99425" y="6138460"/>
            <a:ext cx="1477645" cy="527050"/>
          </a:xfrm>
          <a:prstGeom prst="rect">
            <a:avLst/>
          </a:prstGeom>
          <a:solidFill>
            <a:srgbClr val="0F0F13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3100" spc="75" dirty="0">
                <a:solidFill>
                  <a:srgbClr val="F9F9F9"/>
                </a:solidFill>
                <a:latin typeface="Arial"/>
                <a:cs typeface="Arial"/>
              </a:rPr>
              <a:t>Support</a:t>
            </a:r>
            <a:endParaRPr sz="31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87770" y="6010050"/>
            <a:ext cx="356870" cy="696595"/>
          </a:xfrm>
          <a:custGeom>
            <a:avLst/>
            <a:gdLst/>
            <a:ahLst/>
            <a:cxnLst/>
            <a:rect l="l" t="t" r="r" b="b"/>
            <a:pathLst>
              <a:path w="356870" h="696595">
                <a:moveTo>
                  <a:pt x="356633" y="696434"/>
                </a:moveTo>
                <a:lnTo>
                  <a:pt x="0" y="696434"/>
                </a:lnTo>
                <a:lnTo>
                  <a:pt x="0" y="0"/>
                </a:lnTo>
                <a:lnTo>
                  <a:pt x="356633" y="0"/>
                </a:lnTo>
                <a:lnTo>
                  <a:pt x="356633" y="696434"/>
                </a:lnTo>
                <a:close/>
              </a:path>
            </a:pathLst>
          </a:custGeom>
          <a:solidFill>
            <a:srgbClr val="0F0F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187770" y="6138460"/>
            <a:ext cx="356870" cy="527050"/>
          </a:xfrm>
          <a:prstGeom prst="rect">
            <a:avLst/>
          </a:prstGeom>
          <a:solidFill>
            <a:srgbClr val="0F0F1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954"/>
              </a:lnSpc>
            </a:pPr>
            <a:r>
              <a:rPr sz="4100" spc="85" dirty="0">
                <a:solidFill>
                  <a:srgbClr val="BABCC3"/>
                </a:solidFill>
                <a:latin typeface="Arial"/>
                <a:cs typeface="Arial"/>
              </a:rPr>
              <a:t>0</a:t>
            </a:r>
            <a:endParaRPr sz="41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35857" y="6853364"/>
            <a:ext cx="280670" cy="527050"/>
          </a:xfrm>
          <a:custGeom>
            <a:avLst/>
            <a:gdLst/>
            <a:ahLst/>
            <a:cxnLst/>
            <a:rect l="l" t="t" r="r" b="b"/>
            <a:pathLst>
              <a:path w="280670" h="527050">
                <a:moveTo>
                  <a:pt x="280212" y="526572"/>
                </a:moveTo>
                <a:lnTo>
                  <a:pt x="0" y="526572"/>
                </a:lnTo>
                <a:lnTo>
                  <a:pt x="0" y="0"/>
                </a:lnTo>
                <a:lnTo>
                  <a:pt x="280212" y="0"/>
                </a:lnTo>
                <a:lnTo>
                  <a:pt x="280212" y="526572"/>
                </a:lnTo>
                <a:close/>
              </a:path>
            </a:pathLst>
          </a:custGeom>
          <a:solidFill>
            <a:srgbClr val="2A2A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099884" y="6853364"/>
            <a:ext cx="102235" cy="527050"/>
          </a:xfrm>
          <a:custGeom>
            <a:avLst/>
            <a:gdLst/>
            <a:ahLst/>
            <a:cxnLst/>
            <a:rect l="l" t="t" r="r" b="b"/>
            <a:pathLst>
              <a:path w="102234" h="527050">
                <a:moveTo>
                  <a:pt x="101895" y="526572"/>
                </a:moveTo>
                <a:lnTo>
                  <a:pt x="0" y="526572"/>
                </a:lnTo>
                <a:lnTo>
                  <a:pt x="0" y="0"/>
                </a:lnTo>
                <a:lnTo>
                  <a:pt x="101895" y="0"/>
                </a:lnTo>
                <a:lnTo>
                  <a:pt x="101895" y="526572"/>
                </a:lnTo>
                <a:close/>
              </a:path>
            </a:pathLst>
          </a:custGeom>
          <a:solidFill>
            <a:srgbClr val="0F0F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214554" y="6853364"/>
            <a:ext cx="6391275" cy="527050"/>
          </a:xfrm>
          <a:prstGeom prst="rect">
            <a:avLst/>
          </a:prstGeom>
          <a:solidFill>
            <a:srgbClr val="0F0F13"/>
          </a:solidFill>
        </p:spPr>
        <p:txBody>
          <a:bodyPr vert="horz" wrap="square" lIns="0" tIns="4445" rIns="0" bIns="0" rtlCol="0">
            <a:spAutoFit/>
          </a:bodyPr>
          <a:lstStyle/>
          <a:p>
            <a:pPr marL="386080" indent="-386715">
              <a:lnSpc>
                <a:spcPct val="100000"/>
              </a:lnSpc>
              <a:spcBef>
                <a:spcPts val="35"/>
              </a:spcBef>
              <a:buChar char="•"/>
              <a:tabLst>
                <a:tab pos="386080" algn="l"/>
              </a:tabLst>
            </a:pPr>
            <a:r>
              <a:rPr sz="3100" dirty="0">
                <a:solidFill>
                  <a:srgbClr val="F9F9F9"/>
                </a:solidFill>
                <a:latin typeface="Arial"/>
                <a:cs typeface="Arial"/>
              </a:rPr>
              <a:t>MCP</a:t>
            </a:r>
            <a:r>
              <a:rPr sz="3100" spc="-10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100" spc="55" dirty="0">
                <a:solidFill>
                  <a:srgbClr val="F9F9F9"/>
                </a:solidFill>
                <a:latin typeface="Arial"/>
                <a:cs typeface="Arial"/>
              </a:rPr>
              <a:t>Registry</a:t>
            </a:r>
            <a:r>
              <a:rPr sz="3100" spc="17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100" spc="60" dirty="0">
                <a:solidFill>
                  <a:srgbClr val="F9F9F9"/>
                </a:solidFill>
                <a:latin typeface="Arial"/>
                <a:cs typeface="Arial"/>
              </a:rPr>
              <a:t>Launch</a:t>
            </a:r>
            <a:r>
              <a:rPr sz="3100" spc="13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100" spc="-10" dirty="0">
                <a:solidFill>
                  <a:srgbClr val="F9F9F9"/>
                </a:solidFill>
                <a:latin typeface="Arial"/>
                <a:cs typeface="Arial"/>
              </a:rPr>
              <a:t>(Discovery</a:t>
            </a:r>
            <a:endParaRPr sz="3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23157" y="6842985"/>
            <a:ext cx="582930" cy="5003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15900" indent="-203200">
              <a:lnSpc>
                <a:spcPct val="100000"/>
              </a:lnSpc>
              <a:spcBef>
                <a:spcPts val="114"/>
              </a:spcBef>
              <a:buClr>
                <a:srgbClr val="BABCC3"/>
              </a:buClr>
              <a:buSzPct val="96774"/>
              <a:buChar char="•"/>
              <a:tabLst>
                <a:tab pos="215900" algn="l"/>
              </a:tabLst>
            </a:pPr>
            <a:r>
              <a:rPr sz="3100" spc="409" dirty="0">
                <a:solidFill>
                  <a:srgbClr val="7B777C"/>
                </a:solidFill>
                <a:latin typeface="Arial"/>
                <a:cs typeface="Arial"/>
              </a:rPr>
              <a:t>,</a:t>
            </a:r>
            <a:r>
              <a:rPr sz="3100" spc="409" dirty="0">
                <a:solidFill>
                  <a:srgbClr val="F9F9F9"/>
                </a:solidFill>
                <a:latin typeface="Arial"/>
                <a:cs typeface="Arial"/>
              </a:rPr>
              <a:t>)</a:t>
            </a:r>
            <a:endParaRPr sz="31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77024" y="4351200"/>
            <a:ext cx="6382385" cy="527050"/>
          </a:xfrm>
          <a:prstGeom prst="rect">
            <a:avLst/>
          </a:prstGeom>
          <a:solidFill>
            <a:srgbClr val="0F0F13"/>
          </a:solidFill>
        </p:spPr>
        <p:txBody>
          <a:bodyPr vert="horz" wrap="square" lIns="0" tIns="4445" rIns="0" bIns="0" rtlCol="0">
            <a:spAutoFit/>
          </a:bodyPr>
          <a:lstStyle/>
          <a:p>
            <a:pPr marL="378460" indent="-379095">
              <a:lnSpc>
                <a:spcPct val="100000"/>
              </a:lnSpc>
              <a:spcBef>
                <a:spcPts val="35"/>
              </a:spcBef>
              <a:buChar char="•"/>
              <a:tabLst>
                <a:tab pos="378460" algn="l"/>
              </a:tabLst>
            </a:pPr>
            <a:r>
              <a:rPr sz="3100" spc="90" dirty="0">
                <a:solidFill>
                  <a:srgbClr val="F9F9F9"/>
                </a:solidFill>
                <a:latin typeface="Arial"/>
                <a:cs typeface="Arial"/>
              </a:rPr>
              <a:t>Integrated</a:t>
            </a:r>
            <a:r>
              <a:rPr sz="3100" spc="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100" spc="170" dirty="0">
                <a:solidFill>
                  <a:srgbClr val="F9F9F9"/>
                </a:solidFill>
                <a:latin typeface="Arial"/>
                <a:cs typeface="Arial"/>
              </a:rPr>
              <a:t>into</a:t>
            </a:r>
            <a:r>
              <a:rPr sz="3100" spc="-17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100" spc="105" dirty="0">
                <a:solidFill>
                  <a:srgbClr val="F9F9F9"/>
                </a:solidFill>
                <a:latin typeface="Arial"/>
                <a:cs typeface="Arial"/>
              </a:rPr>
              <a:t>Microsoft</a:t>
            </a:r>
            <a:r>
              <a:rPr sz="3100" spc="29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100" spc="65" dirty="0">
                <a:solidFill>
                  <a:srgbClr val="F9F9F9"/>
                </a:solidFill>
                <a:latin typeface="Arial"/>
                <a:cs typeface="Arial"/>
              </a:rPr>
              <a:t>Copilot</a:t>
            </a:r>
            <a:endParaRPr sz="31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661895" y="4887378"/>
            <a:ext cx="4705350" cy="527050"/>
          </a:xfrm>
          <a:custGeom>
            <a:avLst/>
            <a:gdLst/>
            <a:ahLst/>
            <a:cxnLst/>
            <a:rect l="l" t="t" r="r" b="b"/>
            <a:pathLst>
              <a:path w="4705350" h="527050">
                <a:moveTo>
                  <a:pt x="4704793" y="526572"/>
                </a:moveTo>
                <a:lnTo>
                  <a:pt x="0" y="526572"/>
                </a:lnTo>
                <a:lnTo>
                  <a:pt x="0" y="0"/>
                </a:lnTo>
                <a:lnTo>
                  <a:pt x="4704793" y="0"/>
                </a:lnTo>
                <a:lnTo>
                  <a:pt x="4704793" y="526572"/>
                </a:lnTo>
                <a:close/>
              </a:path>
            </a:pathLst>
          </a:custGeom>
          <a:solidFill>
            <a:srgbClr val="0F0F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649195" y="4876998"/>
            <a:ext cx="4782185" cy="5003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100" spc="60" dirty="0">
                <a:solidFill>
                  <a:srgbClr val="F9F9F9"/>
                </a:solidFill>
                <a:latin typeface="Arial"/>
                <a:cs typeface="Arial"/>
              </a:rPr>
              <a:t>Studio,</a:t>
            </a:r>
            <a:r>
              <a:rPr sz="3100" spc="8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F9F9F9"/>
                </a:solidFill>
                <a:latin typeface="Arial"/>
                <a:cs typeface="Arial"/>
              </a:rPr>
              <a:t>Claude,</a:t>
            </a:r>
            <a:r>
              <a:rPr sz="3100" spc="18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100" spc="100" dirty="0">
                <a:solidFill>
                  <a:srgbClr val="F9F9F9"/>
                </a:solidFill>
                <a:latin typeface="Arial"/>
                <a:cs typeface="Arial"/>
              </a:rPr>
              <a:t>and</a:t>
            </a:r>
            <a:r>
              <a:rPr sz="3100" spc="-7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100" spc="60" dirty="0">
                <a:solidFill>
                  <a:srgbClr val="F9F9F9"/>
                </a:solidFill>
                <a:latin typeface="Arial"/>
                <a:cs typeface="Arial"/>
              </a:rPr>
              <a:t>more.</a:t>
            </a:r>
            <a:endParaRPr sz="31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277024" y="5602282"/>
            <a:ext cx="6357620" cy="527050"/>
          </a:xfrm>
          <a:custGeom>
            <a:avLst/>
            <a:gdLst/>
            <a:ahLst/>
            <a:cxnLst/>
            <a:rect l="l" t="t" r="r" b="b"/>
            <a:pathLst>
              <a:path w="6357619" h="527050">
                <a:moveTo>
                  <a:pt x="6357009" y="526572"/>
                </a:moveTo>
                <a:lnTo>
                  <a:pt x="0" y="526572"/>
                </a:lnTo>
                <a:lnTo>
                  <a:pt x="0" y="0"/>
                </a:lnTo>
                <a:lnTo>
                  <a:pt x="6357009" y="0"/>
                </a:lnTo>
                <a:lnTo>
                  <a:pt x="6357009" y="526572"/>
                </a:lnTo>
                <a:close/>
              </a:path>
            </a:pathLst>
          </a:custGeom>
          <a:solidFill>
            <a:srgbClr val="0F0F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264323" y="5591903"/>
            <a:ext cx="6424295" cy="5003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97510" indent="-384810">
              <a:lnSpc>
                <a:spcPct val="100000"/>
              </a:lnSpc>
              <a:spcBef>
                <a:spcPts val="114"/>
              </a:spcBef>
              <a:buChar char="•"/>
              <a:tabLst>
                <a:tab pos="397510" algn="l"/>
              </a:tabLst>
            </a:pPr>
            <a:r>
              <a:rPr sz="3100" spc="75" dirty="0">
                <a:solidFill>
                  <a:srgbClr val="F9F9F9"/>
                </a:solidFill>
                <a:latin typeface="Arial"/>
                <a:cs typeface="Arial"/>
              </a:rPr>
              <a:t>Donated</a:t>
            </a:r>
            <a:r>
              <a:rPr sz="3100" spc="5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100" spc="60" dirty="0">
                <a:solidFill>
                  <a:srgbClr val="F9F9F9"/>
                </a:solidFill>
                <a:latin typeface="Arial"/>
                <a:cs typeface="Arial"/>
              </a:rPr>
              <a:t>to</a:t>
            </a:r>
            <a:r>
              <a:rPr sz="3100" spc="15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100" spc="65" dirty="0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sz="3100" spc="37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100" dirty="0">
                <a:solidFill>
                  <a:srgbClr val="F9F9F9"/>
                </a:solidFill>
                <a:latin typeface="Arial"/>
                <a:cs typeface="Arial"/>
              </a:rPr>
              <a:t>Linux</a:t>
            </a:r>
            <a:r>
              <a:rPr sz="3100" spc="15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100" spc="45" dirty="0">
                <a:solidFill>
                  <a:srgbClr val="F9F9F9"/>
                </a:solidFill>
                <a:latin typeface="Arial"/>
                <a:cs typeface="Arial"/>
              </a:rPr>
              <a:t>Foundation</a:t>
            </a:r>
            <a:endParaRPr sz="31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668709" y="6138460"/>
            <a:ext cx="4399280" cy="527050"/>
          </a:xfrm>
          <a:custGeom>
            <a:avLst/>
            <a:gdLst/>
            <a:ahLst/>
            <a:cxnLst/>
            <a:rect l="l" t="t" r="r" b="b"/>
            <a:pathLst>
              <a:path w="4399280" h="527050">
                <a:moveTo>
                  <a:pt x="4398682" y="526572"/>
                </a:moveTo>
                <a:lnTo>
                  <a:pt x="0" y="526572"/>
                </a:lnTo>
                <a:lnTo>
                  <a:pt x="0" y="0"/>
                </a:lnTo>
                <a:lnTo>
                  <a:pt x="4398682" y="0"/>
                </a:lnTo>
                <a:lnTo>
                  <a:pt x="4398682" y="526572"/>
                </a:lnTo>
                <a:close/>
              </a:path>
            </a:pathLst>
          </a:custGeom>
          <a:solidFill>
            <a:srgbClr val="0F0F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656009" y="6128080"/>
            <a:ext cx="4462145" cy="5003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100" spc="80" dirty="0">
                <a:solidFill>
                  <a:srgbClr val="F9F9F9"/>
                </a:solidFill>
                <a:latin typeface="Arial"/>
                <a:cs typeface="Arial"/>
              </a:rPr>
              <a:t>(Agentic</a:t>
            </a:r>
            <a:r>
              <a:rPr sz="3100" spc="10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100" spc="105" dirty="0">
                <a:solidFill>
                  <a:srgbClr val="F9F9F9"/>
                </a:solidFill>
                <a:latin typeface="Arial"/>
                <a:cs typeface="Arial"/>
              </a:rPr>
              <a:t>Al</a:t>
            </a:r>
            <a:r>
              <a:rPr sz="3100" spc="-8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3100" spc="40" dirty="0">
                <a:solidFill>
                  <a:srgbClr val="F9F9F9"/>
                </a:solidFill>
                <a:latin typeface="Arial"/>
                <a:cs typeface="Arial"/>
              </a:rPr>
              <a:t>Foundation).</a:t>
            </a:r>
            <a:endParaRPr sz="31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524973" y="8157470"/>
            <a:ext cx="12412345" cy="911860"/>
          </a:xfrm>
          <a:custGeom>
            <a:avLst/>
            <a:gdLst/>
            <a:ahLst/>
            <a:cxnLst/>
            <a:rect l="l" t="t" r="r" b="b"/>
            <a:pathLst>
              <a:path w="12412344" h="911859">
                <a:moveTo>
                  <a:pt x="12411771" y="911707"/>
                </a:moveTo>
                <a:lnTo>
                  <a:pt x="0" y="911707"/>
                </a:lnTo>
                <a:lnTo>
                  <a:pt x="0" y="0"/>
                </a:lnTo>
                <a:lnTo>
                  <a:pt x="12411771" y="0"/>
                </a:lnTo>
                <a:lnTo>
                  <a:pt x="12411771" y="911707"/>
                </a:lnTo>
                <a:close/>
              </a:path>
            </a:pathLst>
          </a:custGeom>
          <a:solidFill>
            <a:srgbClr val="0F0F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512273" y="8151514"/>
            <a:ext cx="12479020" cy="814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150" b="1" spc="-70" dirty="0">
                <a:solidFill>
                  <a:srgbClr val="F9F9F9"/>
                </a:solidFill>
                <a:latin typeface="Arial"/>
                <a:cs typeface="Arial"/>
              </a:rPr>
              <a:t>Projection:</a:t>
            </a:r>
            <a:r>
              <a:rPr sz="5150" b="1" spc="-22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5150" b="1" spc="-40" dirty="0">
                <a:solidFill>
                  <a:srgbClr val="F9F9F9"/>
                </a:solidFill>
                <a:latin typeface="Arial"/>
                <a:cs typeface="Arial"/>
              </a:rPr>
              <a:t>$1.8B</a:t>
            </a:r>
            <a:r>
              <a:rPr sz="5150" b="1" spc="-375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5150" b="1" dirty="0">
                <a:solidFill>
                  <a:srgbClr val="F9F9F9"/>
                </a:solidFill>
                <a:latin typeface="Arial"/>
                <a:cs typeface="Arial"/>
              </a:rPr>
              <a:t>market</a:t>
            </a:r>
            <a:r>
              <a:rPr sz="5150" b="1" spc="-14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5150" b="1" dirty="0">
                <a:solidFill>
                  <a:srgbClr val="F9F9F9"/>
                </a:solidFill>
                <a:latin typeface="Arial"/>
                <a:cs typeface="Arial"/>
              </a:rPr>
              <a:t>by</a:t>
            </a:r>
            <a:r>
              <a:rPr sz="5150" b="1" spc="-27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5150" b="1" dirty="0">
                <a:solidFill>
                  <a:srgbClr val="F9F9F9"/>
                </a:solidFill>
                <a:latin typeface="Arial"/>
                <a:cs typeface="Arial"/>
              </a:rPr>
              <a:t>end</a:t>
            </a:r>
            <a:r>
              <a:rPr sz="5150" b="1" spc="-320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5150" b="1" dirty="0">
                <a:solidFill>
                  <a:srgbClr val="F9F9F9"/>
                </a:solidFill>
                <a:latin typeface="Arial"/>
                <a:cs typeface="Arial"/>
              </a:rPr>
              <a:t>of</a:t>
            </a:r>
            <a:r>
              <a:rPr sz="5150" b="1" spc="-114" dirty="0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sz="5150" b="1" spc="215" dirty="0">
                <a:solidFill>
                  <a:srgbClr val="F9F9F9"/>
                </a:solidFill>
                <a:latin typeface="Arial"/>
                <a:cs typeface="Arial"/>
              </a:rPr>
              <a:t>2025.</a:t>
            </a:r>
            <a:endParaRPr sz="5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57960" y="4646467"/>
            <a:ext cx="173990" cy="142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10"/>
              </a:lnSpc>
            </a:pPr>
            <a:r>
              <a:rPr sz="1000" spc="65" dirty="0">
                <a:solidFill>
                  <a:srgbClr val="82858C"/>
                </a:solidFill>
                <a:latin typeface="Arial"/>
                <a:cs typeface="Arial"/>
              </a:rPr>
              <a:t>Ac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99448" y="4519545"/>
            <a:ext cx="38290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105" dirty="0">
                <a:solidFill>
                  <a:srgbClr val="16A3DD"/>
                </a:solidFill>
                <a:latin typeface="Times New Roman"/>
                <a:cs typeface="Times New Roman"/>
              </a:rPr>
              <a:t>l!D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34727" y="4522938"/>
            <a:ext cx="242570" cy="561975"/>
          </a:xfrm>
          <a:custGeom>
            <a:avLst/>
            <a:gdLst/>
            <a:ahLst/>
            <a:cxnLst/>
            <a:rect l="l" t="t" r="r" b="b"/>
            <a:pathLst>
              <a:path w="242569" h="561975">
                <a:moveTo>
                  <a:pt x="242001" y="561729"/>
                </a:moveTo>
                <a:lnTo>
                  <a:pt x="0" y="561729"/>
                </a:lnTo>
                <a:lnTo>
                  <a:pt x="0" y="0"/>
                </a:lnTo>
                <a:lnTo>
                  <a:pt x="242001" y="0"/>
                </a:lnTo>
                <a:lnTo>
                  <a:pt x="242001" y="561729"/>
                </a:lnTo>
                <a:close/>
              </a:path>
            </a:pathLst>
          </a:custGeom>
          <a:solidFill>
            <a:srgbClr val="1A1D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3796632" y="4321670"/>
            <a:ext cx="480695" cy="539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5025" b="0" spc="67" baseline="-24875" dirty="0">
                <a:solidFill>
                  <a:srgbClr val="D1D4D8"/>
                </a:solidFill>
                <a:latin typeface="Times New Roman"/>
                <a:cs typeface="Times New Roman"/>
              </a:rPr>
              <a:t>,</a:t>
            </a:r>
            <a:r>
              <a:rPr sz="5025" b="0" spc="15" baseline="-24875" dirty="0">
                <a:solidFill>
                  <a:srgbClr val="D1D4D8"/>
                </a:solidFill>
                <a:latin typeface="Times New Roman"/>
                <a:cs typeface="Times New Roman"/>
              </a:rPr>
              <a:t>,</a:t>
            </a:r>
            <a:r>
              <a:rPr sz="1000" b="0" spc="-490" dirty="0">
                <a:solidFill>
                  <a:srgbClr val="82858C"/>
                </a:solidFill>
                <a:latin typeface="Arial"/>
                <a:cs typeface="Arial"/>
              </a:rPr>
              <a:t>h</a:t>
            </a:r>
            <a:r>
              <a:rPr sz="5025" b="0" spc="-202" baseline="-24875" dirty="0">
                <a:solidFill>
                  <a:srgbClr val="D1D4D8"/>
                </a:solidFill>
                <a:latin typeface="Times New Roman"/>
                <a:cs typeface="Times New Roman"/>
              </a:rPr>
              <a:t>.</a:t>
            </a:r>
            <a:r>
              <a:rPr sz="1000" b="0" spc="40" dirty="0">
                <a:solidFill>
                  <a:srgbClr val="82858C"/>
                </a:solidFill>
                <a:latin typeface="Arial"/>
                <a:cs typeface="Arial"/>
              </a:rPr>
              <a:t>,e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40040" y="4685506"/>
            <a:ext cx="563880" cy="7150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500" spc="-90" dirty="0">
                <a:solidFill>
                  <a:srgbClr val="3DAE93"/>
                </a:solidFill>
                <a:latin typeface="Arial"/>
                <a:cs typeface="Arial"/>
              </a:rPr>
              <a:t>--</a:t>
            </a:r>
            <a:r>
              <a:rPr sz="4500" spc="-50" dirty="0">
                <a:solidFill>
                  <a:srgbClr val="3DAE93"/>
                </a:solidFill>
                <a:latin typeface="Arial"/>
                <a:cs typeface="Arial"/>
              </a:rPr>
              <a:t>-</a:t>
            </a:r>
            <a:endParaRPr sz="45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Built</a:t>
            </a:r>
            <a:r>
              <a:rPr spc="110" dirty="0"/>
              <a:t> </a:t>
            </a:r>
            <a:r>
              <a:rPr spc="229" dirty="0"/>
              <a:t>WITH</a:t>
            </a:r>
            <a:r>
              <a:rPr spc="-185" dirty="0"/>
              <a:t> </a:t>
            </a:r>
            <a:r>
              <a:rPr spc="45" dirty="0"/>
              <a:t>MCP.</a:t>
            </a:r>
          </a:p>
        </p:txBody>
      </p:sp>
      <p:sp>
        <p:nvSpPr>
          <p:cNvPr id="3" name="object 3"/>
          <p:cNvSpPr/>
          <p:nvPr/>
        </p:nvSpPr>
        <p:spPr>
          <a:xfrm>
            <a:off x="758710" y="1772068"/>
            <a:ext cx="12887960" cy="1135380"/>
          </a:xfrm>
          <a:custGeom>
            <a:avLst/>
            <a:gdLst/>
            <a:ahLst/>
            <a:cxnLst/>
            <a:rect l="l" t="t" r="r" b="b"/>
            <a:pathLst>
              <a:path w="12887960" h="1135380">
                <a:moveTo>
                  <a:pt x="12887922" y="0"/>
                </a:moveTo>
                <a:lnTo>
                  <a:pt x="0" y="0"/>
                </a:lnTo>
                <a:lnTo>
                  <a:pt x="0" y="523417"/>
                </a:lnTo>
                <a:lnTo>
                  <a:pt x="0" y="611505"/>
                </a:lnTo>
                <a:lnTo>
                  <a:pt x="0" y="1134922"/>
                </a:lnTo>
                <a:lnTo>
                  <a:pt x="5681370" y="1134922"/>
                </a:lnTo>
                <a:lnTo>
                  <a:pt x="5681370" y="611505"/>
                </a:lnTo>
                <a:lnTo>
                  <a:pt x="12887922" y="611505"/>
                </a:lnTo>
                <a:lnTo>
                  <a:pt x="12887922" y="0"/>
                </a:lnTo>
                <a:close/>
              </a:path>
            </a:pathLst>
          </a:custGeom>
          <a:solidFill>
            <a:srgbClr val="1116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43825" y="3379888"/>
            <a:ext cx="4458970" cy="894715"/>
          </a:xfrm>
          <a:custGeom>
            <a:avLst/>
            <a:gdLst/>
            <a:ahLst/>
            <a:cxnLst/>
            <a:rect l="l" t="t" r="r" b="b"/>
            <a:pathLst>
              <a:path w="4458970" h="894714">
                <a:moveTo>
                  <a:pt x="4458589" y="434060"/>
                </a:moveTo>
                <a:lnTo>
                  <a:pt x="3116415" y="434060"/>
                </a:lnTo>
                <a:lnTo>
                  <a:pt x="3116415" y="0"/>
                </a:lnTo>
                <a:lnTo>
                  <a:pt x="0" y="0"/>
                </a:lnTo>
                <a:lnTo>
                  <a:pt x="0" y="460286"/>
                </a:lnTo>
                <a:lnTo>
                  <a:pt x="1757692" y="460286"/>
                </a:lnTo>
                <a:lnTo>
                  <a:pt x="1757692" y="894334"/>
                </a:lnTo>
                <a:lnTo>
                  <a:pt x="4458589" y="894334"/>
                </a:lnTo>
                <a:lnTo>
                  <a:pt x="4458589" y="434060"/>
                </a:lnTo>
                <a:close/>
              </a:path>
            </a:pathLst>
          </a:custGeom>
          <a:solidFill>
            <a:srgbClr val="1116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768861" y="5380071"/>
            <a:ext cx="127635" cy="608330"/>
          </a:xfrm>
          <a:custGeom>
            <a:avLst/>
            <a:gdLst/>
            <a:ahLst/>
            <a:cxnLst/>
            <a:rect l="l" t="t" r="r" b="b"/>
            <a:pathLst>
              <a:path w="127634" h="608329">
                <a:moveTo>
                  <a:pt x="127369" y="607912"/>
                </a:moveTo>
                <a:lnTo>
                  <a:pt x="0" y="607912"/>
                </a:lnTo>
                <a:lnTo>
                  <a:pt x="0" y="0"/>
                </a:lnTo>
                <a:lnTo>
                  <a:pt x="127369" y="0"/>
                </a:lnTo>
                <a:lnTo>
                  <a:pt x="127369" y="607912"/>
                </a:lnTo>
                <a:close/>
              </a:path>
            </a:pathLst>
          </a:custGeom>
          <a:solidFill>
            <a:srgbClr val="1116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436330" y="5750289"/>
            <a:ext cx="314325" cy="608330"/>
          </a:xfrm>
          <a:custGeom>
            <a:avLst/>
            <a:gdLst/>
            <a:ahLst/>
            <a:cxnLst/>
            <a:rect l="l" t="t" r="r" b="b"/>
            <a:pathLst>
              <a:path w="314325" h="608329">
                <a:moveTo>
                  <a:pt x="313880" y="607912"/>
                </a:moveTo>
                <a:lnTo>
                  <a:pt x="0" y="607912"/>
                </a:lnTo>
                <a:lnTo>
                  <a:pt x="0" y="0"/>
                </a:lnTo>
                <a:lnTo>
                  <a:pt x="313880" y="0"/>
                </a:lnTo>
                <a:lnTo>
                  <a:pt x="313880" y="607912"/>
                </a:lnTo>
                <a:close/>
              </a:path>
            </a:pathLst>
          </a:custGeom>
          <a:solidFill>
            <a:srgbClr val="1116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597258" y="6133273"/>
            <a:ext cx="312420" cy="608330"/>
          </a:xfrm>
          <a:custGeom>
            <a:avLst/>
            <a:gdLst/>
            <a:ahLst/>
            <a:cxnLst/>
            <a:rect l="l" t="t" r="r" b="b"/>
            <a:pathLst>
              <a:path w="312420" h="608329">
                <a:moveTo>
                  <a:pt x="312012" y="607912"/>
                </a:moveTo>
                <a:lnTo>
                  <a:pt x="0" y="607912"/>
                </a:lnTo>
                <a:lnTo>
                  <a:pt x="0" y="0"/>
                </a:lnTo>
                <a:lnTo>
                  <a:pt x="312012" y="0"/>
                </a:lnTo>
                <a:lnTo>
                  <a:pt x="312012" y="607912"/>
                </a:lnTo>
                <a:close/>
              </a:path>
            </a:pathLst>
          </a:custGeom>
          <a:solidFill>
            <a:srgbClr val="1116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46012" y="1762059"/>
            <a:ext cx="12945745" cy="48209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5080">
              <a:lnSpc>
                <a:spcPts val="4120"/>
              </a:lnSpc>
              <a:spcBef>
                <a:spcPts val="420"/>
              </a:spcBef>
            </a:pPr>
            <a:r>
              <a:rPr sz="3600" spc="-155" dirty="0">
                <a:solidFill>
                  <a:srgbClr val="F6F6F6"/>
                </a:solidFill>
                <a:latin typeface="Arial"/>
                <a:cs typeface="Arial"/>
              </a:rPr>
              <a:t>We</a:t>
            </a:r>
            <a:r>
              <a:rPr sz="3600" spc="-75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3600" spc="75" dirty="0">
                <a:solidFill>
                  <a:srgbClr val="F6F6F6"/>
                </a:solidFill>
                <a:latin typeface="Arial"/>
                <a:cs typeface="Arial"/>
              </a:rPr>
              <a:t>practiced</a:t>
            </a:r>
            <a:r>
              <a:rPr sz="3600" spc="200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3600" spc="70" dirty="0">
                <a:solidFill>
                  <a:srgbClr val="F6F6F6"/>
                </a:solidFill>
                <a:latin typeface="Arial"/>
                <a:cs typeface="Arial"/>
              </a:rPr>
              <a:t>what</a:t>
            </a:r>
            <a:r>
              <a:rPr sz="3600" spc="210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6F6F6"/>
                </a:solidFill>
                <a:latin typeface="Arial"/>
                <a:cs typeface="Arial"/>
              </a:rPr>
              <a:t>we</a:t>
            </a:r>
            <a:r>
              <a:rPr sz="3600" spc="-15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6F6F6"/>
                </a:solidFill>
                <a:latin typeface="Arial"/>
                <a:cs typeface="Arial"/>
              </a:rPr>
              <a:t>preach.</a:t>
            </a:r>
            <a:r>
              <a:rPr sz="3600" spc="155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6F6F6"/>
                </a:solidFill>
                <a:latin typeface="Arial"/>
                <a:cs typeface="Arial"/>
              </a:rPr>
              <a:t>This</a:t>
            </a:r>
            <a:r>
              <a:rPr sz="3600" spc="85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3600" spc="55" dirty="0">
                <a:solidFill>
                  <a:srgbClr val="F6F6F6"/>
                </a:solidFill>
                <a:latin typeface="Arial"/>
                <a:cs typeface="Arial"/>
              </a:rPr>
              <a:t>project</a:t>
            </a:r>
            <a:r>
              <a:rPr sz="3600" spc="320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6F6F6"/>
                </a:solidFill>
                <a:latin typeface="Arial"/>
                <a:cs typeface="Arial"/>
              </a:rPr>
              <a:t>was</a:t>
            </a:r>
            <a:r>
              <a:rPr sz="3600" spc="45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3600" spc="60" dirty="0">
                <a:solidFill>
                  <a:srgbClr val="F6F6F6"/>
                </a:solidFill>
                <a:latin typeface="Arial"/>
                <a:cs typeface="Arial"/>
              </a:rPr>
              <a:t>built</a:t>
            </a:r>
            <a:r>
              <a:rPr sz="3600" spc="85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6F6F6"/>
                </a:solidFill>
                <a:latin typeface="Arial"/>
                <a:cs typeface="Arial"/>
              </a:rPr>
              <a:t>using</a:t>
            </a:r>
            <a:r>
              <a:rPr sz="3600" spc="95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3600" spc="120" dirty="0">
                <a:solidFill>
                  <a:srgbClr val="F6F6F6"/>
                </a:solidFill>
                <a:latin typeface="Arial"/>
                <a:cs typeface="Arial"/>
              </a:rPr>
              <a:t>the </a:t>
            </a:r>
            <a:r>
              <a:rPr sz="3600" dirty="0">
                <a:solidFill>
                  <a:srgbClr val="F6F6F6"/>
                </a:solidFill>
                <a:latin typeface="Arial"/>
                <a:cs typeface="Arial"/>
              </a:rPr>
              <a:t>very</a:t>
            </a:r>
            <a:r>
              <a:rPr sz="3600" spc="295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6F6F6"/>
                </a:solidFill>
                <a:latin typeface="Arial"/>
                <a:cs typeface="Arial"/>
              </a:rPr>
              <a:t>tools</a:t>
            </a:r>
            <a:r>
              <a:rPr sz="3600" spc="254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F6F6F6"/>
                </a:solidFill>
                <a:latin typeface="Arial"/>
                <a:cs typeface="Arial"/>
              </a:rPr>
              <a:t>we're</a:t>
            </a:r>
            <a:r>
              <a:rPr sz="3600" spc="240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F6F6F6"/>
                </a:solidFill>
                <a:latin typeface="Arial"/>
                <a:cs typeface="Arial"/>
              </a:rPr>
              <a:t>presenting.</a:t>
            </a:r>
            <a:endParaRPr sz="3600">
              <a:latin typeface="Arial"/>
              <a:cs typeface="Arial"/>
            </a:endParaRPr>
          </a:p>
          <a:p>
            <a:pPr marL="197485">
              <a:lnSpc>
                <a:spcPct val="100000"/>
              </a:lnSpc>
              <a:spcBef>
                <a:spcPts val="4120"/>
              </a:spcBef>
            </a:pPr>
            <a:r>
              <a:rPr sz="2600" b="1" dirty="0">
                <a:solidFill>
                  <a:srgbClr val="F6F6F6"/>
                </a:solidFill>
                <a:latin typeface="Arial"/>
                <a:cs typeface="Arial"/>
              </a:rPr>
              <a:t>Example</a:t>
            </a:r>
            <a:r>
              <a:rPr sz="2600" b="1" spc="130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2600" b="1" spc="105" dirty="0">
                <a:solidFill>
                  <a:srgbClr val="F6F6F6"/>
                </a:solidFill>
                <a:latin typeface="Arial"/>
                <a:cs typeface="Arial"/>
              </a:rPr>
              <a:t>Use</a:t>
            </a:r>
            <a:r>
              <a:rPr sz="2600" b="1" spc="-25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2600" b="1" spc="60" dirty="0">
                <a:solidFill>
                  <a:srgbClr val="F6F6F6"/>
                </a:solidFill>
                <a:latin typeface="Arial"/>
                <a:cs typeface="Arial"/>
              </a:rPr>
              <a:t>Case:</a:t>
            </a:r>
            <a:endParaRPr sz="2600">
              <a:latin typeface="Arial"/>
              <a:cs typeface="Arial"/>
            </a:endParaRPr>
          </a:p>
          <a:p>
            <a:pPr marL="198755" marR="201295" indent="5715">
              <a:lnSpc>
                <a:spcPts val="3520"/>
              </a:lnSpc>
              <a:spcBef>
                <a:spcPts val="80"/>
              </a:spcBef>
            </a:pPr>
            <a:r>
              <a:rPr sz="2750" dirty="0">
                <a:solidFill>
                  <a:srgbClr val="858789"/>
                </a:solidFill>
                <a:latin typeface="Arial"/>
                <a:cs typeface="Arial"/>
              </a:rPr>
              <a:t>We</a:t>
            </a:r>
            <a:r>
              <a:rPr sz="2750" spc="70" dirty="0">
                <a:solidFill>
                  <a:srgbClr val="858789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858789"/>
                </a:solidFill>
                <a:latin typeface="Arial"/>
                <a:cs typeface="Arial"/>
              </a:rPr>
              <a:t>used</a:t>
            </a:r>
            <a:r>
              <a:rPr sz="2750" spc="75" dirty="0">
                <a:solidFill>
                  <a:srgbClr val="858789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858789"/>
                </a:solidFill>
                <a:latin typeface="Arial"/>
                <a:cs typeface="Arial"/>
              </a:rPr>
              <a:t>a</a:t>
            </a:r>
            <a:r>
              <a:rPr sz="2750" spc="25" dirty="0">
                <a:solidFill>
                  <a:srgbClr val="858789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F6F6F6"/>
                </a:solidFill>
                <a:latin typeface="Arial"/>
                <a:cs typeface="Arial"/>
              </a:rPr>
              <a:t>Figma</a:t>
            </a:r>
            <a:r>
              <a:rPr sz="2600" b="1" spc="5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2600" b="1" spc="90" dirty="0">
                <a:solidFill>
                  <a:srgbClr val="F6F6F6"/>
                </a:solidFill>
                <a:latin typeface="Arial"/>
                <a:cs typeface="Arial"/>
              </a:rPr>
              <a:t>Dev</a:t>
            </a:r>
            <a:r>
              <a:rPr sz="2600" b="1" spc="-35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2600" b="1" spc="114" dirty="0">
                <a:solidFill>
                  <a:srgbClr val="F6F6F6"/>
                </a:solidFill>
                <a:latin typeface="Arial"/>
                <a:cs typeface="Arial"/>
              </a:rPr>
              <a:t>Mode</a:t>
            </a:r>
            <a:r>
              <a:rPr sz="2600" b="1" spc="160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858789"/>
                </a:solidFill>
                <a:latin typeface="Arial"/>
                <a:cs typeface="Arial"/>
              </a:rPr>
              <a:t>server</a:t>
            </a:r>
            <a:r>
              <a:rPr sz="2750" spc="215" dirty="0">
                <a:solidFill>
                  <a:srgbClr val="858789"/>
                </a:solidFill>
                <a:latin typeface="Arial"/>
                <a:cs typeface="Arial"/>
              </a:rPr>
              <a:t> </a:t>
            </a:r>
            <a:r>
              <a:rPr sz="2750" spc="110" dirty="0">
                <a:solidFill>
                  <a:srgbClr val="858789"/>
                </a:solidFill>
                <a:latin typeface="Arial"/>
                <a:cs typeface="Arial"/>
              </a:rPr>
              <a:t>to</a:t>
            </a:r>
            <a:r>
              <a:rPr sz="2750" spc="-5" dirty="0">
                <a:solidFill>
                  <a:srgbClr val="858789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858789"/>
                </a:solidFill>
                <a:latin typeface="Arial"/>
                <a:cs typeface="Arial"/>
              </a:rPr>
              <a:t>allow</a:t>
            </a:r>
            <a:r>
              <a:rPr sz="2750" spc="105" dirty="0">
                <a:solidFill>
                  <a:srgbClr val="858789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858789"/>
                </a:solidFill>
                <a:latin typeface="Arial"/>
                <a:cs typeface="Arial"/>
              </a:rPr>
              <a:t>our</a:t>
            </a:r>
            <a:r>
              <a:rPr sz="2750" spc="80" dirty="0">
                <a:solidFill>
                  <a:srgbClr val="858789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858789"/>
                </a:solidFill>
                <a:latin typeface="Arial"/>
                <a:cs typeface="Arial"/>
              </a:rPr>
              <a:t>Al</a:t>
            </a:r>
            <a:r>
              <a:rPr sz="2750" spc="15" dirty="0">
                <a:solidFill>
                  <a:srgbClr val="858789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858789"/>
                </a:solidFill>
                <a:latin typeface="Arial"/>
                <a:cs typeface="Arial"/>
              </a:rPr>
              <a:t>coding</a:t>
            </a:r>
            <a:r>
              <a:rPr sz="2750" spc="170" dirty="0">
                <a:solidFill>
                  <a:srgbClr val="858789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858789"/>
                </a:solidFill>
                <a:latin typeface="Arial"/>
                <a:cs typeface="Arial"/>
              </a:rPr>
              <a:t>agent</a:t>
            </a:r>
            <a:r>
              <a:rPr sz="2750" spc="229" dirty="0">
                <a:solidFill>
                  <a:srgbClr val="858789"/>
                </a:solidFill>
                <a:latin typeface="Arial"/>
                <a:cs typeface="Arial"/>
              </a:rPr>
              <a:t> </a:t>
            </a:r>
            <a:r>
              <a:rPr sz="2750" spc="110" dirty="0">
                <a:solidFill>
                  <a:srgbClr val="858789"/>
                </a:solidFill>
                <a:latin typeface="Arial"/>
                <a:cs typeface="Arial"/>
              </a:rPr>
              <a:t>to</a:t>
            </a:r>
            <a:r>
              <a:rPr sz="2750" spc="-30" dirty="0">
                <a:solidFill>
                  <a:srgbClr val="858789"/>
                </a:solidFill>
                <a:latin typeface="Arial"/>
                <a:cs typeface="Arial"/>
              </a:rPr>
              <a:t> </a:t>
            </a:r>
            <a:r>
              <a:rPr sz="2750" dirty="0">
                <a:solidFill>
                  <a:srgbClr val="70777C"/>
                </a:solidFill>
                <a:latin typeface="Arial"/>
                <a:cs typeface="Arial"/>
              </a:rPr>
              <a:t>'see'</a:t>
            </a:r>
            <a:r>
              <a:rPr sz="2750" spc="90" dirty="0">
                <a:solidFill>
                  <a:srgbClr val="70777C"/>
                </a:solidFill>
                <a:latin typeface="Arial"/>
                <a:cs typeface="Arial"/>
              </a:rPr>
              <a:t> </a:t>
            </a:r>
            <a:r>
              <a:rPr sz="2750" spc="-10" dirty="0">
                <a:solidFill>
                  <a:srgbClr val="858789"/>
                </a:solidFill>
                <a:latin typeface="Arial"/>
                <a:cs typeface="Arial"/>
              </a:rPr>
              <a:t>design </a:t>
            </a:r>
            <a:r>
              <a:rPr sz="2750" dirty="0">
                <a:solidFill>
                  <a:srgbClr val="858789"/>
                </a:solidFill>
                <a:latin typeface="Arial"/>
                <a:cs typeface="Arial"/>
              </a:rPr>
              <a:t>requirements</a:t>
            </a:r>
            <a:r>
              <a:rPr sz="2750" spc="240" dirty="0">
                <a:solidFill>
                  <a:srgbClr val="858789"/>
                </a:solidFill>
                <a:latin typeface="Arial"/>
                <a:cs typeface="Arial"/>
              </a:rPr>
              <a:t> </a:t>
            </a:r>
            <a:r>
              <a:rPr sz="2750" spc="50" dirty="0">
                <a:solidFill>
                  <a:srgbClr val="858789"/>
                </a:solidFill>
                <a:latin typeface="Arial"/>
                <a:cs typeface="Arial"/>
              </a:rPr>
              <a:t>directly</a:t>
            </a:r>
            <a:r>
              <a:rPr sz="2750" spc="245" dirty="0">
                <a:solidFill>
                  <a:srgbClr val="858789"/>
                </a:solidFill>
                <a:latin typeface="Arial"/>
                <a:cs typeface="Arial"/>
              </a:rPr>
              <a:t> </a:t>
            </a:r>
            <a:r>
              <a:rPr sz="2750" spc="50" dirty="0">
                <a:solidFill>
                  <a:srgbClr val="858789"/>
                </a:solidFill>
                <a:latin typeface="Arial"/>
                <a:cs typeface="Arial"/>
              </a:rPr>
              <a:t>in</a:t>
            </a:r>
            <a:r>
              <a:rPr sz="2750" spc="155" dirty="0">
                <a:solidFill>
                  <a:srgbClr val="858789"/>
                </a:solidFill>
                <a:latin typeface="Arial"/>
                <a:cs typeface="Arial"/>
              </a:rPr>
              <a:t> </a:t>
            </a:r>
            <a:r>
              <a:rPr sz="2750" spc="85" dirty="0">
                <a:solidFill>
                  <a:srgbClr val="858789"/>
                </a:solidFill>
                <a:latin typeface="Arial"/>
                <a:cs typeface="Arial"/>
              </a:rPr>
              <a:t>the</a:t>
            </a:r>
            <a:r>
              <a:rPr sz="2750" spc="-70" dirty="0">
                <a:solidFill>
                  <a:srgbClr val="858789"/>
                </a:solidFill>
                <a:latin typeface="Arial"/>
                <a:cs typeface="Arial"/>
              </a:rPr>
              <a:t> </a:t>
            </a:r>
            <a:r>
              <a:rPr sz="2750" spc="-20" dirty="0">
                <a:solidFill>
                  <a:srgbClr val="858789"/>
                </a:solidFill>
                <a:latin typeface="Arial"/>
                <a:cs typeface="Arial"/>
              </a:rPr>
              <a:t>IDE.</a:t>
            </a:r>
            <a:endParaRPr sz="2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40"/>
              </a:spcBef>
            </a:pPr>
            <a:endParaRPr sz="2750">
              <a:latin typeface="Arial"/>
              <a:cs typeface="Arial"/>
            </a:endParaRPr>
          </a:p>
          <a:p>
            <a:pPr marL="4607560" marR="2747645" indent="-643255">
              <a:lnSpc>
                <a:spcPts val="2920"/>
              </a:lnSpc>
            </a:pPr>
            <a:r>
              <a:rPr sz="2800" spc="-305" dirty="0">
                <a:solidFill>
                  <a:srgbClr val="70777C"/>
                </a:solidFill>
                <a:latin typeface="Courier New"/>
                <a:cs typeface="Courier New"/>
              </a:rPr>
              <a:t>//</a:t>
            </a:r>
            <a:r>
              <a:rPr sz="2800" spc="-635" dirty="0">
                <a:solidFill>
                  <a:srgbClr val="70777C"/>
                </a:solidFill>
                <a:latin typeface="Courier New"/>
                <a:cs typeface="Courier New"/>
              </a:rPr>
              <a:t> </a:t>
            </a:r>
            <a:r>
              <a:rPr sz="2800" spc="-409" dirty="0">
                <a:solidFill>
                  <a:srgbClr val="858789"/>
                </a:solidFill>
                <a:latin typeface="Courier New"/>
                <a:cs typeface="Courier New"/>
              </a:rPr>
              <a:t>.mcp.json</a:t>
            </a:r>
            <a:r>
              <a:rPr sz="2800" spc="-445" dirty="0">
                <a:solidFill>
                  <a:srgbClr val="858789"/>
                </a:solidFill>
                <a:latin typeface="Courier New"/>
                <a:cs typeface="Courier New"/>
              </a:rPr>
              <a:t> </a:t>
            </a:r>
            <a:r>
              <a:rPr sz="2800" spc="-360" dirty="0">
                <a:solidFill>
                  <a:srgbClr val="70777C"/>
                </a:solidFill>
                <a:latin typeface="Courier New"/>
                <a:cs typeface="Courier New"/>
              </a:rPr>
              <a:t>(Actual</a:t>
            </a:r>
            <a:r>
              <a:rPr sz="2800" spc="-260" dirty="0">
                <a:solidFill>
                  <a:srgbClr val="70777C"/>
                </a:solidFill>
                <a:latin typeface="Courier New"/>
                <a:cs typeface="Courier New"/>
              </a:rPr>
              <a:t> </a:t>
            </a:r>
            <a:r>
              <a:rPr sz="2800" spc="-409" dirty="0">
                <a:solidFill>
                  <a:srgbClr val="70777C"/>
                </a:solidFill>
                <a:latin typeface="Courier New"/>
                <a:cs typeface="Courier New"/>
              </a:rPr>
              <a:t>Project</a:t>
            </a:r>
            <a:r>
              <a:rPr sz="2800" spc="-114" dirty="0">
                <a:solidFill>
                  <a:srgbClr val="70777C"/>
                </a:solidFill>
                <a:latin typeface="Courier New"/>
                <a:cs typeface="Courier New"/>
              </a:rPr>
              <a:t> </a:t>
            </a:r>
            <a:r>
              <a:rPr sz="2800" spc="-375" dirty="0">
                <a:solidFill>
                  <a:srgbClr val="70777C"/>
                </a:solidFill>
                <a:latin typeface="Courier New"/>
                <a:cs typeface="Courier New"/>
              </a:rPr>
              <a:t>Config)</a:t>
            </a:r>
            <a:r>
              <a:rPr sz="2800" spc="-919" dirty="0">
                <a:solidFill>
                  <a:srgbClr val="70777C"/>
                </a:solidFill>
                <a:latin typeface="Courier New"/>
                <a:cs typeface="Courier New"/>
              </a:rPr>
              <a:t> </a:t>
            </a:r>
            <a:r>
              <a:rPr sz="2800" spc="-420" dirty="0">
                <a:solidFill>
                  <a:srgbClr val="F6F6F6"/>
                </a:solidFill>
                <a:latin typeface="Courier New"/>
                <a:cs typeface="Courier New"/>
              </a:rPr>
              <a:t>{ </a:t>
            </a:r>
            <a:r>
              <a:rPr sz="2800" spc="-325" dirty="0">
                <a:solidFill>
                  <a:srgbClr val="5B8CBC"/>
                </a:solidFill>
                <a:latin typeface="Courier New"/>
                <a:cs typeface="Courier New"/>
              </a:rPr>
              <a:t>"mcpServers"</a:t>
            </a:r>
            <a:r>
              <a:rPr sz="2800" spc="-325" dirty="0">
                <a:solidFill>
                  <a:srgbClr val="E4E6E6"/>
                </a:solidFill>
                <a:latin typeface="Courier New"/>
                <a:cs typeface="Courier New"/>
              </a:rPr>
              <a:t>:{</a:t>
            </a:r>
            <a:endParaRPr sz="2800">
              <a:latin typeface="Courier New"/>
              <a:cs typeface="Courier New"/>
            </a:endParaRPr>
          </a:p>
          <a:p>
            <a:pPr marL="5104765">
              <a:lnSpc>
                <a:spcPts val="2985"/>
              </a:lnSpc>
            </a:pPr>
            <a:r>
              <a:rPr sz="2800" spc="-335" dirty="0">
                <a:solidFill>
                  <a:srgbClr val="5B8CBC"/>
                </a:solidFill>
                <a:latin typeface="Courier New"/>
                <a:cs typeface="Courier New"/>
              </a:rPr>
              <a:t>"figma-dev-</a:t>
            </a:r>
            <a:r>
              <a:rPr sz="2800" spc="-330" dirty="0">
                <a:solidFill>
                  <a:srgbClr val="5B8CBC"/>
                </a:solidFill>
                <a:latin typeface="Courier New"/>
                <a:cs typeface="Courier New"/>
              </a:rPr>
              <a:t>mode"</a:t>
            </a:r>
            <a:r>
              <a:rPr sz="2800" spc="-330" dirty="0">
                <a:solidFill>
                  <a:srgbClr val="E4E6E6"/>
                </a:solidFill>
                <a:latin typeface="Courier New"/>
                <a:cs typeface="Courier New"/>
              </a:rPr>
              <a:t>:{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909495" y="6585798"/>
            <a:ext cx="51435" cy="407670"/>
          </a:xfrm>
          <a:custGeom>
            <a:avLst/>
            <a:gdLst/>
            <a:ahLst/>
            <a:cxnLst/>
            <a:rect l="l" t="t" r="r" b="b"/>
            <a:pathLst>
              <a:path w="51434" h="407670">
                <a:moveTo>
                  <a:pt x="50947" y="407668"/>
                </a:moveTo>
                <a:lnTo>
                  <a:pt x="0" y="407668"/>
                </a:lnTo>
                <a:lnTo>
                  <a:pt x="0" y="0"/>
                </a:lnTo>
                <a:lnTo>
                  <a:pt x="50947" y="0"/>
                </a:lnTo>
                <a:lnTo>
                  <a:pt x="50947" y="407668"/>
                </a:lnTo>
                <a:close/>
              </a:path>
            </a:pathLst>
          </a:custGeom>
          <a:solidFill>
            <a:srgbClr val="1116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027538" y="6585798"/>
            <a:ext cx="64135" cy="407670"/>
          </a:xfrm>
          <a:custGeom>
            <a:avLst/>
            <a:gdLst/>
            <a:ahLst/>
            <a:cxnLst/>
            <a:rect l="l" t="t" r="r" b="b"/>
            <a:pathLst>
              <a:path w="64134" h="407670">
                <a:moveTo>
                  <a:pt x="63684" y="407668"/>
                </a:moveTo>
                <a:lnTo>
                  <a:pt x="0" y="407668"/>
                </a:lnTo>
                <a:lnTo>
                  <a:pt x="0" y="0"/>
                </a:lnTo>
                <a:lnTo>
                  <a:pt x="63684" y="0"/>
                </a:lnTo>
                <a:lnTo>
                  <a:pt x="63684" y="407668"/>
                </a:lnTo>
                <a:close/>
              </a:path>
            </a:pathLst>
          </a:custGeom>
          <a:solidFill>
            <a:srgbClr val="1116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67171" y="6574895"/>
            <a:ext cx="277177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833880" algn="l"/>
              </a:tabLst>
            </a:pPr>
            <a:r>
              <a:rPr sz="2400" spc="-10" dirty="0">
                <a:solidFill>
                  <a:srgbClr val="5B8CBC"/>
                </a:solidFill>
                <a:latin typeface="Arial"/>
                <a:cs typeface="Arial"/>
              </a:rPr>
              <a:t>"command"</a:t>
            </a:r>
            <a:r>
              <a:rPr sz="2400" spc="-10" dirty="0">
                <a:solidFill>
                  <a:srgbClr val="E4E6E6"/>
                </a:solidFill>
                <a:latin typeface="Arial"/>
                <a:cs typeface="Arial"/>
              </a:rPr>
              <a:t>:</a:t>
            </a:r>
            <a:r>
              <a:rPr sz="2400" dirty="0">
                <a:solidFill>
                  <a:srgbClr val="E4E6E6"/>
                </a:solidFill>
                <a:latin typeface="Arial"/>
                <a:cs typeface="Arial"/>
              </a:rPr>
              <a:t>	</a:t>
            </a:r>
            <a:r>
              <a:rPr sz="2400" spc="155" dirty="0">
                <a:solidFill>
                  <a:srgbClr val="79BA8C"/>
                </a:solidFill>
                <a:latin typeface="Arial"/>
                <a:cs typeface="Arial"/>
              </a:rPr>
              <a:t>"npx"</a:t>
            </a:r>
            <a:r>
              <a:rPr sz="2400" spc="155" dirty="0">
                <a:solidFill>
                  <a:srgbClr val="E4E6E6"/>
                </a:solidFill>
                <a:latin typeface="Arial"/>
                <a:cs typeface="Arial"/>
              </a:rPr>
              <a:t>,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10956" y="6962437"/>
            <a:ext cx="76835" cy="399415"/>
          </a:xfrm>
          <a:custGeom>
            <a:avLst/>
            <a:gdLst/>
            <a:ahLst/>
            <a:cxnLst/>
            <a:rect l="l" t="t" r="r" b="b"/>
            <a:pathLst>
              <a:path w="76834" h="399415">
                <a:moveTo>
                  <a:pt x="76421" y="399175"/>
                </a:moveTo>
                <a:lnTo>
                  <a:pt x="0" y="399175"/>
                </a:lnTo>
                <a:lnTo>
                  <a:pt x="0" y="0"/>
                </a:lnTo>
                <a:lnTo>
                  <a:pt x="76421" y="0"/>
                </a:lnTo>
                <a:lnTo>
                  <a:pt x="76421" y="399175"/>
                </a:lnTo>
                <a:close/>
              </a:path>
            </a:pathLst>
          </a:custGeom>
          <a:solidFill>
            <a:srgbClr val="1116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510913" y="6968857"/>
            <a:ext cx="64135" cy="391160"/>
          </a:xfrm>
          <a:custGeom>
            <a:avLst/>
            <a:gdLst/>
            <a:ahLst/>
            <a:cxnLst/>
            <a:rect l="l" t="t" r="r" b="b"/>
            <a:pathLst>
              <a:path w="64134" h="391159">
                <a:moveTo>
                  <a:pt x="63684" y="390682"/>
                </a:moveTo>
                <a:lnTo>
                  <a:pt x="0" y="390682"/>
                </a:lnTo>
                <a:lnTo>
                  <a:pt x="0" y="0"/>
                </a:lnTo>
                <a:lnTo>
                  <a:pt x="63684" y="0"/>
                </a:lnTo>
                <a:lnTo>
                  <a:pt x="63684" y="390682"/>
                </a:lnTo>
                <a:close/>
              </a:path>
            </a:pathLst>
          </a:custGeom>
          <a:solidFill>
            <a:srgbClr val="1116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851647" y="6962437"/>
            <a:ext cx="64135" cy="399415"/>
          </a:xfrm>
          <a:custGeom>
            <a:avLst/>
            <a:gdLst/>
            <a:ahLst/>
            <a:cxnLst/>
            <a:rect l="l" t="t" r="r" b="b"/>
            <a:pathLst>
              <a:path w="64134" h="399415">
                <a:moveTo>
                  <a:pt x="63684" y="399175"/>
                </a:moveTo>
                <a:lnTo>
                  <a:pt x="0" y="399175"/>
                </a:lnTo>
                <a:lnTo>
                  <a:pt x="0" y="0"/>
                </a:lnTo>
                <a:lnTo>
                  <a:pt x="63684" y="0"/>
                </a:lnTo>
                <a:lnTo>
                  <a:pt x="63684" y="399175"/>
                </a:lnTo>
                <a:close/>
              </a:path>
            </a:pathLst>
          </a:custGeom>
          <a:solidFill>
            <a:srgbClr val="1116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76947" y="6962444"/>
            <a:ext cx="64135" cy="782955"/>
          </a:xfrm>
          <a:custGeom>
            <a:avLst/>
            <a:gdLst/>
            <a:ahLst/>
            <a:cxnLst/>
            <a:rect l="l" t="t" r="r" b="b"/>
            <a:pathLst>
              <a:path w="64134" h="782954">
                <a:moveTo>
                  <a:pt x="64020" y="0"/>
                </a:moveTo>
                <a:lnTo>
                  <a:pt x="342" y="0"/>
                </a:lnTo>
                <a:lnTo>
                  <a:pt x="342" y="363410"/>
                </a:lnTo>
                <a:lnTo>
                  <a:pt x="0" y="363410"/>
                </a:lnTo>
                <a:lnTo>
                  <a:pt x="0" y="782612"/>
                </a:lnTo>
                <a:lnTo>
                  <a:pt x="63690" y="782612"/>
                </a:lnTo>
                <a:lnTo>
                  <a:pt x="63690" y="399173"/>
                </a:lnTo>
                <a:lnTo>
                  <a:pt x="64020" y="399173"/>
                </a:lnTo>
                <a:lnTo>
                  <a:pt x="64020" y="0"/>
                </a:lnTo>
                <a:close/>
              </a:path>
            </a:pathLst>
          </a:custGeom>
          <a:solidFill>
            <a:srgbClr val="1116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360535" y="6951497"/>
            <a:ext cx="1139190" cy="7727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10"/>
              </a:spcBef>
            </a:pPr>
            <a:r>
              <a:rPr sz="2350" spc="229" dirty="0">
                <a:solidFill>
                  <a:srgbClr val="5B8CBC"/>
                </a:solidFill>
                <a:latin typeface="Arial"/>
                <a:cs typeface="Arial"/>
              </a:rPr>
              <a:t>"args"</a:t>
            </a:r>
            <a:r>
              <a:rPr sz="2350" spc="229" dirty="0">
                <a:solidFill>
                  <a:srgbClr val="E4E6E6"/>
                </a:solidFill>
                <a:latin typeface="Arial"/>
                <a:cs typeface="Arial"/>
              </a:rPr>
              <a:t>:</a:t>
            </a:r>
            <a:endParaRPr sz="2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500" spc="225" dirty="0">
                <a:solidFill>
                  <a:srgbClr val="5B8CBC"/>
                </a:solidFill>
                <a:latin typeface="Times New Roman"/>
                <a:cs typeface="Times New Roman"/>
              </a:rPr>
              <a:t>"type"</a:t>
            </a:r>
            <a:r>
              <a:rPr sz="2500" spc="225" dirty="0">
                <a:solidFill>
                  <a:srgbClr val="E4E6E6"/>
                </a:solidFill>
                <a:latin typeface="Times New Roman"/>
                <a:cs typeface="Times New Roman"/>
              </a:rPr>
              <a:t>: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85175" y="6951497"/>
            <a:ext cx="3273425" cy="7727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  <a:tabLst>
                <a:tab pos="1178560" algn="l"/>
              </a:tabLst>
            </a:pPr>
            <a:r>
              <a:rPr sz="2350" spc="160" dirty="0">
                <a:solidFill>
                  <a:srgbClr val="F6F6F6"/>
                </a:solidFill>
                <a:latin typeface="Arial"/>
                <a:cs typeface="Arial"/>
              </a:rPr>
              <a:t>[</a:t>
            </a:r>
            <a:r>
              <a:rPr sz="2350" spc="-210" dirty="0">
                <a:solidFill>
                  <a:srgbClr val="F6F6F6"/>
                </a:solidFill>
                <a:latin typeface="Arial"/>
                <a:cs typeface="Arial"/>
              </a:rPr>
              <a:t> </a:t>
            </a:r>
            <a:r>
              <a:rPr sz="2300" spc="330" dirty="0">
                <a:solidFill>
                  <a:srgbClr val="79BA8C"/>
                </a:solidFill>
                <a:latin typeface="Arial"/>
                <a:cs typeface="Arial"/>
              </a:rPr>
              <a:t>"-y"</a:t>
            </a:r>
            <a:r>
              <a:rPr sz="2300" spc="330" dirty="0">
                <a:solidFill>
                  <a:srgbClr val="E4E6E6"/>
                </a:solidFill>
                <a:latin typeface="Arial"/>
                <a:cs typeface="Arial"/>
              </a:rPr>
              <a:t>,</a:t>
            </a:r>
            <a:r>
              <a:rPr sz="2300" dirty="0">
                <a:solidFill>
                  <a:srgbClr val="E4E6E6"/>
                </a:solidFill>
                <a:latin typeface="Arial"/>
                <a:cs typeface="Arial"/>
              </a:rPr>
              <a:t>	</a:t>
            </a:r>
            <a:r>
              <a:rPr sz="2350" spc="-20" dirty="0">
                <a:solidFill>
                  <a:srgbClr val="79BA8C"/>
                </a:solidFill>
                <a:latin typeface="Arial"/>
                <a:cs typeface="Arial"/>
              </a:rPr>
              <a:t>"mcp-</a:t>
            </a:r>
            <a:r>
              <a:rPr sz="2350" spc="-320" dirty="0">
                <a:solidFill>
                  <a:srgbClr val="79BA8C"/>
                </a:solidFill>
                <a:latin typeface="Arial"/>
                <a:cs typeface="Arial"/>
              </a:rPr>
              <a:t> </a:t>
            </a:r>
            <a:r>
              <a:rPr sz="2350" spc="125" dirty="0">
                <a:solidFill>
                  <a:srgbClr val="79BA8C"/>
                </a:solidFill>
                <a:latin typeface="Arial"/>
                <a:cs typeface="Arial"/>
              </a:rPr>
              <a:t>remote"</a:t>
            </a:r>
            <a:r>
              <a:rPr sz="2350" spc="125" dirty="0">
                <a:solidFill>
                  <a:srgbClr val="E4E6E6"/>
                </a:solidFill>
                <a:latin typeface="Arial"/>
                <a:cs typeface="Arial"/>
              </a:rPr>
              <a:t>,</a:t>
            </a:r>
            <a:endParaRPr sz="2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500" spc="260" dirty="0">
                <a:solidFill>
                  <a:srgbClr val="79BA8C"/>
                </a:solidFill>
                <a:latin typeface="Times New Roman"/>
                <a:cs typeface="Times New Roman"/>
              </a:rPr>
              <a:t>"local"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877426" y="7709219"/>
            <a:ext cx="127635" cy="407670"/>
          </a:xfrm>
          <a:custGeom>
            <a:avLst/>
            <a:gdLst/>
            <a:ahLst/>
            <a:cxnLst/>
            <a:rect l="l" t="t" r="r" b="b"/>
            <a:pathLst>
              <a:path w="127635" h="407670">
                <a:moveTo>
                  <a:pt x="127369" y="407668"/>
                </a:moveTo>
                <a:lnTo>
                  <a:pt x="0" y="407668"/>
                </a:lnTo>
                <a:lnTo>
                  <a:pt x="0" y="0"/>
                </a:lnTo>
                <a:lnTo>
                  <a:pt x="127369" y="0"/>
                </a:lnTo>
                <a:lnTo>
                  <a:pt x="127369" y="407668"/>
                </a:lnTo>
                <a:close/>
              </a:path>
            </a:pathLst>
          </a:custGeom>
          <a:solidFill>
            <a:srgbClr val="1116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80978" y="8117809"/>
            <a:ext cx="127635" cy="391160"/>
          </a:xfrm>
          <a:custGeom>
            <a:avLst/>
            <a:gdLst/>
            <a:ahLst/>
            <a:cxnLst/>
            <a:rect l="l" t="t" r="r" b="b"/>
            <a:pathLst>
              <a:path w="127635" h="391159">
                <a:moveTo>
                  <a:pt x="127369" y="390682"/>
                </a:moveTo>
                <a:lnTo>
                  <a:pt x="0" y="390682"/>
                </a:lnTo>
                <a:lnTo>
                  <a:pt x="0" y="0"/>
                </a:lnTo>
                <a:lnTo>
                  <a:pt x="127369" y="0"/>
                </a:lnTo>
                <a:lnTo>
                  <a:pt x="127369" y="390682"/>
                </a:lnTo>
                <a:close/>
              </a:path>
            </a:pathLst>
          </a:custGeom>
          <a:solidFill>
            <a:srgbClr val="1116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731396" y="8488028"/>
            <a:ext cx="127635" cy="391160"/>
          </a:xfrm>
          <a:custGeom>
            <a:avLst/>
            <a:gdLst/>
            <a:ahLst/>
            <a:cxnLst/>
            <a:rect l="l" t="t" r="r" b="b"/>
            <a:pathLst>
              <a:path w="127635" h="391159">
                <a:moveTo>
                  <a:pt x="127369" y="390682"/>
                </a:moveTo>
                <a:lnTo>
                  <a:pt x="0" y="390682"/>
                </a:lnTo>
                <a:lnTo>
                  <a:pt x="0" y="0"/>
                </a:lnTo>
                <a:lnTo>
                  <a:pt x="127369" y="0"/>
                </a:lnTo>
                <a:lnTo>
                  <a:pt x="127369" y="390682"/>
                </a:lnTo>
                <a:close/>
              </a:path>
            </a:pathLst>
          </a:custGeom>
          <a:solidFill>
            <a:srgbClr val="1116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718695" y="7655690"/>
            <a:ext cx="1303655" cy="119951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158240">
              <a:lnSpc>
                <a:spcPct val="100000"/>
              </a:lnSpc>
              <a:spcBef>
                <a:spcPts val="445"/>
              </a:spcBef>
            </a:pPr>
            <a:r>
              <a:rPr sz="2400" spc="180" dirty="0">
                <a:solidFill>
                  <a:srgbClr val="E4E6E6"/>
                </a:solidFill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  <a:p>
            <a:pPr marL="661670">
              <a:lnSpc>
                <a:spcPct val="100000"/>
              </a:lnSpc>
              <a:spcBef>
                <a:spcPts val="340"/>
              </a:spcBef>
            </a:pPr>
            <a:r>
              <a:rPr sz="2300" spc="175" dirty="0">
                <a:solidFill>
                  <a:srgbClr val="F6F6F6"/>
                </a:solidFill>
                <a:latin typeface="Arial"/>
                <a:cs typeface="Arial"/>
              </a:rPr>
              <a:t>}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2300" spc="175" dirty="0">
                <a:solidFill>
                  <a:srgbClr val="E4E6E6"/>
                </a:solidFill>
                <a:latin typeface="Arial"/>
                <a:cs typeface="Arial"/>
              </a:rPr>
              <a:t>}</a:t>
            </a:r>
            <a:endParaRPr sz="23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166971" y="7053626"/>
            <a:ext cx="1403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75" dirty="0">
                <a:solidFill>
                  <a:srgbClr val="79BA8C"/>
                </a:solidFill>
                <a:latin typeface="Times New Roman"/>
                <a:cs typeface="Times New Roman"/>
              </a:rPr>
              <a:t>II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893745" y="6821192"/>
            <a:ext cx="76835" cy="494665"/>
          </a:xfrm>
          <a:custGeom>
            <a:avLst/>
            <a:gdLst/>
            <a:ahLst/>
            <a:cxnLst/>
            <a:rect l="l" t="t" r="r" b="b"/>
            <a:pathLst>
              <a:path w="76834" h="494665">
                <a:moveTo>
                  <a:pt x="76421" y="494656"/>
                </a:moveTo>
                <a:lnTo>
                  <a:pt x="0" y="494656"/>
                </a:lnTo>
                <a:lnTo>
                  <a:pt x="0" y="0"/>
                </a:lnTo>
                <a:lnTo>
                  <a:pt x="76421" y="0"/>
                </a:lnTo>
                <a:lnTo>
                  <a:pt x="76421" y="494656"/>
                </a:lnTo>
                <a:close/>
              </a:path>
            </a:pathLst>
          </a:custGeom>
          <a:solidFill>
            <a:srgbClr val="1116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1817119" y="6811069"/>
            <a:ext cx="156845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050" spc="-55" dirty="0">
                <a:solidFill>
                  <a:srgbClr val="79BA8C"/>
                </a:solidFill>
                <a:latin typeface="Times New Roman"/>
                <a:cs typeface="Times New Roman"/>
              </a:rPr>
              <a:t>1</a:t>
            </a:r>
            <a:r>
              <a:rPr sz="2950" spc="-855" dirty="0">
                <a:solidFill>
                  <a:srgbClr val="E4E6E6"/>
                </a:solidFill>
                <a:latin typeface="Times New Roman"/>
                <a:cs typeface="Times New Roman"/>
              </a:rPr>
              <a:t>l</a:t>
            </a:r>
            <a:r>
              <a:rPr sz="1050" spc="-35" dirty="0">
                <a:solidFill>
                  <a:srgbClr val="79BA8C"/>
                </a:solidFill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352962" y="7149372"/>
            <a:ext cx="37528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7800" algn="l"/>
                <a:tab pos="343535" algn="l"/>
              </a:tabLst>
            </a:pPr>
            <a:r>
              <a:rPr sz="1200" spc="-345" dirty="0">
                <a:solidFill>
                  <a:srgbClr val="8ECD9E"/>
                </a:solidFill>
                <a:latin typeface="Times New Roman"/>
                <a:cs typeface="Times New Roman"/>
              </a:rPr>
              <a:t>•</a:t>
            </a:r>
            <a:r>
              <a:rPr sz="1200" dirty="0">
                <a:solidFill>
                  <a:srgbClr val="8ECD9E"/>
                </a:solidFill>
                <a:latin typeface="Times New Roman"/>
                <a:cs typeface="Times New Roman"/>
              </a:rPr>
              <a:t>	</a:t>
            </a:r>
            <a:r>
              <a:rPr sz="1200" spc="-345" dirty="0">
                <a:solidFill>
                  <a:srgbClr val="79BA8C"/>
                </a:solidFill>
                <a:latin typeface="Times New Roman"/>
                <a:cs typeface="Times New Roman"/>
              </a:rPr>
              <a:t>•</a:t>
            </a:r>
            <a:r>
              <a:rPr sz="1200" dirty="0">
                <a:solidFill>
                  <a:srgbClr val="79BA8C"/>
                </a:solidFill>
                <a:latin typeface="Times New Roman"/>
                <a:cs typeface="Times New Roman"/>
              </a:rPr>
              <a:t>	</a:t>
            </a:r>
            <a:r>
              <a:rPr sz="1200" spc="-335" dirty="0">
                <a:solidFill>
                  <a:srgbClr val="79BA8C"/>
                </a:solidFill>
                <a:latin typeface="Times New Roman"/>
                <a:cs typeface="Times New Roman"/>
              </a:rPr>
              <a:t>•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2185410" y="7161023"/>
            <a:ext cx="51435" cy="201295"/>
          </a:xfrm>
          <a:custGeom>
            <a:avLst/>
            <a:gdLst/>
            <a:ahLst/>
            <a:cxnLst/>
            <a:rect l="l" t="t" r="r" b="b"/>
            <a:pathLst>
              <a:path w="51434" h="201295">
                <a:moveTo>
                  <a:pt x="50947" y="201216"/>
                </a:moveTo>
                <a:lnTo>
                  <a:pt x="0" y="201216"/>
                </a:lnTo>
                <a:lnTo>
                  <a:pt x="0" y="0"/>
                </a:lnTo>
                <a:lnTo>
                  <a:pt x="50947" y="0"/>
                </a:lnTo>
                <a:lnTo>
                  <a:pt x="50947" y="201216"/>
                </a:lnTo>
                <a:close/>
              </a:path>
            </a:pathLst>
          </a:custGeom>
          <a:solidFill>
            <a:srgbClr val="1116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2172709" y="7149372"/>
            <a:ext cx="43180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325" dirty="0">
                <a:solidFill>
                  <a:srgbClr val="E4E6E6"/>
                </a:solidFill>
                <a:latin typeface="Times New Roman"/>
                <a:cs typeface="Times New Roman"/>
              </a:rPr>
              <a:t>I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Words>204</Words>
  <Application>Microsoft Macintosh PowerPoint</Application>
  <PresentationFormat>Custom</PresentationFormat>
  <Paragraphs>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Courier New</vt:lpstr>
      <vt:lpstr>Times New Roman</vt:lpstr>
      <vt:lpstr>Office Theme</vt:lpstr>
      <vt:lpstr>MCP Config Manager</vt:lpstr>
      <vt:lpstr>PowerPoint Presentation</vt:lpstr>
      <vt:lpstr>The MCP Ecosystem is Exploding.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,,h.,e</vt:lpstr>
      <vt:lpstr>PowerPoint Presentation</vt:lpstr>
      <vt:lpstr>Built WITH MCP.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Brian Dawson</cp:lastModifiedBy>
  <cp:revision>1</cp:revision>
  <dcterms:created xsi:type="dcterms:W3CDTF">2025-12-17T07:50:45Z</dcterms:created>
  <dcterms:modified xsi:type="dcterms:W3CDTF">2025-12-17T09:07:56Z</dcterms:modified>
</cp:coreProperties>
</file>